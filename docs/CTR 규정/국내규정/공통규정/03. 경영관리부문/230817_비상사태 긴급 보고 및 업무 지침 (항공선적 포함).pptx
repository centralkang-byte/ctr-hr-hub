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66" r:id="rId5"/>
    <p:sldId id="267" r:id="rId6"/>
    <p:sldId id="269" r:id="rId7"/>
    <p:sldId id="283" r:id="rId8"/>
    <p:sldId id="281" r:id="rId9"/>
    <p:sldId id="25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57" userDrawn="1">
          <p15:clr>
            <a:srgbClr val="A4A3A4"/>
          </p15:clr>
        </p15:guide>
        <p15:guide id="4" pos="7423" userDrawn="1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40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211C"/>
    <a:srgbClr val="CE0E2D"/>
    <a:srgbClr val="B4B4B5"/>
    <a:srgbClr val="CE162C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87E82-08C3-4D05-995F-DFE5F1268EED}" v="2" dt="2023-09-26T00:32:42.6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904" y="192"/>
      </p:cViewPr>
      <p:guideLst>
        <p:guide pos="257"/>
        <p:guide pos="7423"/>
        <p:guide orient="horz" pos="2160"/>
        <p:guide orient="horz" pos="406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yun Han 한민현" userId="3c206ae5-1950-4ef0-a726-a4540bb911be" providerId="ADAL" clId="{83C87E82-08C3-4D05-995F-DFE5F1268EED}"/>
    <pc:docChg chg="mod modMainMaster">
      <pc:chgData name="Minhyun Han 한민현" userId="3c206ae5-1950-4ef0-a726-a4540bb911be" providerId="ADAL" clId="{83C87E82-08C3-4D05-995F-DFE5F1268EED}" dt="2023-09-26T02:42:52.204" v="3" actId="33475"/>
      <pc:docMkLst>
        <pc:docMk/>
      </pc:docMkLst>
      <pc:sldMasterChg chg="addSp modSp mod">
        <pc:chgData name="Minhyun Han 한민현" userId="3c206ae5-1950-4ef0-a726-a4540bb911be" providerId="ADAL" clId="{83C87E82-08C3-4D05-995F-DFE5F1268EED}" dt="2023-09-26T02:42:52.201" v="2" actId="33475"/>
        <pc:sldMasterMkLst>
          <pc:docMk/>
          <pc:sldMasterMk cId="3663754416" sldId="2147483648"/>
        </pc:sldMasterMkLst>
        <pc:spChg chg="add mod">
          <ac:chgData name="Minhyun Han 한민현" userId="3c206ae5-1950-4ef0-a726-a4540bb911be" providerId="ADAL" clId="{83C87E82-08C3-4D05-995F-DFE5F1268EED}" dt="2023-09-26T02:42:52.201" v="2" actId="33475"/>
          <ac:spMkLst>
            <pc:docMk/>
            <pc:sldMasterMk cId="3663754416" sldId="2147483648"/>
            <ac:spMk id="8" creationId="{2032823F-E0EA-383B-F5D5-C92B13284812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5079A40-E12A-99EA-9EF3-9C29CF5BD3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341060-D47E-149C-4985-819DEBE821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DA5B1-A5DF-4296-8A52-F247366DF40C}" type="datetimeFigureOut">
              <a:rPr lang="ko-KR" altLang="en-US" smtClean="0"/>
              <a:t>2026. 3. 25.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2308FD-D96E-0AE0-9146-64DBD4B89D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BD2259-2A68-0700-C21B-0296133504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BA0CA-1C5A-4040-861F-13DC5E999E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1499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5032E-F6BA-4CD2-83D5-8F3204CEAFE8}" type="datetimeFigureOut">
              <a:rPr lang="ko-KR" altLang="en-US" smtClean="0"/>
              <a:t>2026. 3. 25.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09473-C834-47EE-850B-0245B22CF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4870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74B5BE2-B628-DE98-2908-C909BEC9B8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E16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CA40259-47CB-8C52-895E-3DDFD024F2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0"/>
            <a:ext cx="2857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53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C4B3281-6CDF-9E38-AC91-FC230CC8CA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0"/>
            <a:ext cx="28575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34A48FA-260A-83F5-A0D1-305D08BDC4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53" y="791639"/>
            <a:ext cx="4939600" cy="33231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18A294A-8D67-3280-F6BE-FADAB962FB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2127918"/>
            <a:ext cx="7372350" cy="1301082"/>
          </a:xfrm>
        </p:spPr>
        <p:txBody>
          <a:bodyPr lIns="0" tIns="0" rIns="0" bIns="0" anchor="t" anchorCtr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defRPr sz="3600" b="1" spc="-150" baseline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Click to add title</a:t>
            </a:r>
            <a:endParaRPr lang="en-US" dirty="0"/>
          </a:p>
        </p:txBody>
      </p:sp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B1CFE8B7-390F-32AC-9D8C-DBB45C47D4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3547142"/>
            <a:ext cx="7372350" cy="36036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>
              <a:buNone/>
              <a:defRPr kumimoji="1" lang="ko-KR" altLang="en-US" sz="2000" b="1" kern="1200" spc="-150" noProof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5726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ko-KR" dirty="0"/>
              <a:t>Click to add sub-title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758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화살이(가) 표시된 사진&#10;&#10;자동 생성된 설명">
            <a:extLst>
              <a:ext uri="{FF2B5EF4-FFF2-40B4-BE49-F238E27FC236}">
                <a16:creationId xmlns:a16="http://schemas.microsoft.com/office/drawing/2014/main" id="{825D5980-6938-C89A-0B55-68156BC3A8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0"/>
            <a:ext cx="28575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F95E42-2A6F-B0EF-B587-07C5046D63C7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697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FA62BA8-4CED-6F3F-C941-F4A4160A7A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869" y="401899"/>
            <a:ext cx="2332141" cy="1538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38CC10B-1535-B508-EFA3-08F31FE8C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33" y="300705"/>
            <a:ext cx="8505276" cy="360362"/>
          </a:xfrm>
        </p:spPr>
        <p:txBody>
          <a:bodyPr lIns="0" rIns="0">
            <a:noAutofit/>
          </a:bodyPr>
          <a:lstStyle>
            <a:lvl1pPr>
              <a:defRPr sz="2000" b="1" spc="-7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Click to add title</a:t>
            </a:r>
            <a:endParaRPr 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B0590E6-1240-F5E1-2012-75474E9583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6533" y="843126"/>
            <a:ext cx="11367474" cy="36036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>
            <a:lvl1pPr>
              <a:buNone/>
              <a:defRPr kumimoji="1" lang="ko-KR" altLang="en-US" sz="1600" b="1" kern="1200" spc="-50" baseline="0" noProof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5726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ko-KR" dirty="0"/>
              <a:t>1.</a:t>
            </a:r>
            <a:endParaRPr lang="ko-KR" altLang="en-US" dirty="0"/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653851EE-4308-A72D-A0BF-770689D15B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6532" y="1317060"/>
            <a:ext cx="11367475" cy="5139037"/>
          </a:xfrm>
        </p:spPr>
        <p:txBody>
          <a:bodyPr lIns="0" rIns="0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  <a:defRPr lang="en-US" altLang="ko-KR" sz="1400" kern="1200" spc="-50" baseline="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j-lt"/>
                <a:ea typeface="+mn-ea"/>
                <a:cs typeface="Arial" panose="020B0604020202020204" pitchFamily="34" charset="0"/>
              </a:defRPr>
            </a:lvl1pPr>
            <a:lvl2pPr algn="l" defTabSz="914400" rtl="0" eaLnBrk="1" latinLnBrk="1" hangingPunct="1">
              <a:lnSpc>
                <a:spcPct val="100000"/>
              </a:lnSpc>
              <a:buFont typeface="Arial" panose="020B0604020202020204" pitchFamily="34" charset="0"/>
              <a:defRPr lang="en-US" altLang="ko-KR" sz="1400" kern="120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</a:lstStyle>
          <a:p>
            <a:pPr lvl="0"/>
            <a:r>
              <a:rPr lang="en-US" altLang="ko-KR" dirty="0"/>
              <a:t>1)  </a:t>
            </a:r>
          </a:p>
        </p:txBody>
      </p:sp>
      <p:cxnSp>
        <p:nvCxnSpPr>
          <p:cNvPr id="12" name="직선 연결선[R] 5">
            <a:extLst>
              <a:ext uri="{FF2B5EF4-FFF2-40B4-BE49-F238E27FC236}">
                <a16:creationId xmlns:a16="http://schemas.microsoft.com/office/drawing/2014/main" id="{59F30DA8-E8E4-2AA9-AE5D-9128970978E4}"/>
              </a:ext>
            </a:extLst>
          </p:cNvPr>
          <p:cNvCxnSpPr>
            <a:cxnSpLocks/>
          </p:cNvCxnSpPr>
          <p:nvPr userDrawn="1"/>
        </p:nvCxnSpPr>
        <p:spPr>
          <a:xfrm>
            <a:off x="407988" y="669730"/>
            <a:ext cx="11376022" cy="0"/>
          </a:xfrm>
          <a:prstGeom prst="line">
            <a:avLst/>
          </a:prstGeom>
          <a:ln>
            <a:solidFill>
              <a:srgbClr val="B4B4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17DBEF5-1ACE-97BF-D5E7-155B79EDBDB0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59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A5F72C0-AAD1-CFAE-1EB2-3BAB19D3B839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502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cover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79386B-071D-7A84-22DE-1A5CF3EA1C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8A8C35-8F1D-13EE-18D6-E8BDAB68A4C3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928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cover_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화살이(가) 표시된 사진&#10;&#10;자동 생성된 설명">
            <a:extLst>
              <a:ext uri="{FF2B5EF4-FFF2-40B4-BE49-F238E27FC236}">
                <a16:creationId xmlns:a16="http://schemas.microsoft.com/office/drawing/2014/main" id="{9631126C-4479-E85B-F620-D454CCF4F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2B6780-E928-C0FE-C194-772880B423E5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297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cover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8BE9CA-8A56-3EC3-9CC7-6645433FC8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28ECA9-5863-21FF-570F-9023D84DF75F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</a:rPr>
              <a:pPr algn="r"/>
              <a:t>‹#›</a:t>
            </a:fld>
            <a:endParaRPr lang="ko-KR" altLang="en-US" sz="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362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29DB3-0EC8-57C4-CA36-9C4B20322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4CF1F3-F920-820F-604E-8B9151C41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6054E7-3757-6E24-2A99-B92E00F98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9F0F31-2E9E-BC0D-DECB-DF61F286F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9D92E0-7402-3E38-481A-6D9F6EC33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EE5E3-ED40-4819-9206-2622D1809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5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6" r:id="rId3"/>
    <p:sldLayoutId id="2147483665" r:id="rId4"/>
    <p:sldLayoutId id="2147483667" r:id="rId5"/>
    <p:sldLayoutId id="2147483662" r:id="rId6"/>
    <p:sldLayoutId id="2147483664" r:id="rId7"/>
    <p:sldLayoutId id="2147483663" r:id="rId8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A702-4F4D-D85E-50B6-447AE8E32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127918"/>
            <a:ext cx="8469406" cy="1301082"/>
          </a:xfrm>
        </p:spPr>
        <p:txBody>
          <a:bodyPr/>
          <a:lstStyle/>
          <a:p>
            <a:r>
              <a:rPr lang="ko-KR" altLang="en-US" dirty="0"/>
              <a:t>비상사태 긴급 보고 및 업무 지침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항공선적 포함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F8ECB-A6E6-54CE-EC80-F76FC2502FC7}"/>
              </a:ext>
            </a:extLst>
          </p:cNvPr>
          <p:cNvSpPr txBox="1"/>
          <p:nvPr/>
        </p:nvSpPr>
        <p:spPr>
          <a:xfrm>
            <a:off x="800100" y="5413179"/>
            <a:ext cx="1971694" cy="3416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kumimoji="1" lang="en-US" altLang="ko-KR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2023.09.01 </a:t>
            </a:r>
            <a:r>
              <a:rPr kumimoji="1" lang="ko-KR" altLang="en-US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부 적용</a:t>
            </a:r>
            <a:endParaRPr kumimoji="1" lang="en-US" altLang="ko-KR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842AB1-0F2E-F15E-145B-C530D7F70285}"/>
              </a:ext>
            </a:extLst>
          </p:cNvPr>
          <p:cNvSpPr txBox="1"/>
          <p:nvPr/>
        </p:nvSpPr>
        <p:spPr>
          <a:xfrm>
            <a:off x="4704670" y="5272655"/>
            <a:ext cx="4734606" cy="965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본 문서는 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CTR Group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의 정보자산으로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승인을 받지 않은 문서의 열람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수정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배포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복사를 엄격하게 금지합니다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30000"/>
              </a:lnSpc>
            </a:pP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이를</a:t>
            </a:r>
            <a:r>
              <a:rPr kumimoji="1" lang="en" altLang="ko-Kore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위반할 경우 부정경쟁방지 및 영업비밀보호에 관한 법률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형법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민법 등에 따라 민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·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형사상 책임을 부담할 수 있습니다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.</a:t>
            </a:r>
            <a:b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</a:br>
            <a:endParaRPr kumimoji="1" lang="en-US" altLang="ko-KR" sz="700" spc="-3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This document is an information property of the CTR Group. Unauthorized access, editing, distribution, and copying are strictly prohibited. Failure to comply may result in </a:t>
            </a:r>
            <a:r>
              <a:rPr kumimoji="1" lang="en-US" altLang="ko-KR" sz="700" spc="-3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penalties under the Unfair Competition Prevention and </a:t>
            </a:r>
            <a:b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</a:b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Trade Secret Protection Act and </a:t>
            </a:r>
            <a:r>
              <a:rPr kumimoji="1" lang="en-US" altLang="ko-KR" sz="700" spc="-3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laws.</a:t>
            </a:r>
            <a:endParaRPr kumimoji="1" lang="ko-KR" altLang="ko-KR" sz="700" spc="-3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endParaRPr kumimoji="1" lang="en" altLang="ko-Kore-KR" sz="700" spc="-3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C964D4FD-1DB8-8D0D-A2B9-95C91AFB5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05945"/>
              </p:ext>
            </p:extLst>
          </p:nvPr>
        </p:nvGraphicFramePr>
        <p:xfrm>
          <a:off x="10267963" y="794658"/>
          <a:ext cx="111600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2161796615"/>
                    </a:ext>
                  </a:extLst>
                </a:gridCol>
              </a:tblGrid>
              <a:tr h="168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대외비</a:t>
                      </a:r>
                    </a:p>
                  </a:txBody>
                  <a:tcPr anchor="ctr">
                    <a:lnL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05735"/>
                  </a:ext>
                </a:extLst>
              </a:tr>
              <a:tr h="168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dirty="0">
                          <a:solidFill>
                            <a:srgbClr val="E2211C"/>
                          </a:solidFill>
                          <a:latin typeface="+mn-lt"/>
                          <a:ea typeface="+mn-ea"/>
                          <a:cs typeface="+mn-cs"/>
                        </a:rPr>
                        <a:t>Confidential</a:t>
                      </a:r>
                    </a:p>
                  </a:txBody>
                  <a:tcPr anchor="ctr">
                    <a:lnL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2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146125"/>
                  </a:ext>
                </a:extLst>
              </a:tr>
            </a:tbl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50BB9DD-5106-D04D-CE90-C15F3CEDA261}"/>
              </a:ext>
            </a:extLst>
          </p:cNvPr>
          <p:cNvCxnSpPr>
            <a:cxnSpLocks/>
          </p:cNvCxnSpPr>
          <p:nvPr/>
        </p:nvCxnSpPr>
        <p:spPr>
          <a:xfrm>
            <a:off x="4563374" y="5298533"/>
            <a:ext cx="0" cy="784364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87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1A2487-027F-D460-5A16-E9DE367FD0B7}"/>
              </a:ext>
            </a:extLst>
          </p:cNvPr>
          <p:cNvSpPr txBox="1"/>
          <p:nvPr/>
        </p:nvSpPr>
        <p:spPr>
          <a:xfrm>
            <a:off x="714375" y="650728"/>
            <a:ext cx="1798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150" dirty="0">
                <a:solidFill>
                  <a:srgbClr val="E2211C"/>
                </a:solidFill>
                <a:latin typeface="+mj-lt"/>
                <a:ea typeface="+mj-ea"/>
                <a:cs typeface="Arial" panose="020B0604020202020204" pitchFamily="34" charset="0"/>
              </a:rPr>
              <a:t>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EB4D56-D535-CE25-81DE-B5EFB20C34B9}"/>
              </a:ext>
            </a:extLst>
          </p:cNvPr>
          <p:cNvSpPr txBox="1"/>
          <p:nvPr/>
        </p:nvSpPr>
        <p:spPr>
          <a:xfrm>
            <a:off x="714375" y="1475633"/>
            <a:ext cx="3068469" cy="1417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0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kumimoji="1" lang="ko-KR" altLang="en-US" sz="20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업무보고 과정 및 방법</a:t>
            </a:r>
            <a:endParaRPr kumimoji="1" lang="en-US" altLang="ko-KR" sz="20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20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kumimoji="1" lang="ko-KR" altLang="en-US" sz="20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유형별 업무보고 주체</a:t>
            </a:r>
            <a:endParaRPr kumimoji="1" lang="en-US" altLang="ko-KR" sz="20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20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kumimoji="1" lang="ko-KR" altLang="en-US" sz="20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항공선적 업무 과정</a:t>
            </a:r>
          </a:p>
        </p:txBody>
      </p:sp>
    </p:spTree>
    <p:extLst>
      <p:ext uri="{BB962C8B-B14F-4D97-AF65-F5344CB8AC3E}">
        <p14:creationId xmlns:p14="http://schemas.microsoft.com/office/powerpoint/2010/main" val="286549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A316BE1-2B1F-4B0D-9BA1-AB1E68A80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870778"/>
              </p:ext>
            </p:extLst>
          </p:nvPr>
        </p:nvGraphicFramePr>
        <p:xfrm>
          <a:off x="415920" y="1276892"/>
          <a:ext cx="5607641" cy="50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7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0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200" b="0" dirty="0">
                        <a:solidFill>
                          <a:schemeClr val="tx1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표 52">
            <a:extLst>
              <a:ext uri="{FF2B5EF4-FFF2-40B4-BE49-F238E27FC236}">
                <a16:creationId xmlns:a16="http://schemas.microsoft.com/office/drawing/2014/main" id="{F4B2B7AA-CD8A-98F1-61F0-793904535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639017"/>
              </p:ext>
            </p:extLst>
          </p:nvPr>
        </p:nvGraphicFramePr>
        <p:xfrm>
          <a:off x="555811" y="1409765"/>
          <a:ext cx="5334000" cy="311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024">
                  <a:extLst>
                    <a:ext uri="{9D8B030D-6E8A-4147-A177-3AD203B41FA5}">
                      <a16:colId xmlns:a16="http://schemas.microsoft.com/office/drawing/2014/main" val="2967330861"/>
                    </a:ext>
                  </a:extLst>
                </a:gridCol>
                <a:gridCol w="1207994">
                  <a:extLst>
                    <a:ext uri="{9D8B030D-6E8A-4147-A177-3AD203B41FA5}">
                      <a16:colId xmlns:a16="http://schemas.microsoft.com/office/drawing/2014/main" val="2290572494"/>
                    </a:ext>
                  </a:extLst>
                </a:gridCol>
                <a:gridCol w="1207994">
                  <a:extLst>
                    <a:ext uri="{9D8B030D-6E8A-4147-A177-3AD203B41FA5}">
                      <a16:colId xmlns:a16="http://schemas.microsoft.com/office/drawing/2014/main" val="1467897609"/>
                    </a:ext>
                  </a:extLst>
                </a:gridCol>
                <a:gridCol w="1207994">
                  <a:extLst>
                    <a:ext uri="{9D8B030D-6E8A-4147-A177-3AD203B41FA5}">
                      <a16:colId xmlns:a16="http://schemas.microsoft.com/office/drawing/2014/main" val="2489368745"/>
                    </a:ext>
                  </a:extLst>
                </a:gridCol>
                <a:gridCol w="1207994">
                  <a:extLst>
                    <a:ext uri="{9D8B030D-6E8A-4147-A177-3AD203B41FA5}">
                      <a16:colId xmlns:a16="http://schemas.microsoft.com/office/drawing/2014/main" val="2657101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과정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그룹공유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내부보고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외부공유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69891"/>
                  </a:ext>
                </a:extLst>
              </a:tr>
              <a:tr h="3125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2</a:t>
                      </a:r>
                      <a:r>
                        <a:rPr lang="ko-KR" altLang="en-US" sz="1000" b="1" dirty="0"/>
                        <a:t>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2465209"/>
                  </a:ext>
                </a:extLst>
              </a:tr>
              <a:tr h="6022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1</a:t>
                      </a:r>
                      <a:r>
                        <a:rPr lang="ko-KR" altLang="en-US" sz="1000" b="1" dirty="0"/>
                        <a:t>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737585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26FB2F96-8D02-88B3-5CF5-3FE42158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업무보고 과정 및 방법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4DCFE6-D890-F43E-6512-FEB48B2AC0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각 유형별 해결방안 도출 및 실행은 비상사태 매뉴얼</a:t>
            </a:r>
            <a:r>
              <a:rPr lang="en-US" altLang="ko-KR" dirty="0"/>
              <a:t>/</a:t>
            </a:r>
            <a:r>
              <a:rPr lang="ko-KR" altLang="en-US" dirty="0"/>
              <a:t>시나리오에 준함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8E84DE-E957-FF14-C498-A9F1896B563E}"/>
              </a:ext>
            </a:extLst>
          </p:cNvPr>
          <p:cNvSpPr/>
          <p:nvPr/>
        </p:nvSpPr>
        <p:spPr>
          <a:xfrm>
            <a:off x="1237139" y="2930756"/>
            <a:ext cx="8640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전략기획본부장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미래기획팀장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" name="꺾인 연결선 9">
            <a:extLst>
              <a:ext uri="{FF2B5EF4-FFF2-40B4-BE49-F238E27FC236}">
                <a16:creationId xmlns:a16="http://schemas.microsoft.com/office/drawing/2014/main" id="{8BF5BD0B-2D46-305C-8B29-62F5B6FC6534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rot="5400000" flipH="1" flipV="1">
            <a:off x="3526333" y="3238128"/>
            <a:ext cx="496266" cy="60152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022125-664A-03AB-3DD0-DD912E397CD6}"/>
              </a:ext>
            </a:extLst>
          </p:cNvPr>
          <p:cNvSpPr/>
          <p:nvPr/>
        </p:nvSpPr>
        <p:spPr>
          <a:xfrm>
            <a:off x="3643227" y="2930756"/>
            <a:ext cx="8640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공장장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본부장</a:t>
            </a:r>
            <a:endParaRPr lang="en-US" altLang="ko-KR" sz="9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C-level(AM)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82F9BA-B3DE-4150-6872-7D8DDCA56A65}"/>
              </a:ext>
            </a:extLst>
          </p:cNvPr>
          <p:cNvSpPr/>
          <p:nvPr/>
        </p:nvSpPr>
        <p:spPr>
          <a:xfrm>
            <a:off x="3041705" y="1944356"/>
            <a:ext cx="864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대표이사</a:t>
            </a:r>
            <a:endParaRPr lang="en-US" altLang="ko-KR" sz="9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C-level(OEM)</a:t>
            </a:r>
            <a:endParaRPr lang="ko-KR" altLang="en-US" sz="9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63FA7F-5D2D-BA94-6BE6-5E58A6061791}"/>
              </a:ext>
            </a:extLst>
          </p:cNvPr>
          <p:cNvSpPr/>
          <p:nvPr/>
        </p:nvSpPr>
        <p:spPr>
          <a:xfrm>
            <a:off x="3041705" y="3787022"/>
            <a:ext cx="86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해당 팀장</a:t>
            </a:r>
          </a:p>
        </p:txBody>
      </p:sp>
      <p:cxnSp>
        <p:nvCxnSpPr>
          <p:cNvPr id="11" name="꺾인 연결선 14">
            <a:extLst>
              <a:ext uri="{FF2B5EF4-FFF2-40B4-BE49-F238E27FC236}">
                <a16:creationId xmlns:a16="http://schemas.microsoft.com/office/drawing/2014/main" id="{889388EF-1504-69FD-3CED-B88BCD6C37EF}"/>
              </a:ext>
            </a:extLst>
          </p:cNvPr>
          <p:cNvCxnSpPr>
            <a:cxnSpLocks/>
            <a:stCxn id="10" idx="0"/>
            <a:endCxn id="6" idx="2"/>
          </p:cNvCxnSpPr>
          <p:nvPr/>
        </p:nvCxnSpPr>
        <p:spPr>
          <a:xfrm rot="16200000" flipV="1">
            <a:off x="2323289" y="2636606"/>
            <a:ext cx="496266" cy="180456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3C1913-4EF4-EFAB-3F69-FA10646C6121}"/>
              </a:ext>
            </a:extLst>
          </p:cNvPr>
          <p:cNvSpPr/>
          <p:nvPr/>
        </p:nvSpPr>
        <p:spPr>
          <a:xfrm>
            <a:off x="4846271" y="2930756"/>
            <a:ext cx="8640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고객관리본부장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고객관리팀장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" name="꺾인 연결선 16">
            <a:extLst>
              <a:ext uri="{FF2B5EF4-FFF2-40B4-BE49-F238E27FC236}">
                <a16:creationId xmlns:a16="http://schemas.microsoft.com/office/drawing/2014/main" id="{3893F813-3176-2E9F-D58A-281AB5EC38F6}"/>
              </a:ext>
            </a:extLst>
          </p:cNvPr>
          <p:cNvCxnSpPr>
            <a:cxnSpLocks/>
            <a:stCxn id="10" idx="0"/>
            <a:endCxn id="12" idx="2"/>
          </p:cNvCxnSpPr>
          <p:nvPr/>
        </p:nvCxnSpPr>
        <p:spPr>
          <a:xfrm rot="5400000" flipH="1" flipV="1">
            <a:off x="4127855" y="2636606"/>
            <a:ext cx="496266" cy="180456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492F794-4DB5-48D3-0A52-C2D758476531}"/>
              </a:ext>
            </a:extLst>
          </p:cNvPr>
          <p:cNvCxnSpPr>
            <a:cxnSpLocks/>
            <a:stCxn id="12" idx="0"/>
            <a:endCxn id="18" idx="2"/>
          </p:cNvCxnSpPr>
          <p:nvPr/>
        </p:nvCxnSpPr>
        <p:spPr>
          <a:xfrm flipV="1">
            <a:off x="5278271" y="2304356"/>
            <a:ext cx="0" cy="62640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9">
            <a:extLst>
              <a:ext uri="{FF2B5EF4-FFF2-40B4-BE49-F238E27FC236}">
                <a16:creationId xmlns:a16="http://schemas.microsoft.com/office/drawing/2014/main" id="{3C4C34E2-CB8B-4383-084D-A97770E537FA}"/>
              </a:ext>
            </a:extLst>
          </p:cNvPr>
          <p:cNvCxnSpPr>
            <a:stCxn id="8" idx="0"/>
            <a:endCxn id="9" idx="2"/>
          </p:cNvCxnSpPr>
          <p:nvPr/>
        </p:nvCxnSpPr>
        <p:spPr>
          <a:xfrm rot="16200000" flipV="1">
            <a:off x="3461266" y="2316795"/>
            <a:ext cx="626400" cy="60152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A685DEB-4669-C366-0C8D-5EF8601ADF69}"/>
              </a:ext>
            </a:extLst>
          </p:cNvPr>
          <p:cNvSpPr/>
          <p:nvPr/>
        </p:nvSpPr>
        <p:spPr>
          <a:xfrm>
            <a:off x="1237139" y="1944356"/>
            <a:ext cx="864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CTR Holdings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대표이사</a:t>
            </a:r>
          </a:p>
        </p:txBody>
      </p:sp>
      <p:cxnSp>
        <p:nvCxnSpPr>
          <p:cNvPr id="17" name="꺾인 연결선 21">
            <a:extLst>
              <a:ext uri="{FF2B5EF4-FFF2-40B4-BE49-F238E27FC236}">
                <a16:creationId xmlns:a16="http://schemas.microsoft.com/office/drawing/2014/main" id="{3C0EC95E-C8EA-69D4-0BF4-42115D305FD8}"/>
              </a:ext>
            </a:extLst>
          </p:cNvPr>
          <p:cNvCxnSpPr>
            <a:cxnSpLocks/>
            <a:stCxn id="39" idx="0"/>
            <a:endCxn id="9" idx="2"/>
          </p:cNvCxnSpPr>
          <p:nvPr/>
        </p:nvCxnSpPr>
        <p:spPr>
          <a:xfrm rot="5400000" flipH="1" flipV="1">
            <a:off x="2859744" y="2316795"/>
            <a:ext cx="626400" cy="60152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A2CB8B4-E3E0-AD9C-2CF0-561457C6B6DF}"/>
              </a:ext>
            </a:extLst>
          </p:cNvPr>
          <p:cNvSpPr/>
          <p:nvPr/>
        </p:nvSpPr>
        <p:spPr>
          <a:xfrm>
            <a:off x="4846271" y="1944356"/>
            <a:ext cx="864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        고객       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357EA4-1302-1A57-AEEF-67D7BB8802F6}"/>
              </a:ext>
            </a:extLst>
          </p:cNvPr>
          <p:cNvSpPr txBox="1"/>
          <p:nvPr/>
        </p:nvSpPr>
        <p:spPr>
          <a:xfrm>
            <a:off x="555813" y="4592545"/>
            <a:ext cx="5334000" cy="1678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latin typeface="+mn-ea"/>
              </a:rPr>
              <a:t>1.</a:t>
            </a:r>
            <a:r>
              <a:rPr lang="ko-KR" altLang="en-US" sz="1000" b="1" dirty="0">
                <a:latin typeface="+mn-ea"/>
              </a:rPr>
              <a:t> 발생 보고 </a:t>
            </a:r>
            <a:r>
              <a:rPr lang="en-US" altLang="ko-KR" sz="1000" b="1" dirty="0">
                <a:latin typeface="+mn-ea"/>
              </a:rPr>
              <a:t>(</a:t>
            </a:r>
            <a:r>
              <a:rPr lang="ko-KR" altLang="en-US" sz="1000" b="1" dirty="0">
                <a:latin typeface="+mn-ea"/>
              </a:rPr>
              <a:t>발생 </a:t>
            </a:r>
            <a:r>
              <a:rPr lang="en-US" altLang="ko-KR" sz="1000" b="1" dirty="0">
                <a:latin typeface="+mn-ea"/>
              </a:rPr>
              <a:t>30</a:t>
            </a:r>
            <a:r>
              <a:rPr lang="ko-KR" altLang="en-US" sz="1000" b="1" dirty="0">
                <a:latin typeface="+mn-ea"/>
              </a:rPr>
              <a:t>분</a:t>
            </a:r>
            <a:r>
              <a:rPr lang="en-US" altLang="ko-KR" sz="1000" b="1" dirty="0">
                <a:latin typeface="+mn-ea"/>
              </a:rPr>
              <a:t>,</a:t>
            </a:r>
            <a:r>
              <a:rPr lang="ko-KR" altLang="en-US" sz="1000" b="1" dirty="0">
                <a:latin typeface="+mn-ea"/>
              </a:rPr>
              <a:t> 문자</a:t>
            </a:r>
            <a:r>
              <a:rPr lang="en-US" altLang="ko-KR" sz="1000" b="1" dirty="0">
                <a:latin typeface="+mn-ea"/>
              </a:rPr>
              <a:t>) : </a:t>
            </a:r>
            <a:r>
              <a:rPr lang="ko-KR" altLang="en-US" sz="1000" b="1" dirty="0">
                <a:latin typeface="+mn-ea"/>
              </a:rPr>
              <a:t>해당 팀장 → </a:t>
            </a:r>
            <a:r>
              <a:rPr lang="en-US" altLang="ko-KR" sz="1000" b="1" dirty="0">
                <a:latin typeface="+mn-ea"/>
              </a:rPr>
              <a:t>1</a:t>
            </a:r>
            <a:r>
              <a:rPr lang="ko-KR" altLang="en-US" sz="1000" b="1" dirty="0">
                <a:latin typeface="+mn-ea"/>
              </a:rPr>
              <a:t>차</a:t>
            </a:r>
            <a:r>
              <a:rPr lang="en-US" altLang="ko-KR" sz="1000" b="1" dirty="0">
                <a:latin typeface="+mn-ea"/>
              </a:rPr>
              <a:t>/2</a:t>
            </a:r>
            <a:r>
              <a:rPr lang="ko-KR" altLang="en-US" sz="1000" b="1" dirty="0">
                <a:latin typeface="+mn-ea"/>
              </a:rPr>
              <a:t>차 대상 →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차 대상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</a:rPr>
              <a:t>   </a:t>
            </a:r>
            <a:r>
              <a:rPr lang="en-US" altLang="ko-KR" sz="1000" dirty="0">
                <a:latin typeface="+mn-ea"/>
              </a:rPr>
              <a:t>※</a:t>
            </a:r>
            <a:r>
              <a:rPr lang="ko-KR" altLang="en-US" sz="1000" dirty="0">
                <a:latin typeface="+mn-ea"/>
              </a:rPr>
              <a:t> 내</a:t>
            </a:r>
            <a:r>
              <a:rPr lang="en-US" altLang="ko-KR" sz="1000" dirty="0">
                <a:latin typeface="+mn-ea"/>
              </a:rPr>
              <a:t>/</a:t>
            </a:r>
            <a:r>
              <a:rPr lang="ko-KR" altLang="en-US" sz="1000" dirty="0">
                <a:latin typeface="+mn-ea"/>
              </a:rPr>
              <a:t>외부 공유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발생 </a:t>
            </a:r>
            <a:r>
              <a:rPr lang="en-US" altLang="ko-KR" sz="1000" dirty="0">
                <a:latin typeface="+mn-ea"/>
              </a:rPr>
              <a:t>30</a:t>
            </a:r>
            <a:r>
              <a:rPr lang="ko-KR" altLang="en-US" sz="1000" dirty="0">
                <a:latin typeface="+mn-ea"/>
              </a:rPr>
              <a:t>분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 문자</a:t>
            </a:r>
            <a:r>
              <a:rPr lang="en-US" altLang="ko-KR" sz="1000" dirty="0">
                <a:latin typeface="+mn-ea"/>
              </a:rPr>
              <a:t>) : </a:t>
            </a:r>
            <a:r>
              <a:rPr lang="ko-KR" altLang="en-US" sz="1000" dirty="0">
                <a:latin typeface="+mn-ea"/>
              </a:rPr>
              <a:t>해당 팀장 → 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차 대상 → </a:t>
            </a:r>
            <a:r>
              <a:rPr lang="en-US" altLang="ko-KR" sz="1000" dirty="0">
                <a:latin typeface="+mn-ea"/>
              </a:rPr>
              <a:t>2</a:t>
            </a:r>
            <a:r>
              <a:rPr lang="ko-KR" altLang="en-US" sz="1000" dirty="0">
                <a:latin typeface="+mn-ea"/>
              </a:rPr>
              <a:t>차 대상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+mn-ea"/>
              </a:rPr>
              <a:t>2. </a:t>
            </a:r>
            <a:r>
              <a:rPr lang="ko-KR" altLang="en-US" sz="1000" b="1" dirty="0">
                <a:latin typeface="+mn-ea"/>
              </a:rPr>
              <a:t>경과 보고</a:t>
            </a:r>
            <a:r>
              <a:rPr lang="en-US" altLang="ko-KR" sz="1000" b="1" dirty="0">
                <a:latin typeface="+mn-ea"/>
              </a:rPr>
              <a:t> (</a:t>
            </a:r>
            <a:r>
              <a:rPr lang="ko-KR" altLang="en-US" sz="1000" b="1" dirty="0" err="1">
                <a:latin typeface="+mn-ea"/>
              </a:rPr>
              <a:t>우측표</a:t>
            </a:r>
            <a:r>
              <a:rPr lang="ko-KR" altLang="en-US" sz="1000" b="1" dirty="0">
                <a:latin typeface="+mn-ea"/>
              </a:rPr>
              <a:t> 간격</a:t>
            </a:r>
            <a:r>
              <a:rPr lang="en-US" altLang="ko-KR" sz="1000" b="1" dirty="0">
                <a:latin typeface="+mn-ea"/>
              </a:rPr>
              <a:t>,</a:t>
            </a:r>
            <a:r>
              <a:rPr lang="ko-KR" altLang="en-US" sz="1000" b="1" dirty="0">
                <a:latin typeface="+mn-ea"/>
              </a:rPr>
              <a:t> 문자</a:t>
            </a:r>
            <a:r>
              <a:rPr lang="en-US" altLang="ko-KR" sz="1000" b="1" dirty="0">
                <a:latin typeface="+mn-ea"/>
              </a:rPr>
              <a:t>) : </a:t>
            </a:r>
            <a:r>
              <a:rPr lang="ko-KR" altLang="en-US" sz="1000" b="1" dirty="0">
                <a:latin typeface="+mn-ea"/>
              </a:rPr>
              <a:t>해당 팀장 → </a:t>
            </a:r>
            <a:r>
              <a:rPr lang="en-US" altLang="ko-KR" sz="1000" b="1" dirty="0">
                <a:latin typeface="+mn-ea"/>
              </a:rPr>
              <a:t>1</a:t>
            </a:r>
            <a:r>
              <a:rPr lang="ko-KR" altLang="en-US" sz="1000" b="1" dirty="0">
                <a:latin typeface="+mn-ea"/>
              </a:rPr>
              <a:t>차</a:t>
            </a:r>
            <a:r>
              <a:rPr lang="en-US" altLang="ko-KR" sz="1000" b="1" dirty="0">
                <a:latin typeface="+mn-ea"/>
              </a:rPr>
              <a:t>/2</a:t>
            </a:r>
            <a:r>
              <a:rPr lang="ko-KR" altLang="en-US" sz="1000" b="1" dirty="0">
                <a:latin typeface="+mn-ea"/>
              </a:rPr>
              <a:t>차 대상 →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차 대상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   ※</a:t>
            </a:r>
            <a:r>
              <a:rPr lang="ko-KR" altLang="en-US" sz="1000" dirty="0">
                <a:latin typeface="+mn-ea"/>
              </a:rPr>
              <a:t> 내</a:t>
            </a:r>
            <a:r>
              <a:rPr lang="en-US" altLang="ko-KR" sz="1000" dirty="0">
                <a:latin typeface="+mn-ea"/>
              </a:rPr>
              <a:t>/</a:t>
            </a:r>
            <a:r>
              <a:rPr lang="ko-KR" altLang="en-US" sz="1000" dirty="0">
                <a:latin typeface="+mn-ea"/>
              </a:rPr>
              <a:t>외부 공유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 err="1">
                <a:latin typeface="+mn-ea"/>
              </a:rPr>
              <a:t>우측표</a:t>
            </a:r>
            <a:r>
              <a:rPr lang="ko-KR" altLang="en-US" sz="1000" dirty="0">
                <a:latin typeface="+mn-ea"/>
              </a:rPr>
              <a:t> 간격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 문자</a:t>
            </a:r>
            <a:r>
              <a:rPr lang="en-US" altLang="ko-KR" sz="1000" dirty="0">
                <a:latin typeface="+mn-ea"/>
              </a:rPr>
              <a:t>) : </a:t>
            </a:r>
            <a:r>
              <a:rPr lang="ko-KR" altLang="en-US" sz="1000" dirty="0">
                <a:latin typeface="+mn-ea"/>
              </a:rPr>
              <a:t>해당 팀장 → 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차 대상 → </a:t>
            </a:r>
            <a:r>
              <a:rPr lang="en-US" altLang="ko-KR" sz="1000" dirty="0">
                <a:latin typeface="+mn-ea"/>
              </a:rPr>
              <a:t>2</a:t>
            </a:r>
            <a:r>
              <a:rPr lang="ko-KR" altLang="en-US" sz="1000" dirty="0">
                <a:latin typeface="+mn-ea"/>
              </a:rPr>
              <a:t>차 대상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+mn-ea"/>
                <a:ea typeface="+mn-ea"/>
              </a:rPr>
              <a:t>3. </a:t>
            </a:r>
            <a:r>
              <a:rPr lang="ko-KR" altLang="en-US" sz="1000" b="1" dirty="0">
                <a:latin typeface="+mn-ea"/>
                <a:ea typeface="+mn-ea"/>
              </a:rPr>
              <a:t>종결 보고 </a:t>
            </a:r>
            <a:r>
              <a:rPr lang="en-US" altLang="ko-KR" sz="1000" b="1" dirty="0">
                <a:latin typeface="+mn-ea"/>
                <a:ea typeface="+mn-ea"/>
              </a:rPr>
              <a:t>(</a:t>
            </a:r>
            <a:r>
              <a:rPr lang="ko-KR" altLang="en-US" sz="1000" b="1" dirty="0">
                <a:latin typeface="+mn-ea"/>
                <a:ea typeface="+mn-ea"/>
              </a:rPr>
              <a:t>상황 해소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서</a:t>
            </a:r>
            <a:r>
              <a:rPr lang="ko-KR" altLang="en-US" sz="1000" b="1" dirty="0">
                <a:latin typeface="+mn-ea"/>
                <a:ea typeface="+mn-ea"/>
              </a:rPr>
              <a:t>면</a:t>
            </a:r>
            <a:r>
              <a:rPr lang="en-US" altLang="ko-KR" sz="1000" b="1" dirty="0">
                <a:latin typeface="+mn-ea"/>
                <a:ea typeface="+mn-ea"/>
              </a:rPr>
              <a:t>) : </a:t>
            </a:r>
            <a:r>
              <a:rPr lang="ko-KR" altLang="en-US" sz="1000" b="1" dirty="0">
                <a:latin typeface="+mn-ea"/>
                <a:ea typeface="+mn-ea"/>
              </a:rPr>
              <a:t>해당 팀장 → </a:t>
            </a:r>
            <a:r>
              <a:rPr lang="en-US" altLang="ko-KR" sz="1000" b="1" dirty="0">
                <a:latin typeface="+mn-ea"/>
                <a:ea typeface="+mn-ea"/>
              </a:rPr>
              <a:t>1</a:t>
            </a:r>
            <a:r>
              <a:rPr lang="ko-KR" altLang="en-US" sz="1000" b="1" dirty="0">
                <a:latin typeface="+mn-ea"/>
                <a:ea typeface="+mn-ea"/>
              </a:rPr>
              <a:t>차 대상 → </a:t>
            </a:r>
            <a:r>
              <a:rPr lang="en-US" altLang="ko-KR" sz="1000" b="1" dirty="0">
                <a:latin typeface="+mn-ea"/>
                <a:ea typeface="+mn-ea"/>
              </a:rPr>
              <a:t>2</a:t>
            </a:r>
            <a:r>
              <a:rPr lang="ko-KR" altLang="en-US" sz="1000" b="1" dirty="0">
                <a:latin typeface="+mn-ea"/>
                <a:ea typeface="+mn-ea"/>
              </a:rPr>
              <a:t>차 대상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  <a:ea typeface="+mn-ea"/>
              </a:rPr>
              <a:t>   (</a:t>
            </a:r>
            <a:r>
              <a:rPr lang="ko-KR" altLang="en-US" sz="1000" dirty="0">
                <a:latin typeface="+mn-ea"/>
                <a:ea typeface="+mn-ea"/>
              </a:rPr>
              <a:t>단</a:t>
            </a:r>
            <a:r>
              <a:rPr lang="en-US" altLang="ko-KR" sz="1000" dirty="0">
                <a:latin typeface="+mn-ea"/>
                <a:ea typeface="+mn-ea"/>
              </a:rPr>
              <a:t>, </a:t>
            </a:r>
            <a:r>
              <a:rPr lang="ko-KR" altLang="en-US" sz="1000" dirty="0">
                <a:latin typeface="+mn-ea"/>
                <a:ea typeface="+mn-ea"/>
              </a:rPr>
              <a:t>최고책임자는 종결 보고 사항을 </a:t>
            </a:r>
            <a:r>
              <a:rPr lang="en-US" altLang="ko-KR" sz="1000" dirty="0">
                <a:latin typeface="+mn-ea"/>
                <a:ea typeface="+mn-ea"/>
              </a:rPr>
              <a:t>CTR Holdings </a:t>
            </a:r>
            <a:r>
              <a:rPr lang="ko-KR" altLang="en-US" sz="1000" dirty="0">
                <a:latin typeface="+mn-ea"/>
                <a:ea typeface="+mn-ea"/>
              </a:rPr>
              <a:t>대표이사와 공유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  <a:r>
              <a:rPr lang="ko-KR" altLang="en-US" sz="1000" dirty="0">
                <a:latin typeface="+mn-ea"/>
                <a:ea typeface="+mn-ea"/>
              </a:rPr>
              <a:t> </a:t>
            </a:r>
            <a:endParaRPr lang="en-US" altLang="ko-KR" sz="10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  <a:ea typeface="+mn-ea"/>
              </a:rPr>
              <a:t>  </a:t>
            </a:r>
            <a:r>
              <a:rPr lang="en-US" altLang="ko-KR" sz="1000" dirty="0">
                <a:latin typeface="+mn-ea"/>
              </a:rPr>
              <a:t> ※</a:t>
            </a:r>
            <a:r>
              <a:rPr lang="ko-KR" altLang="en-US" sz="1000" dirty="0">
                <a:latin typeface="+mn-ea"/>
              </a:rPr>
              <a:t> 내</a:t>
            </a:r>
            <a:r>
              <a:rPr lang="en-US" altLang="ko-KR" sz="1000" dirty="0">
                <a:latin typeface="+mn-ea"/>
              </a:rPr>
              <a:t>/</a:t>
            </a:r>
            <a:r>
              <a:rPr lang="ko-KR" altLang="en-US" sz="1000" dirty="0">
                <a:latin typeface="+mn-ea"/>
              </a:rPr>
              <a:t>외부 공유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상황 해소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서면</a:t>
            </a:r>
            <a:r>
              <a:rPr lang="en-US" altLang="ko-KR" sz="1000" dirty="0">
                <a:latin typeface="+mn-ea"/>
              </a:rPr>
              <a:t>) : </a:t>
            </a:r>
            <a:r>
              <a:rPr lang="ko-KR" altLang="en-US" sz="1000" dirty="0">
                <a:latin typeface="+mn-ea"/>
              </a:rPr>
              <a:t>해당 팀장 → 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차 대상 → </a:t>
            </a:r>
            <a:r>
              <a:rPr lang="en-US" altLang="ko-KR" sz="1000" dirty="0">
                <a:latin typeface="+mn-ea"/>
              </a:rPr>
              <a:t>2</a:t>
            </a:r>
            <a:r>
              <a:rPr lang="ko-KR" altLang="en-US" sz="1000" dirty="0">
                <a:latin typeface="+mn-ea"/>
              </a:rPr>
              <a:t>차 대상</a:t>
            </a:r>
            <a:endParaRPr lang="en-US" altLang="ko-KR" sz="1000" dirty="0">
              <a:latin typeface="+mn-ea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6D5F8F46-9981-7EB6-C4FA-E505294BC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622423"/>
              </p:ext>
            </p:extLst>
          </p:nvPr>
        </p:nvGraphicFramePr>
        <p:xfrm>
          <a:off x="6176365" y="1276889"/>
          <a:ext cx="5607641" cy="5039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3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92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802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유형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방법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j-lt"/>
                        <a:ea typeface="HY헤드라인M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j-lt"/>
                        <a:ea typeface="HY헤드라인M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j-lt"/>
                        <a:ea typeface="HY헤드라인M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j-lt"/>
                        <a:ea typeface="HY헤드라인M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802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발생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경과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j-lt"/>
                        <a:ea typeface="HY헤드라인M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j-lt"/>
                        <a:ea typeface="HY헤드라인M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종결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 결품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14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발생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해소까지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4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해소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4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서면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자사 파업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협력사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4M/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부도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파업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결품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해결까지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465914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항만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물류 파업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47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 선적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500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만원 이상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해소까지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747346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고장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정전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단전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917535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시스템다운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사이버공격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해소까지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폭발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화재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진압까지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280835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환경 사고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중지까지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47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안전 사고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단순사고 포함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구호까지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보건 사고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해소까지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천재지변 피해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중지까지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246997"/>
                  </a:ext>
                </a:extLst>
              </a:tr>
              <a:tr h="286802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리콜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캠페인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/PL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종료까지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D17F10A-A9D9-952C-F559-605B16E4EC4E}"/>
              </a:ext>
            </a:extLst>
          </p:cNvPr>
          <p:cNvSpPr txBox="1"/>
          <p:nvPr/>
        </p:nvSpPr>
        <p:spPr>
          <a:xfrm>
            <a:off x="6176366" y="6316209"/>
            <a:ext cx="3051083" cy="27378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i="1" dirty="0">
                <a:latin typeface="+mn-ea"/>
              </a:rPr>
              <a:t>* </a:t>
            </a:r>
            <a:r>
              <a:rPr lang="ko-KR" altLang="en-US" sz="1000" i="1" dirty="0">
                <a:latin typeface="+mn-ea"/>
              </a:rPr>
              <a:t>발생은 보고 주체가 해당 사실을 인지한 것을 말함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555803B9-FB50-9F8D-BF1B-249BC36D51AF}"/>
              </a:ext>
            </a:extLst>
          </p:cNvPr>
          <p:cNvCxnSpPr>
            <a:cxnSpLocks/>
            <a:stCxn id="6" idx="0"/>
            <a:endCxn id="16" idx="2"/>
          </p:cNvCxnSpPr>
          <p:nvPr/>
        </p:nvCxnSpPr>
        <p:spPr>
          <a:xfrm flipV="1">
            <a:off x="1669139" y="2304356"/>
            <a:ext cx="0" cy="62640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9858412-99FC-6D68-C829-096166AC7840}"/>
              </a:ext>
            </a:extLst>
          </p:cNvPr>
          <p:cNvSpPr/>
          <p:nvPr/>
        </p:nvSpPr>
        <p:spPr>
          <a:xfrm>
            <a:off x="2440183" y="2930756"/>
            <a:ext cx="8640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경영관리본부장</a:t>
            </a:r>
            <a:endParaRPr lang="en-US" altLang="ko-KR" sz="9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경영관리팀장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cxnSp>
        <p:nvCxnSpPr>
          <p:cNvPr id="40" name="꺾인 연결선 19">
            <a:extLst>
              <a:ext uri="{FF2B5EF4-FFF2-40B4-BE49-F238E27FC236}">
                <a16:creationId xmlns:a16="http://schemas.microsoft.com/office/drawing/2014/main" id="{555EC23F-F3D5-00C5-0B3D-9E6A0AA574CA}"/>
              </a:ext>
            </a:extLst>
          </p:cNvPr>
          <p:cNvCxnSpPr>
            <a:cxnSpLocks/>
            <a:stCxn id="10" idx="0"/>
            <a:endCxn id="39" idx="2"/>
          </p:cNvCxnSpPr>
          <p:nvPr/>
        </p:nvCxnSpPr>
        <p:spPr>
          <a:xfrm rot="16200000" flipV="1">
            <a:off x="2924811" y="3238128"/>
            <a:ext cx="496266" cy="60152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F250BBB-DA25-E650-CA1A-A96DDB52633F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flipV="1">
            <a:off x="3473705" y="2304356"/>
            <a:ext cx="0" cy="1482666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1C746D29-8DE6-1A7E-280C-1CC778BC4D13}"/>
              </a:ext>
            </a:extLst>
          </p:cNvPr>
          <p:cNvCxnSpPr>
            <a:cxnSpLocks/>
            <a:stCxn id="9" idx="1"/>
            <a:endCxn id="16" idx="3"/>
          </p:cNvCxnSpPr>
          <p:nvPr/>
        </p:nvCxnSpPr>
        <p:spPr>
          <a:xfrm flipH="1">
            <a:off x="2101139" y="2124356"/>
            <a:ext cx="940566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2A1FAAB-7C6C-8B08-527C-956532EA44FB}"/>
              </a:ext>
            </a:extLst>
          </p:cNvPr>
          <p:cNvSpPr/>
          <p:nvPr/>
        </p:nvSpPr>
        <p:spPr>
          <a:xfrm>
            <a:off x="3148328" y="1737736"/>
            <a:ext cx="649784" cy="21120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최고책임자</a:t>
            </a:r>
          </a:p>
        </p:txBody>
      </p:sp>
    </p:spTree>
    <p:extLst>
      <p:ext uri="{BB962C8B-B14F-4D97-AF65-F5344CB8AC3E}">
        <p14:creationId xmlns:p14="http://schemas.microsoft.com/office/powerpoint/2010/main" val="410157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FB2F96-8D02-88B3-5CF5-3FE42158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b="1" dirty="0"/>
              <a:t>유형별 업무보고 주체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90A86D0-B254-3D4D-FE1D-9C8D3E9A4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925406"/>
              </p:ext>
            </p:extLst>
          </p:nvPr>
        </p:nvGraphicFramePr>
        <p:xfrm>
          <a:off x="406531" y="839143"/>
          <a:ext cx="11382057" cy="597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0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263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업무보고 주체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63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 결품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929115"/>
                  </a:ext>
                </a:extLst>
              </a:tr>
              <a:tr h="228997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자사 파업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고객관리팀장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자사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경영관리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상생협력팀장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263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협력사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4M/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부도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파업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결품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구매팀장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263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항만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물류 파업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917368"/>
                  </a:ext>
                </a:extLst>
              </a:tr>
              <a:tr h="128263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 선적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이상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</a:t>
                      </a: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(500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만원 이상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관계사 간 거래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2878"/>
                  </a:ext>
                </a:extLst>
              </a:tr>
              <a:tr h="531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관계사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외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거래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예외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PROTO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 등 생산관리 담당 이전 제품인 경우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고객관리팀장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예외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품질문제에 의한 항공선적인 경우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품질관리팀장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-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품질문제에 따른 항공선적 결정품의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품질관리팀장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-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선적진행 및 비용처리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306448"/>
                  </a:ext>
                </a:extLst>
              </a:tr>
              <a:tr h="128263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고장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정전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단전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설비개선팀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생산기술팀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공장장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COO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508543"/>
                  </a:ext>
                </a:extLst>
              </a:tr>
              <a:tr h="128263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EHS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경영관리팀장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공장장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COO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415811"/>
                  </a:ext>
                </a:extLst>
              </a:tr>
              <a:tr h="128263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시스템다운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사이버공격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경영관리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정보보안팀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포메이션랩스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200350"/>
                  </a:ext>
                </a:extLst>
              </a:tr>
              <a:tr h="228997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폭발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화재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가스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위험물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EHS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경영관리팀장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공장장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COO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997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환경 사고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폐수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유독물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EHS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경영관리팀장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공장장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COO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997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안전 사고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산업재해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단순사고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EHS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경영관리팀장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공장장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COO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997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보건 사고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전염병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식중독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EHS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경영관리팀장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공장장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COO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02534"/>
                  </a:ext>
                </a:extLst>
              </a:tr>
              <a:tr h="228997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천재지변 피해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폭염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폭설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폭우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한파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강풍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지진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EHS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경영관리팀장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공장장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COO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997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리콜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캠페인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/PL</a:t>
                      </a: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고객불만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법규위반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품질관리팀장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822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438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21619631-2368-6857-37CA-A90447DA4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672700"/>
              </p:ext>
            </p:extLst>
          </p:nvPr>
        </p:nvGraphicFramePr>
        <p:xfrm>
          <a:off x="418156" y="1277431"/>
          <a:ext cx="5686809" cy="5033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6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82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435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모서리가 둥근 직사각형 31">
            <a:extLst>
              <a:ext uri="{FF2B5EF4-FFF2-40B4-BE49-F238E27FC236}">
                <a16:creationId xmlns:a16="http://schemas.microsoft.com/office/drawing/2014/main" id="{B05C8A25-A8BB-C1CD-0C2C-12FB2F044D10}"/>
              </a:ext>
            </a:extLst>
          </p:cNvPr>
          <p:cNvSpPr/>
          <p:nvPr/>
        </p:nvSpPr>
        <p:spPr>
          <a:xfrm>
            <a:off x="2276023" y="1674244"/>
            <a:ext cx="818182" cy="432000"/>
          </a:xfrm>
          <a:prstGeom prst="roundRect">
            <a:avLst>
              <a:gd name="adj" fmla="val 4047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사유발생</a:t>
            </a:r>
          </a:p>
        </p:txBody>
      </p:sp>
      <p:sp>
        <p:nvSpPr>
          <p:cNvPr id="7" name="모서리가 둥근 직사각형 32">
            <a:extLst>
              <a:ext uri="{FF2B5EF4-FFF2-40B4-BE49-F238E27FC236}">
                <a16:creationId xmlns:a16="http://schemas.microsoft.com/office/drawing/2014/main" id="{D3D65FBB-0746-5022-B1AC-128D690CCE21}"/>
              </a:ext>
            </a:extLst>
          </p:cNvPr>
          <p:cNvSpPr/>
          <p:nvPr/>
        </p:nvSpPr>
        <p:spPr>
          <a:xfrm>
            <a:off x="2276023" y="2351336"/>
            <a:ext cx="818182" cy="432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관련조직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소집</a:t>
            </a:r>
          </a:p>
        </p:txBody>
      </p:sp>
      <p:sp>
        <p:nvSpPr>
          <p:cNvPr id="10" name="모서리가 둥근 직사각형 35">
            <a:extLst>
              <a:ext uri="{FF2B5EF4-FFF2-40B4-BE49-F238E27FC236}">
                <a16:creationId xmlns:a16="http://schemas.microsoft.com/office/drawing/2014/main" id="{241C8175-E6E9-9C22-C38C-E8E6CC1195A9}"/>
              </a:ext>
            </a:extLst>
          </p:cNvPr>
          <p:cNvSpPr/>
          <p:nvPr/>
        </p:nvSpPr>
        <p:spPr>
          <a:xfrm>
            <a:off x="2276023" y="3028428"/>
            <a:ext cx="818182" cy="432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대응방안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협의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FB2F96-8D02-88B3-5CF5-3FE42158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항공선적 업무 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4DCFE6-D890-F43E-6512-FEB48B2AC0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기준 </a:t>
            </a:r>
            <a:r>
              <a:rPr lang="en-US" altLang="ko-KR" dirty="0"/>
              <a:t>: 2</a:t>
            </a:r>
            <a:r>
              <a:rPr lang="ko-KR" altLang="en-US" dirty="0"/>
              <a:t>회 이상 </a:t>
            </a:r>
            <a:r>
              <a:rPr lang="en-US" altLang="ko-KR" dirty="0"/>
              <a:t>or 500</a:t>
            </a:r>
            <a:r>
              <a:rPr lang="ko-KR" altLang="en-US" dirty="0"/>
              <a:t>만원 이상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B3EC2AD-9C91-405D-2C6D-B93A087A7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783086"/>
              </p:ext>
            </p:extLst>
          </p:nvPr>
        </p:nvGraphicFramePr>
        <p:xfrm>
          <a:off x="6101777" y="1277431"/>
          <a:ext cx="5679637" cy="5033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4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14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84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활동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입력물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549">
                <a:tc rowSpan="2">
                  <a:txBody>
                    <a:bodyPr/>
                    <a:lstStyle/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긴급보고 기준에 준한 발생보고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OE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생산운영팀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생산관리팀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라벨링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고객관리팀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PROTO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품질관리팀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부적합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300"/>
                        </a:lnSpc>
                      </a:pP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항공선적 결정권자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계열사 대표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 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1618">
                <a:tc vMerge="1">
                  <a:txBody>
                    <a:bodyPr/>
                    <a:lstStyle/>
                    <a:p>
                      <a:pPr latinLnBrk="1">
                        <a:lnSpc>
                          <a:spcPts val="15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기초자료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549">
                <a:tc>
                  <a:txBody>
                    <a:bodyPr/>
                    <a:lstStyle/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계획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수립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유관 부서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업무분장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 조직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기초자료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회의록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5872">
                <a:tc>
                  <a:txBody>
                    <a:bodyPr/>
                    <a:lstStyle/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긴급 항공 선적 대응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 분석 및 개선 대책 수립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대비 실적 현황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회의록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선적계획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지출결의서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5872">
                <a:tc>
                  <a:txBody>
                    <a:bodyPr/>
                    <a:lstStyle/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귀책처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결정권자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계열사 대표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귀책처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경위서 작성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원인분석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조치계획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경위서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대책서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클레임청구서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549">
                <a:tc>
                  <a:txBody>
                    <a:bodyPr/>
                    <a:lstStyle/>
                    <a:p>
                      <a:pPr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긴급 보고 기준에 준한 경과 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 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대책서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진행현황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2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긴급 보고 기준에 준한 종결 보고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해당팀장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 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종결 보고서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FA99872-CBA7-D195-E052-3DE983D3A2BD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2685114" y="2106244"/>
            <a:ext cx="0" cy="24509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56638E1-9390-77AC-1317-E94DE843B968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2685114" y="2783336"/>
            <a:ext cx="0" cy="24509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37">
            <a:extLst>
              <a:ext uri="{FF2B5EF4-FFF2-40B4-BE49-F238E27FC236}">
                <a16:creationId xmlns:a16="http://schemas.microsoft.com/office/drawing/2014/main" id="{388A9FE6-8364-FE37-6ACA-02C9D8B7A44D}"/>
              </a:ext>
            </a:extLst>
          </p:cNvPr>
          <p:cNvSpPr/>
          <p:nvPr/>
        </p:nvSpPr>
        <p:spPr>
          <a:xfrm>
            <a:off x="1133628" y="3705520"/>
            <a:ext cx="818182" cy="432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항공선적</a:t>
            </a:r>
          </a:p>
        </p:txBody>
      </p:sp>
      <p:sp>
        <p:nvSpPr>
          <p:cNvPr id="13" name="모서리가 둥근 직사각형 38">
            <a:extLst>
              <a:ext uri="{FF2B5EF4-FFF2-40B4-BE49-F238E27FC236}">
                <a16:creationId xmlns:a16="http://schemas.microsoft.com/office/drawing/2014/main" id="{EA060BDE-BD69-284F-8C1E-34DC843FF112}"/>
              </a:ext>
            </a:extLst>
          </p:cNvPr>
          <p:cNvSpPr/>
          <p:nvPr/>
        </p:nvSpPr>
        <p:spPr>
          <a:xfrm>
            <a:off x="3423117" y="3705520"/>
            <a:ext cx="818182" cy="432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시정조치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" name="꺾인 연결선 40">
            <a:extLst>
              <a:ext uri="{FF2B5EF4-FFF2-40B4-BE49-F238E27FC236}">
                <a16:creationId xmlns:a16="http://schemas.microsoft.com/office/drawing/2014/main" id="{91EEDBE7-754E-0024-47A9-63DC3E7D25BA}"/>
              </a:ext>
            </a:extLst>
          </p:cNvPr>
          <p:cNvCxnSpPr>
            <a:cxnSpLocks/>
            <a:stCxn id="12" idx="2"/>
            <a:endCxn id="16" idx="1"/>
          </p:cNvCxnSpPr>
          <p:nvPr/>
        </p:nvCxnSpPr>
        <p:spPr>
          <a:xfrm rot="16200000" flipH="1">
            <a:off x="965732" y="4714507"/>
            <a:ext cx="1887278" cy="733304"/>
          </a:xfrm>
          <a:prstGeom prst="bentConnector2">
            <a:avLst/>
          </a:prstGeom>
          <a:ln w="9525">
            <a:solidFill>
              <a:schemeClr val="bg1">
                <a:lumMod val="50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41">
            <a:extLst>
              <a:ext uri="{FF2B5EF4-FFF2-40B4-BE49-F238E27FC236}">
                <a16:creationId xmlns:a16="http://schemas.microsoft.com/office/drawing/2014/main" id="{86A2478A-BD7B-6324-A60C-1ADF064C0480}"/>
              </a:ext>
            </a:extLst>
          </p:cNvPr>
          <p:cNvSpPr/>
          <p:nvPr/>
        </p:nvSpPr>
        <p:spPr>
          <a:xfrm>
            <a:off x="2276023" y="5808798"/>
            <a:ext cx="818182" cy="432000"/>
          </a:xfrm>
          <a:prstGeom prst="roundRect">
            <a:avLst>
              <a:gd name="adj" fmla="val 4047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종료보고</a:t>
            </a:r>
          </a:p>
        </p:txBody>
      </p:sp>
      <p:sp>
        <p:nvSpPr>
          <p:cNvPr id="17" name="순서도: 판단 16">
            <a:extLst>
              <a:ext uri="{FF2B5EF4-FFF2-40B4-BE49-F238E27FC236}">
                <a16:creationId xmlns:a16="http://schemas.microsoft.com/office/drawing/2014/main" id="{4F6F633C-38CE-72CF-D308-0C213FDA90F3}"/>
              </a:ext>
            </a:extLst>
          </p:cNvPr>
          <p:cNvSpPr/>
          <p:nvPr/>
        </p:nvSpPr>
        <p:spPr>
          <a:xfrm>
            <a:off x="3374026" y="4382612"/>
            <a:ext cx="916364" cy="504000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  <a:latin typeface="+mn-ea"/>
              </a:rPr>
              <a:t>귀책처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모서리가 둥근 직사각형 44">
            <a:extLst>
              <a:ext uri="{FF2B5EF4-FFF2-40B4-BE49-F238E27FC236}">
                <a16:creationId xmlns:a16="http://schemas.microsoft.com/office/drawing/2014/main" id="{FE514358-784F-1882-F5F6-68E5EAD89693}"/>
              </a:ext>
            </a:extLst>
          </p:cNvPr>
          <p:cNvSpPr/>
          <p:nvPr/>
        </p:nvSpPr>
        <p:spPr>
          <a:xfrm>
            <a:off x="3423117" y="5131704"/>
            <a:ext cx="818182" cy="432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+mn-ea"/>
              </a:rPr>
              <a:t>개선활동</a:t>
            </a:r>
            <a:endParaRPr lang="en-US" altLang="ko-KR" sz="1000" b="1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91342F6-E0B0-7BB6-9182-C8FD360A28BE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3832208" y="4886612"/>
            <a:ext cx="0" cy="24509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46">
            <a:extLst>
              <a:ext uri="{FF2B5EF4-FFF2-40B4-BE49-F238E27FC236}">
                <a16:creationId xmlns:a16="http://schemas.microsoft.com/office/drawing/2014/main" id="{B8FB2BAD-2AB8-329E-772D-10BF6B349EF4}"/>
              </a:ext>
            </a:extLst>
          </p:cNvPr>
          <p:cNvCxnSpPr>
            <a:stCxn id="22" idx="2"/>
            <a:endCxn id="19" idx="3"/>
          </p:cNvCxnSpPr>
          <p:nvPr/>
        </p:nvCxnSpPr>
        <p:spPr>
          <a:xfrm rot="5400000">
            <a:off x="4544328" y="4922129"/>
            <a:ext cx="122546" cy="728604"/>
          </a:xfrm>
          <a:prstGeom prst="bentConnector2">
            <a:avLst/>
          </a:prstGeom>
          <a:ln w="9525">
            <a:solidFill>
              <a:schemeClr val="bg1">
                <a:lumMod val="50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47">
            <a:extLst>
              <a:ext uri="{FF2B5EF4-FFF2-40B4-BE49-F238E27FC236}">
                <a16:creationId xmlns:a16="http://schemas.microsoft.com/office/drawing/2014/main" id="{263170C4-977F-B7B4-CDE9-E7C2749EC281}"/>
              </a:ext>
            </a:extLst>
          </p:cNvPr>
          <p:cNvSpPr/>
          <p:nvPr/>
        </p:nvSpPr>
        <p:spPr>
          <a:xfrm>
            <a:off x="4560812" y="4793158"/>
            <a:ext cx="818182" cy="432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협력사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클레임 청구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08CDD4-0522-CEAA-CBD4-E6D275896443}"/>
              </a:ext>
            </a:extLst>
          </p:cNvPr>
          <p:cNvSpPr txBox="1"/>
          <p:nvPr/>
        </p:nvSpPr>
        <p:spPr>
          <a:xfrm>
            <a:off x="4540930" y="4480724"/>
            <a:ext cx="256481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ko-KR" altLang="en-US" sz="1000" b="1" dirty="0">
                <a:latin typeface="+mn-ea"/>
              </a:rPr>
              <a:t>외주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DEE8A5-3F7C-443F-C803-3C9EC6C9CEFB}"/>
              </a:ext>
            </a:extLst>
          </p:cNvPr>
          <p:cNvSpPr txBox="1"/>
          <p:nvPr/>
        </p:nvSpPr>
        <p:spPr>
          <a:xfrm>
            <a:off x="3555309" y="4901997"/>
            <a:ext cx="256481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ko-KR" altLang="en-US" sz="1000" b="1" dirty="0">
                <a:latin typeface="+mn-ea"/>
              </a:rPr>
              <a:t>사내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4B60CA-4209-DFEF-3F8C-8875E746A7F1}"/>
              </a:ext>
            </a:extLst>
          </p:cNvPr>
          <p:cNvSpPr txBox="1"/>
          <p:nvPr/>
        </p:nvSpPr>
        <p:spPr>
          <a:xfrm>
            <a:off x="6105064" y="6321481"/>
            <a:ext cx="3051083" cy="27378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i="1" dirty="0">
                <a:latin typeface="+mn-ea"/>
              </a:rPr>
              <a:t>* </a:t>
            </a:r>
            <a:r>
              <a:rPr lang="ko-KR" altLang="en-US" sz="1000" i="1" dirty="0">
                <a:latin typeface="+mn-ea"/>
              </a:rPr>
              <a:t>발생은 보고 주체가 해당 사실을 인지한 것을 말함</a:t>
            </a:r>
          </a:p>
        </p:txBody>
      </p:sp>
      <p:cxnSp>
        <p:nvCxnSpPr>
          <p:cNvPr id="41" name="꺾인 연결선 46">
            <a:extLst>
              <a:ext uri="{FF2B5EF4-FFF2-40B4-BE49-F238E27FC236}">
                <a16:creationId xmlns:a16="http://schemas.microsoft.com/office/drawing/2014/main" id="{2A1465F6-D294-B23A-D62F-7CF93A2F57D5}"/>
              </a:ext>
            </a:extLst>
          </p:cNvPr>
          <p:cNvCxnSpPr>
            <a:cxnSpLocks/>
            <a:stCxn id="17" idx="3"/>
            <a:endCxn id="22" idx="0"/>
          </p:cNvCxnSpPr>
          <p:nvPr/>
        </p:nvCxnSpPr>
        <p:spPr>
          <a:xfrm>
            <a:off x="4290390" y="4634612"/>
            <a:ext cx="679513" cy="158546"/>
          </a:xfrm>
          <a:prstGeom prst="bentConnector2">
            <a:avLst/>
          </a:prstGeom>
          <a:ln w="9525">
            <a:solidFill>
              <a:schemeClr val="bg1">
                <a:lumMod val="50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0">
            <a:extLst>
              <a:ext uri="{FF2B5EF4-FFF2-40B4-BE49-F238E27FC236}">
                <a16:creationId xmlns:a16="http://schemas.microsoft.com/office/drawing/2014/main" id="{FADAA585-AEB2-AE60-FD9A-91BB4C0F38A3}"/>
              </a:ext>
            </a:extLst>
          </p:cNvPr>
          <p:cNvCxnSpPr>
            <a:cxnSpLocks/>
            <a:stCxn id="19" idx="2"/>
            <a:endCxn id="16" idx="3"/>
          </p:cNvCxnSpPr>
          <p:nvPr/>
        </p:nvCxnSpPr>
        <p:spPr>
          <a:xfrm rot="5400000">
            <a:off x="3232660" y="5425250"/>
            <a:ext cx="461094" cy="738003"/>
          </a:xfrm>
          <a:prstGeom prst="bentConnector2">
            <a:avLst/>
          </a:prstGeom>
          <a:ln w="9525">
            <a:solidFill>
              <a:schemeClr val="bg1">
                <a:lumMod val="50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0">
            <a:extLst>
              <a:ext uri="{FF2B5EF4-FFF2-40B4-BE49-F238E27FC236}">
                <a16:creationId xmlns:a16="http://schemas.microsoft.com/office/drawing/2014/main" id="{4E29E9CD-CE2A-CC80-D878-1283C1704516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1991371" y="3011777"/>
            <a:ext cx="245092" cy="1142395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40">
            <a:extLst>
              <a:ext uri="{FF2B5EF4-FFF2-40B4-BE49-F238E27FC236}">
                <a16:creationId xmlns:a16="http://schemas.microsoft.com/office/drawing/2014/main" id="{114FBF25-AEB9-A84A-9420-FEDA09C6BB32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3136115" y="3009427"/>
            <a:ext cx="245092" cy="1147094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D455BCD-2900-BBB7-D0B7-3093B7691E97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>
            <a:off x="3832208" y="4137520"/>
            <a:ext cx="0" cy="24509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289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060A19-3027-5CF3-F3FC-EA0C6CCC55BD}"/>
              </a:ext>
            </a:extLst>
          </p:cNvPr>
          <p:cNvSpPr txBox="1"/>
          <p:nvPr/>
        </p:nvSpPr>
        <p:spPr>
          <a:xfrm>
            <a:off x="3246210" y="5384799"/>
            <a:ext cx="5699580" cy="825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본 문서는 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CTR Group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의 정보자산으로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승인을 받지 않은 문서의 열람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수정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배포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복사를 엄격하게 금지합니다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. </a:t>
            </a:r>
          </a:p>
          <a:p>
            <a:pPr algn="ctr">
              <a:lnSpc>
                <a:spcPct val="130000"/>
              </a:lnSpc>
            </a:pP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이를</a:t>
            </a:r>
            <a:r>
              <a:rPr kumimoji="1" lang="en" altLang="ko-Kore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위반할 경우 부정경쟁방지 및 영업비밀보호에 관한 법률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형법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민법 등에 따라 민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·</a:t>
            </a:r>
            <a:r>
              <a:rPr kumimoji="1" lang="ko-KR" altLang="en-US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형사상 책임을 부담할 수 있습니다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.</a:t>
            </a:r>
            <a:b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</a:br>
            <a:endParaRPr kumimoji="1" lang="en-US" altLang="ko-KR" sz="700" spc="-3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</a:pP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This document is an information property of the CTR Group. Unauthorized access, editing, distribution, and copying are strictly prohibited. </a:t>
            </a:r>
          </a:p>
          <a:p>
            <a:pPr algn="ctr">
              <a:lnSpc>
                <a:spcPct val="130000"/>
              </a:lnSpc>
            </a:pP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Failure to comply may result in </a:t>
            </a:r>
            <a:r>
              <a:rPr kumimoji="1" lang="en-US" altLang="ko-KR" sz="700" spc="-3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penalties under the Unfair Competition Prevention and Trade Secret Protection Act and </a:t>
            </a:r>
            <a:r>
              <a:rPr kumimoji="1" lang="en-US" altLang="ko-KR" sz="700" spc="-3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laws.</a:t>
            </a:r>
            <a:endParaRPr kumimoji="1" lang="ko-KR" altLang="ko-KR" sz="700" spc="-3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</a:pPr>
            <a:endParaRPr kumimoji="1" lang="en" altLang="ko-Kore-KR" sz="700" spc="-3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14" name="그림 13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00BD39E8-419A-00E2-04CD-5B95A62C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72" y="2133677"/>
            <a:ext cx="5433455" cy="170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9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CTR Color System">
      <a:dk1>
        <a:srgbClr val="000000"/>
      </a:dk1>
      <a:lt1>
        <a:sysClr val="window" lastClr="FFFFFF"/>
      </a:lt1>
      <a:dk2>
        <a:srgbClr val="F7F8F8"/>
      </a:dk2>
      <a:lt2>
        <a:srgbClr val="FFFF66"/>
      </a:lt2>
      <a:accent1>
        <a:srgbClr val="E1251B"/>
      </a:accent1>
      <a:accent2>
        <a:srgbClr val="CE0E2D"/>
      </a:accent2>
      <a:accent3>
        <a:srgbClr val="76777A"/>
      </a:accent3>
      <a:accent4>
        <a:srgbClr val="636569"/>
      </a:accent4>
      <a:accent5>
        <a:srgbClr val="00946E"/>
      </a:accent5>
      <a:accent6>
        <a:srgbClr val="007A4C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AC6D138A9216478D8C00E1C8E45BDF" ma:contentTypeVersion="7" ma:contentTypeDescription="Create a new document." ma:contentTypeScope="" ma:versionID="f81e8de81e8501c20a4cf73b3bb8f9dd">
  <xsd:schema xmlns:xsd="http://www.w3.org/2001/XMLSchema" xmlns:xs="http://www.w3.org/2001/XMLSchema" xmlns:p="http://schemas.microsoft.com/office/2006/metadata/properties" xmlns:ns2="5c7abf6b-9cf9-4d0d-b79a-adf7330794c1" xmlns:ns3="4b51ee87-befd-4db7-a3ab-e9817b37cc8f" targetNamespace="http://schemas.microsoft.com/office/2006/metadata/properties" ma:root="true" ma:fieldsID="58a5e6c9a83eecba5a2cf639db998936" ns2:_="" ns3:_="">
    <xsd:import namespace="5c7abf6b-9cf9-4d0d-b79a-adf7330794c1"/>
    <xsd:import namespace="4b51ee87-befd-4db7-a3ab-e9817b37cc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bf6b-9cf9-4d0d-b79a-adf7330794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1ee87-befd-4db7-a3ab-e9817b37cc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4F9CF1-4CC9-4225-8D3C-7345420121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7abf6b-9cf9-4d0d-b79a-adf7330794c1"/>
    <ds:schemaRef ds:uri="4b51ee87-befd-4db7-a3ab-e9817b37cc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B5447A-572A-4B96-8019-B4BC377A8C38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4b51ee87-befd-4db7-a3ab-e9817b37cc8f"/>
    <ds:schemaRef ds:uri="5c7abf6b-9cf9-4d0d-b79a-adf7330794c1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BDE4DB1-677C-4C61-B105-C81C92F4905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8059d40-19c8-4fad-b73a-4bd721d6054a}" enabled="1" method="Privileged" siteId="{7626d4cb-4eb7-40ae-96db-5fd0b9c7db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1103</Words>
  <Application>Microsoft Macintosh PowerPoint</Application>
  <PresentationFormat>와이드스크린</PresentationFormat>
  <Paragraphs>247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HY헤드라인M</vt:lpstr>
      <vt:lpstr>Arial</vt:lpstr>
      <vt:lpstr>Office 테마</vt:lpstr>
      <vt:lpstr>비상사태 긴급 보고 및 업무 지침 (항공선적 포함)</vt:lpstr>
      <vt:lpstr>PowerPoint 프레젠테이션</vt:lpstr>
      <vt:lpstr>1. 업무보고 과정 및 방법</vt:lpstr>
      <vt:lpstr>2. 유형별 업무보고 주체</vt:lpstr>
      <vt:lpstr>3. 항공선적 업무 과정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Yunjin Jang 장윤진(인재경영팀)</dc:creator>
  <cp:lastModifiedBy>Sangwoo Kang 강상우</cp:lastModifiedBy>
  <cp:revision>26</cp:revision>
  <cp:lastPrinted>2023-06-23T02:23:30Z</cp:lastPrinted>
  <dcterms:created xsi:type="dcterms:W3CDTF">2023-03-31T10:00:21Z</dcterms:created>
  <dcterms:modified xsi:type="dcterms:W3CDTF">2026-03-24T15:40:10Z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0x01010045AC6D138A9216478D8C00E1C8E45BDF</vt:lpwstr>
  </property>
  <property fmtid="{D5CDD505-2E9C-101B-9397-08002B2CF9AE}" pid="3" name="MediaServiceImageTags">
    <vt:lpwstr/>
  </property>
</Properties>
</file>