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6" r:id="rId5"/>
    <p:sldId id="1569" r:id="rId6"/>
    <p:sldId id="1570" r:id="rId7"/>
    <p:sldId id="1572" r:id="rId8"/>
    <p:sldId id="1573" r:id="rId9"/>
    <p:sldId id="1574" r:id="rId10"/>
    <p:sldId id="25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4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2211C"/>
    <a:srgbClr val="F9D3D1"/>
    <a:srgbClr val="CE0E2D"/>
    <a:srgbClr val="B4B4B5"/>
    <a:srgbClr val="CE16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1AF4B-645C-4052-B1D6-BA90D74264F2}" v="8" dt="2023-10-23T00:39:36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>
        <p:guide pos="257"/>
        <p:guide pos="7423"/>
        <p:guide orient="horz" pos="2160"/>
        <p:guide orient="horz" pos="40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su Kim 김성수(미래기획팀)" userId="469b12f1-7eb5-4772-8503-69018f0da6c1" providerId="ADAL" clId="{7CF1AF4B-645C-4052-B1D6-BA90D74264F2}"/>
    <pc:docChg chg="custSel mod modSld">
      <pc:chgData name="Sungsu Kim 김성수(미래기획팀)" userId="469b12f1-7eb5-4772-8503-69018f0da6c1" providerId="ADAL" clId="{7CF1AF4B-645C-4052-B1D6-BA90D74264F2}" dt="2023-10-23T00:39:43.798" v="128" actId="207"/>
      <pc:docMkLst>
        <pc:docMk/>
      </pc:docMkLst>
      <pc:sldChg chg="modSp mod">
        <pc:chgData name="Sungsu Kim 김성수(미래기획팀)" userId="469b12f1-7eb5-4772-8503-69018f0da6c1" providerId="ADAL" clId="{7CF1AF4B-645C-4052-B1D6-BA90D74264F2}" dt="2023-10-23T00:39:43.798" v="128" actId="207"/>
        <pc:sldMkLst>
          <pc:docMk/>
          <pc:sldMk cId="2885714678" sldId="1569"/>
        </pc:sldMkLst>
        <pc:graphicFrameChg chg="mod modGraphic">
          <ac:chgData name="Sungsu Kim 김성수(미래기획팀)" userId="469b12f1-7eb5-4772-8503-69018f0da6c1" providerId="ADAL" clId="{7CF1AF4B-645C-4052-B1D6-BA90D74264F2}" dt="2023-10-23T00:39:43.798" v="128" actId="207"/>
          <ac:graphicFrameMkLst>
            <pc:docMk/>
            <pc:sldMk cId="2885714678" sldId="1569"/>
            <ac:graphicFrameMk id="4" creationId="{D867A058-8B82-6F2D-DF0A-F713A3D3B113}"/>
          </ac:graphicFrameMkLst>
        </pc:graphicFrameChg>
      </pc:sldChg>
      <pc:sldChg chg="modSp mod">
        <pc:chgData name="Sungsu Kim 김성수(미래기획팀)" userId="469b12f1-7eb5-4772-8503-69018f0da6c1" providerId="ADAL" clId="{7CF1AF4B-645C-4052-B1D6-BA90D74264F2}" dt="2023-10-19T02:46:50.414" v="97"/>
        <pc:sldMkLst>
          <pc:docMk/>
          <pc:sldMk cId="2467259666" sldId="1570"/>
        </pc:sldMkLst>
        <pc:spChg chg="mod">
          <ac:chgData name="Sungsu Kim 김성수(미래기획팀)" userId="469b12f1-7eb5-4772-8503-69018f0da6c1" providerId="ADAL" clId="{7CF1AF4B-645C-4052-B1D6-BA90D74264F2}" dt="2023-10-19T02:38:16.860" v="71" actId="20577"/>
          <ac:spMkLst>
            <pc:docMk/>
            <pc:sldMk cId="2467259666" sldId="1570"/>
            <ac:spMk id="13" creationId="{C7DC5A5F-F802-FF4C-6BE8-522E218DE00A}"/>
          </ac:spMkLst>
        </pc:spChg>
        <pc:spChg chg="mod">
          <ac:chgData name="Sungsu Kim 김성수(미래기획팀)" userId="469b12f1-7eb5-4772-8503-69018f0da6c1" providerId="ADAL" clId="{7CF1AF4B-645C-4052-B1D6-BA90D74264F2}" dt="2023-10-19T02:46:50.414" v="97"/>
          <ac:spMkLst>
            <pc:docMk/>
            <pc:sldMk cId="2467259666" sldId="1570"/>
            <ac:spMk id="19" creationId="{FCDF24AD-02FF-7F9A-0810-27445FC4FA8D}"/>
          </ac:spMkLst>
        </pc:spChg>
        <pc:graphicFrameChg chg="mod modGraphic">
          <ac:chgData name="Sungsu Kim 김성수(미래기획팀)" userId="469b12f1-7eb5-4772-8503-69018f0da6c1" providerId="ADAL" clId="{7CF1AF4B-645C-4052-B1D6-BA90D74264F2}" dt="2023-10-19T02:38:36.674" v="90"/>
          <ac:graphicFrameMkLst>
            <pc:docMk/>
            <pc:sldMk cId="2467259666" sldId="1570"/>
            <ac:graphicFrameMk id="4" creationId="{D867A058-8B82-6F2D-DF0A-F713A3D3B113}"/>
          </ac:graphicFrameMkLst>
        </pc:graphicFrameChg>
      </pc:sldChg>
      <pc:sldChg chg="modSp mod">
        <pc:chgData name="Sungsu Kim 김성수(미래기획팀)" userId="469b12f1-7eb5-4772-8503-69018f0da6c1" providerId="ADAL" clId="{7CF1AF4B-645C-4052-B1D6-BA90D74264F2}" dt="2023-10-19T02:38:47.801" v="92"/>
        <pc:sldMkLst>
          <pc:docMk/>
          <pc:sldMk cId="3167899187" sldId="1572"/>
        </pc:sldMkLst>
        <pc:spChg chg="mod">
          <ac:chgData name="Sungsu Kim 김성수(미래기획팀)" userId="469b12f1-7eb5-4772-8503-69018f0da6c1" providerId="ADAL" clId="{7CF1AF4B-645C-4052-B1D6-BA90D74264F2}" dt="2023-10-19T02:38:42.385" v="91"/>
          <ac:spMkLst>
            <pc:docMk/>
            <pc:sldMk cId="3167899187" sldId="1572"/>
            <ac:spMk id="5" creationId="{7C983A99-E461-1FCE-4368-FC4D7371C488}"/>
          </ac:spMkLst>
        </pc:spChg>
        <pc:spChg chg="mod">
          <ac:chgData name="Sungsu Kim 김성수(미래기획팀)" userId="469b12f1-7eb5-4772-8503-69018f0da6c1" providerId="ADAL" clId="{7CF1AF4B-645C-4052-B1D6-BA90D74264F2}" dt="2023-10-19T02:38:47.801" v="92"/>
          <ac:spMkLst>
            <pc:docMk/>
            <pc:sldMk cId="3167899187" sldId="1572"/>
            <ac:spMk id="7" creationId="{75A1B44D-E406-330B-31AF-7128A317B324}"/>
          </ac:spMkLst>
        </pc:spChg>
      </pc:sldChg>
      <pc:sldChg chg="modSp mod">
        <pc:chgData name="Sungsu Kim 김성수(미래기획팀)" userId="469b12f1-7eb5-4772-8503-69018f0da6c1" providerId="ADAL" clId="{7CF1AF4B-645C-4052-B1D6-BA90D74264F2}" dt="2023-10-19T02:46:58.709" v="100" actId="20577"/>
        <pc:sldMkLst>
          <pc:docMk/>
          <pc:sldMk cId="2682586192" sldId="1573"/>
        </pc:sldMkLst>
        <pc:graphicFrameChg chg="mod modGraphic">
          <ac:chgData name="Sungsu Kim 김성수(미래기획팀)" userId="469b12f1-7eb5-4772-8503-69018f0da6c1" providerId="ADAL" clId="{7CF1AF4B-645C-4052-B1D6-BA90D74264F2}" dt="2023-10-19T02:46:58.709" v="100" actId="20577"/>
          <ac:graphicFrameMkLst>
            <pc:docMk/>
            <pc:sldMk cId="2682586192" sldId="1573"/>
            <ac:graphicFrameMk id="4" creationId="{D867A058-8B82-6F2D-DF0A-F713A3D3B113}"/>
          </ac:graphicFrameMkLst>
        </pc:graphicFrameChg>
      </pc:sldChg>
    </pc:docChg>
  </pc:docChgLst>
  <pc:docChgLst>
    <pc:chgData name="Dain Lee 이다인" userId="d0e6477c-77c6-415f-b83e-b7dff6d96188" providerId="ADAL" clId="{7CB67BE3-8DA3-4214-80D7-7590A6D1E2F0}"/>
    <pc:docChg chg="modSld">
      <pc:chgData name="Dain Lee 이다인" userId="d0e6477c-77c6-415f-b83e-b7dff6d96188" providerId="ADAL" clId="{7CB67BE3-8DA3-4214-80D7-7590A6D1E2F0}" dt="2023-10-19T02:20:32.361" v="7" actId="20577"/>
      <pc:docMkLst>
        <pc:docMk/>
      </pc:docMkLst>
      <pc:sldChg chg="modSp mod">
        <pc:chgData name="Dain Lee 이다인" userId="d0e6477c-77c6-415f-b83e-b7dff6d96188" providerId="ADAL" clId="{7CB67BE3-8DA3-4214-80D7-7590A6D1E2F0}" dt="2023-10-19T02:20:15.018" v="1" actId="20577"/>
        <pc:sldMkLst>
          <pc:docMk/>
          <pc:sldMk cId="2885714678" sldId="1569"/>
        </pc:sldMkLst>
        <pc:graphicFrameChg chg="modGraphic">
          <ac:chgData name="Dain Lee 이다인" userId="d0e6477c-77c6-415f-b83e-b7dff6d96188" providerId="ADAL" clId="{7CB67BE3-8DA3-4214-80D7-7590A6D1E2F0}" dt="2023-10-19T02:20:15.018" v="1" actId="20577"/>
          <ac:graphicFrameMkLst>
            <pc:docMk/>
            <pc:sldMk cId="2885714678" sldId="1569"/>
            <ac:graphicFrameMk id="4" creationId="{D867A058-8B82-6F2D-DF0A-F713A3D3B113}"/>
          </ac:graphicFrameMkLst>
        </pc:graphicFrameChg>
      </pc:sldChg>
      <pc:sldChg chg="modSp mod">
        <pc:chgData name="Dain Lee 이다인" userId="d0e6477c-77c6-415f-b83e-b7dff6d96188" providerId="ADAL" clId="{7CB67BE3-8DA3-4214-80D7-7590A6D1E2F0}" dt="2023-10-19T02:20:32.361" v="7" actId="20577"/>
        <pc:sldMkLst>
          <pc:docMk/>
          <pc:sldMk cId="2467259666" sldId="1570"/>
        </pc:sldMkLst>
        <pc:graphicFrameChg chg="modGraphic">
          <ac:chgData name="Dain Lee 이다인" userId="d0e6477c-77c6-415f-b83e-b7dff6d96188" providerId="ADAL" clId="{7CB67BE3-8DA3-4214-80D7-7590A6D1E2F0}" dt="2023-10-19T02:20:32.361" v="7" actId="20577"/>
          <ac:graphicFrameMkLst>
            <pc:docMk/>
            <pc:sldMk cId="2467259666" sldId="1570"/>
            <ac:graphicFrameMk id="4" creationId="{D867A058-8B82-6F2D-DF0A-F713A3D3B11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5079A40-E12A-99EA-9EF3-9C29CF5BD3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341060-D47E-149C-4985-819DEBE821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DA5B1-A5DF-4296-8A52-F247366DF40C}" type="datetimeFigureOut">
              <a:rPr lang="ko-KR" altLang="en-US" smtClean="0"/>
              <a:t>2023-10-23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2308FD-D96E-0AE0-9146-64DBD4B89D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BD2259-2A68-0700-C21B-0296133504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BA0CA-1C5A-4040-861F-13DC5E999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1499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5032E-F6BA-4CD2-83D5-8F3204CEAFE8}" type="datetimeFigureOut">
              <a:rPr lang="ko-KR" altLang="en-US" smtClean="0"/>
              <a:t>2023-10-23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09473-C834-47EE-850B-0245B22CF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4870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09473-C834-47EE-850B-0245B22CFD9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80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09473-C834-47EE-850B-0245B22CFD9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944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09473-C834-47EE-850B-0245B22CFD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87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09473-C834-47EE-850B-0245B22CFD9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4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09473-C834-47EE-850B-0245B22CFD9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2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74B5BE2-B628-DE98-2908-C909BEC9B8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E16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A40259-47CB-8C52-895E-3DDFD024F2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53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4B3281-6CDF-9E38-AC91-FC230CC8C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4A48FA-260A-83F5-A0D1-305D08BDC4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3" y="791639"/>
            <a:ext cx="4939600" cy="3323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8A294A-8D67-3280-F6BE-FADAB962FB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2127918"/>
            <a:ext cx="7372350" cy="1301082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defRPr sz="3600" b="0" spc="0" baseline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add title</a:t>
            </a:r>
            <a:endParaRPr lang="en-US"/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B1CFE8B7-390F-32AC-9D8C-DBB45C47D4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3547142"/>
            <a:ext cx="7372350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>
            <a:lvl1pPr>
              <a:buNone/>
              <a:defRPr kumimoji="1" lang="ko-KR" altLang="en-US" sz="2000" b="0" kern="1200" spc="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/>
              <a:t>Click to add sub-title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58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화살이(가) 표시된 사진&#10;&#10;자동 생성된 설명">
            <a:extLst>
              <a:ext uri="{FF2B5EF4-FFF2-40B4-BE49-F238E27FC236}">
                <a16:creationId xmlns:a16="http://schemas.microsoft.com/office/drawing/2014/main" id="{825D5980-6938-C89A-0B55-68156BC3A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0"/>
            <a:ext cx="28575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F95E42-2A6F-B0EF-B587-07C5046D63C7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8697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FA62BA8-4CED-6F3F-C941-F4A4160A7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869" y="401899"/>
            <a:ext cx="2332141" cy="1538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38CC10B-1535-B508-EFA3-08F31FE8C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33" y="300705"/>
            <a:ext cx="8505276" cy="360362"/>
          </a:xfrm>
        </p:spPr>
        <p:txBody>
          <a:bodyPr lIns="0" rIns="0">
            <a:noAutofit/>
          </a:bodyPr>
          <a:lstStyle>
            <a:lvl1pPr>
              <a:defRPr sz="2000" b="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add title</a:t>
            </a:r>
            <a:endParaRPr 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B0590E6-1240-F5E1-2012-75474E9583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6533" y="843126"/>
            <a:ext cx="11367474" cy="36036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>
            <a:lvl1pPr>
              <a:buNone/>
              <a:defRPr kumimoji="1" lang="ko-KR" altLang="en-US" sz="1600" b="0" kern="1200" spc="0" baseline="0" noProof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ko-KR"/>
              <a:t>1.</a:t>
            </a:r>
            <a:endParaRPr lang="ko-KR" altLang="en-US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653851EE-4308-A72D-A0BF-770689D15B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6532" y="1317060"/>
            <a:ext cx="11367475" cy="5139037"/>
          </a:xfrm>
        </p:spPr>
        <p:txBody>
          <a:bodyPr lIns="0" rIns="0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  <a:defRPr lang="en-US" altLang="ko-KR" sz="1400" kern="1200" spc="0" baseline="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defRPr>
            </a:lvl1pPr>
            <a:lvl2pPr algn="l" defTabSz="914400" rtl="0" eaLnBrk="1" latinLnBrk="1" hangingPunct="1">
              <a:lnSpc>
                <a:spcPct val="100000"/>
              </a:lnSpc>
              <a:buFont typeface="Arial" panose="020B0604020202020204" pitchFamily="34" charset="0"/>
              <a:defRPr lang="en-US" altLang="ko-KR" sz="1400" kern="120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</a:lstStyle>
          <a:p>
            <a:pPr lvl="0"/>
            <a:r>
              <a:rPr lang="en-US" altLang="ko-KR"/>
              <a:t>1)  </a:t>
            </a:r>
          </a:p>
        </p:txBody>
      </p:sp>
      <p:cxnSp>
        <p:nvCxnSpPr>
          <p:cNvPr id="12" name="직선 연결선[R] 5">
            <a:extLst>
              <a:ext uri="{FF2B5EF4-FFF2-40B4-BE49-F238E27FC236}">
                <a16:creationId xmlns:a16="http://schemas.microsoft.com/office/drawing/2014/main" id="{59F30DA8-E8E4-2AA9-AE5D-9128970978E4}"/>
              </a:ext>
            </a:extLst>
          </p:cNvPr>
          <p:cNvCxnSpPr>
            <a:cxnSpLocks/>
          </p:cNvCxnSpPr>
          <p:nvPr userDrawn="1"/>
        </p:nvCxnSpPr>
        <p:spPr>
          <a:xfrm>
            <a:off x="407988" y="669730"/>
            <a:ext cx="11376022" cy="0"/>
          </a:xfrm>
          <a:prstGeom prst="line">
            <a:avLst/>
          </a:prstGeom>
          <a:ln>
            <a:solidFill>
              <a:srgbClr val="B4B4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8F0D72F-076A-7E8A-DEBC-8DDC2B17FB33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959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BE22DD-4093-7F46-26E1-3FCF7A2A5FA9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350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79386B-071D-7A84-22DE-1A5CF3EA1C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312932-019D-6F2B-DFC7-9461482E84EE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4928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화살이(가) 표시된 사진&#10;&#10;자동 생성된 설명">
            <a:extLst>
              <a:ext uri="{FF2B5EF4-FFF2-40B4-BE49-F238E27FC236}">
                <a16:creationId xmlns:a16="http://schemas.microsoft.com/office/drawing/2014/main" id="{9631126C-4479-E85B-F620-D454CCF4F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797661-1E26-1E74-692E-92989CC93AE7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29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cove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BE9CA-8A56-3EC3-9CC7-6645433FC8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2D067F-67BD-45D8-2B4C-77421B4403CB}"/>
              </a:ext>
            </a:extLst>
          </p:cNvPr>
          <p:cNvSpPr txBox="1"/>
          <p:nvPr userDrawn="1"/>
        </p:nvSpPr>
        <p:spPr>
          <a:xfrm>
            <a:off x="11870058" y="6604588"/>
            <a:ext cx="12984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5C88401-DF11-4B3B-9C0D-78E7BEF73E81}" type="slidenum">
              <a:rPr lang="en-US" altLang="ko-KR" sz="800" smtClean="0">
                <a:solidFill>
                  <a:schemeClr val="accent4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pPr algn="r"/>
              <a:t>‹#›</a:t>
            </a:fld>
            <a:endParaRPr lang="ko-KR" altLang="en-US" sz="800">
              <a:solidFill>
                <a:schemeClr val="accent4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3362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29DB3-0EC8-57C4-CA36-9C4B2032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CF1F3-F920-820F-604E-8B9151C41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054E7-3757-6E24-2A99-B92E00F98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F0F31-2E9E-BC0D-DECB-DF61F286F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9D92E0-7402-3E38-481A-6D9F6EC3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E5E3-ED40-4819-9206-2622D1809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5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6" r:id="rId3"/>
    <p:sldLayoutId id="2147483665" r:id="rId4"/>
    <p:sldLayoutId id="2147483667" r:id="rId5"/>
    <p:sldLayoutId id="2147483662" r:id="rId6"/>
    <p:sldLayoutId id="2147483664" r:id="rId7"/>
    <p:sldLayoutId id="2147483663" r:id="rId8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trcentral-my.sharepoint.com/:x:/g/personal/ctrfs01_ctr_co_kr/Ee7SM6EkbgFGgR5PeZLBPVoBgwl6mX4bsOz7Re2u9M2jkw?e=uhLpV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A702-4F4D-D85E-50B6-447AE8E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127918"/>
            <a:ext cx="7962160" cy="1301082"/>
          </a:xfrm>
        </p:spPr>
        <p:txBody>
          <a:bodyPr/>
          <a:lstStyle/>
          <a:p>
            <a:r>
              <a:rPr lang="en-US" altLang="ko-KR"/>
              <a:t>CTR </a:t>
            </a:r>
            <a:br>
              <a:rPr lang="en-US" altLang="ko-KR"/>
            </a:br>
            <a:r>
              <a:rPr lang="ko-KR" altLang="en-US"/>
              <a:t>고객</a:t>
            </a:r>
            <a:r>
              <a:rPr lang="en-US" altLang="ko-KR"/>
              <a:t>/</a:t>
            </a:r>
            <a:r>
              <a:rPr lang="ko-KR" altLang="en-US"/>
              <a:t>협력사 경조사비 지급 </a:t>
            </a:r>
            <a:r>
              <a:rPr lang="en-US" altLang="ko-KR"/>
              <a:t>PROCESS</a:t>
            </a:r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5AFFA2-DD5D-82BA-FC0E-266664F11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CTR Holdings </a:t>
            </a:r>
            <a:r>
              <a:rPr lang="ko-KR" altLang="en-US"/>
              <a:t>전략기획본부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F8ECB-A6E6-54CE-EC80-F76FC2502FC7}"/>
              </a:ext>
            </a:extLst>
          </p:cNvPr>
          <p:cNvSpPr txBox="1"/>
          <p:nvPr/>
        </p:nvSpPr>
        <p:spPr>
          <a:xfrm>
            <a:off x="800100" y="5413179"/>
            <a:ext cx="1320874" cy="3416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kumimoji="1" lang="en-US" altLang="ko-KR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4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2023. 10. 19.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64FF2-4D9E-4ED4-F77C-FA7EC2CBC080}"/>
              </a:ext>
            </a:extLst>
          </p:cNvPr>
          <p:cNvSpPr txBox="1"/>
          <p:nvPr/>
        </p:nvSpPr>
        <p:spPr>
          <a:xfrm>
            <a:off x="4704670" y="5272655"/>
            <a:ext cx="4734606" cy="8247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본 문서는 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CTR Group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의 정보자산으로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승인을 받지 않은 문서의 열람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수정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배포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복사를 엄격하게 금지합니다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이를</a:t>
            </a:r>
            <a:r>
              <a:rPr kumimoji="1" lang="en" altLang="ko-Kore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위반할 경우 부정경쟁방지 및 영업비밀보호에 관한 법률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형법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민법 등에 따라 민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·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형사상 책임을 부담할 수 있습니다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.</a:t>
            </a:r>
            <a:b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</a:br>
            <a:endParaRPr kumimoji="1" lang="en-US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This document is an information property of the CTR Group. Unauthorized access, editing, distribution, and copying are strictly prohibited. Failure to comply may result in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 penalties under the Unfair Competition Prevention and </a:t>
            </a:r>
            <a:b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</a:b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Trade Secret Protection Act and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Arial" panose="020B0604020202020204" pitchFamily="34" charset="0"/>
              </a:rPr>
              <a:t> laws.</a:t>
            </a:r>
            <a:endParaRPr kumimoji="1" lang="ko-KR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1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7EE1D81-0043-C413-71B2-11A9F7266873}"/>
              </a:ext>
            </a:extLst>
          </p:cNvPr>
          <p:cNvCxnSpPr>
            <a:cxnSpLocks/>
          </p:cNvCxnSpPr>
          <p:nvPr/>
        </p:nvCxnSpPr>
        <p:spPr>
          <a:xfrm>
            <a:off x="4563374" y="5298533"/>
            <a:ext cx="0" cy="78436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87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357BD56-3F5C-F290-3794-F702E154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3" y="300705"/>
            <a:ext cx="8505276" cy="360362"/>
          </a:xfrm>
        </p:spPr>
        <p:txBody>
          <a:bodyPr/>
          <a:lstStyle/>
          <a:p>
            <a:r>
              <a:rPr lang="en-US" altLang="ko-KR"/>
              <a:t>1. CTR </a:t>
            </a:r>
            <a:r>
              <a:rPr lang="ko-KR" altLang="en-US"/>
              <a:t>고객 경조사비 지급 </a:t>
            </a:r>
            <a:r>
              <a:rPr lang="en-US" altLang="ko-KR"/>
              <a:t>PROCESS </a:t>
            </a:r>
            <a:r>
              <a:rPr lang="ko-KR" altLang="en-US"/>
              <a:t>주관부서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867A058-8B82-6F2D-DF0A-F713A3D3B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30881"/>
              </p:ext>
            </p:extLst>
          </p:nvPr>
        </p:nvGraphicFramePr>
        <p:xfrm>
          <a:off x="1012055" y="1038687"/>
          <a:ext cx="10164932" cy="5202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322">
                  <a:extLst>
                    <a:ext uri="{9D8B030D-6E8A-4147-A177-3AD203B41FA5}">
                      <a16:colId xmlns:a16="http://schemas.microsoft.com/office/drawing/2014/main" val="3701621186"/>
                    </a:ext>
                  </a:extLst>
                </a:gridCol>
                <a:gridCol w="3812959">
                  <a:extLst>
                    <a:ext uri="{9D8B030D-6E8A-4147-A177-3AD203B41FA5}">
                      <a16:colId xmlns:a16="http://schemas.microsoft.com/office/drawing/2014/main" val="4168992297"/>
                    </a:ext>
                  </a:extLst>
                </a:gridCol>
                <a:gridCol w="3617651">
                  <a:extLst>
                    <a:ext uri="{9D8B030D-6E8A-4147-A177-3AD203B41FA5}">
                      <a16:colId xmlns:a16="http://schemas.microsoft.com/office/drawing/2014/main" val="3419730107"/>
                    </a:ext>
                  </a:extLst>
                </a:gridCol>
              </a:tblGrid>
              <a:tr h="2966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Noto Sans CJK KR Bold" panose="020B0800000000000000" pitchFamily="34" charset="-127"/>
                          <a:ea typeface="Noto Sans CJK KR Bold"/>
                        </a:rPr>
                        <a:t>경조사비 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Noto Sans CJK KR Bold" panose="020B0800000000000000" pitchFamily="34" charset="-127"/>
                          <a:ea typeface="Noto Sans CJK KR Bold"/>
                        </a:rPr>
                        <a:t>주관부서</a:t>
                      </a:r>
                      <a:r>
                        <a:rPr lang="en-US" altLang="ko-KR" sz="1200">
                          <a:latin typeface="Noto Sans CJK KR Bold" panose="020B0800000000000000" pitchFamily="34" charset="-127"/>
                          <a:ea typeface="Noto Sans CJK KR Bold"/>
                        </a:rPr>
                        <a:t>(AS-IS)</a:t>
                      </a:r>
                      <a:endParaRPr lang="ko-KR" altLang="en-US" sz="1200">
                        <a:latin typeface="Noto Sans CJK KR Bold" panose="020B0800000000000000" pitchFamily="34" charset="-127"/>
                        <a:ea typeface="Noto Sans CJK KR Bold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Noto Sans CJK KR Bold" panose="020B0800000000000000" pitchFamily="34" charset="-127"/>
                          <a:ea typeface="Noto Sans CJK KR Bold"/>
                        </a:rPr>
                        <a:t>주관부서</a:t>
                      </a:r>
                      <a:r>
                        <a:rPr lang="en-US" altLang="ko-KR" sz="1200">
                          <a:latin typeface="Noto Sans CJK KR Bold" panose="020B0800000000000000" pitchFamily="34" charset="-127"/>
                          <a:ea typeface="Noto Sans CJK KR Bold"/>
                        </a:rPr>
                        <a:t>(TO-BE)</a:t>
                      </a:r>
                      <a:endParaRPr lang="ko-KR" altLang="en-US" sz="1200">
                        <a:latin typeface="Noto Sans CJK KR Bold" panose="020B0800000000000000" pitchFamily="34" charset="-127"/>
                        <a:ea typeface="Noto Sans CJK KR Bold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0464"/>
                  </a:ext>
                </a:extLst>
              </a:tr>
              <a:tr h="952873"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고객사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고객본부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, CTR AM 영업팀, CTR M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고객관리팀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  <a:p>
                      <a:pPr lvl="0"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(CTR E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의 경우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 고객본부로 지급문의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)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좌동</a:t>
                      </a:r>
                      <a:endParaRPr lang="ko-KR" altLang="en-US" sz="1200" b="0" err="1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532064"/>
                  </a:ext>
                </a:extLst>
              </a:tr>
              <a:tr h="952873"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200" b="1" dirty="0">
                          <a:latin typeface="Noto Sans CJK KR Bold" panose="020B0800000000000000" pitchFamily="34" charset="-127"/>
                          <a:ea typeface="Noto Sans CJK KR Bold"/>
                        </a:rPr>
                        <a:t>협력사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CTR </a:t>
                      </a:r>
                      <a:r>
                        <a:rPr lang="ko-KR" altLang="en-US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구매본부 전사 통합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CTR </a:t>
                      </a:r>
                      <a:r>
                        <a:rPr lang="ko-KR" altLang="en-US" sz="12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각 사업부별 구매본부 별도</a:t>
                      </a:r>
                      <a:r>
                        <a:rPr lang="ko-KR" altLang="en-US" sz="1200" b="0">
                          <a:latin typeface="Noto Sans CJK KR Regular" panose="020B0500000000000000" pitchFamily="34" charset="-127"/>
                          <a:ea typeface="Noto Sans CJK KR Regular"/>
                        </a:rPr>
                        <a:t>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128873"/>
                  </a:ext>
                </a:extLst>
              </a:tr>
              <a:tr h="952873"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금융기관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재무본부</a:t>
                      </a:r>
                      <a:endParaRPr lang="ko-KR" altLang="en-US" sz="1200" b="0" err="1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좌동</a:t>
                      </a:r>
                      <a:endParaRPr lang="en-US" altLang="ko-KR" sz="1200" b="0" err="1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021113"/>
                  </a:ext>
                </a:extLst>
              </a:tr>
              <a:tr h="1094191"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공장장협의회</a:t>
                      </a:r>
                      <a:r>
                        <a:rPr lang="en-US" altLang="ko-KR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, </a:t>
                      </a: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창무회</a:t>
                      </a:r>
                      <a:r>
                        <a:rPr lang="en-US" altLang="ko-KR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, </a:t>
                      </a: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창노사</a:t>
                      </a:r>
                      <a:r>
                        <a:rPr lang="en-US" altLang="ko-KR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, </a:t>
                      </a: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경총협회</a:t>
                      </a:r>
                      <a:r>
                        <a:rPr lang="en-US" altLang="ko-KR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,</a:t>
                      </a:r>
                    </a:p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고용노동부등 노무관련 협회 및 관공서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상생협력팀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좌동</a:t>
                      </a:r>
                      <a:endParaRPr lang="ko-KR" altLang="en-US" sz="1200" b="0" err="1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367246"/>
                  </a:ext>
                </a:extLst>
              </a:tr>
              <a:tr h="952873"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1">
                          <a:latin typeface="Noto Sans CJK KR Bold" panose="020B0800000000000000" pitchFamily="34" charset="-127"/>
                          <a:ea typeface="Noto Sans CJK KR Bold"/>
                        </a:rPr>
                        <a:t>그외 관공서 등 기타업체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 OEM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경영기획팀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, CTR AM 경영기획팀, </a:t>
                      </a:r>
                    </a:p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 M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경영관리팀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, CTR E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경영관리팀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 OEM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경영기획팀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, CTR AM 경영기획팀, </a:t>
                      </a:r>
                    </a:p>
                    <a:p>
                      <a:pPr marL="228600" lvl="0" indent="-22860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 M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경영관리팀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, CTR E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경영관리팀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, 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CTR H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/>
                        </a:rPr>
                        <a:t>경영관리팀</a:t>
                      </a:r>
                      <a:endParaRPr lang="en-US" altLang="ko-KR" sz="1100" b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29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71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867A058-8B82-6F2D-DF0A-F713A3D3B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67715"/>
              </p:ext>
            </p:extLst>
          </p:nvPr>
        </p:nvGraphicFramePr>
        <p:xfrm>
          <a:off x="808854" y="929752"/>
          <a:ext cx="10421398" cy="5421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1398">
                  <a:extLst>
                    <a:ext uri="{9D8B030D-6E8A-4147-A177-3AD203B41FA5}">
                      <a16:colId xmlns:a16="http://schemas.microsoft.com/office/drawing/2014/main" val="4168992297"/>
                    </a:ext>
                  </a:extLst>
                </a:gridCol>
              </a:tblGrid>
              <a:tr h="32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경조사비 지급 </a:t>
                      </a:r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PROCESS</a:t>
                      </a:r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0464"/>
                  </a:ext>
                </a:extLst>
              </a:tr>
              <a:tr h="2442644">
                <a:tc>
                  <a:txBody>
                    <a:bodyPr/>
                    <a:lstStyle/>
                    <a:p>
                      <a:pPr lvl="0" algn="l" latinLnBrk="1">
                        <a:lnSpc>
                          <a:spcPct val="150000"/>
                        </a:lnSpc>
                      </a:pPr>
                      <a:endParaRPr lang="ko-KR" altLang="en-US" sz="900" b="0" dirty="0">
                        <a:solidFill>
                          <a:srgbClr val="E2211C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532064"/>
                  </a:ext>
                </a:extLst>
              </a:tr>
              <a:tr h="2648976"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고객에게 경조사 통보를 받은 부문에서 관련근거를 포함하여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고객관리본부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CTR M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고객관리팀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</a:t>
                      </a:r>
                      <a:r>
                        <a:rPr lang="en-US" altLang="ko-KR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AM </a:t>
                      </a:r>
                      <a:r>
                        <a:rPr lang="ko-KR" altLang="en-US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영업팀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으</a:t>
                      </a:r>
                      <a:r>
                        <a:rPr lang="ko-KR" altLang="en-US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로 의뢰</a:t>
                      </a:r>
                      <a:r>
                        <a:rPr lang="en-US" altLang="ko-KR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    (CTR-E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의 경우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고객관리팀으로 의뢰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청</a:t>
                      </a:r>
                      <a:r>
                        <a:rPr lang="ko-KR" altLang="en-US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첩장</a:t>
                      </a:r>
                      <a:r>
                        <a:rPr lang="en-US" altLang="ko-KR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경조사 고객메일</a:t>
                      </a:r>
                      <a:r>
                        <a:rPr lang="en-US" altLang="ko-KR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문자 등</a:t>
                      </a:r>
                      <a:r>
                        <a:rPr lang="en-US" altLang="ko-KR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endParaRPr lang="en-US" altLang="ko-KR" sz="1100" b="1" dirty="0">
                        <a:solidFill>
                          <a:srgbClr val="FF0000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2.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고객관리본부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↔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M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고객관리팀 ↔ </a:t>
                      </a:r>
                      <a:r>
                        <a:rPr lang="en-US" altLang="ko-KR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AM </a:t>
                      </a:r>
                      <a:r>
                        <a:rPr lang="ko-KR" altLang="en-US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영업팀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중복 지급 여부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Cross Check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3. CTR </a:t>
                      </a:r>
                      <a:r>
                        <a:rPr lang="ko-KR" altLang="en-US" sz="1100" b="1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고객관리본부 </a:t>
                      </a:r>
                      <a:r>
                        <a:rPr lang="en-US" altLang="ko-KR" sz="1100" b="1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</a:t>
                      </a:r>
                      <a:r>
                        <a:rPr lang="en-US" altLang="ko-KR" sz="1100" b="1" baseline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M</a:t>
                      </a:r>
                      <a:r>
                        <a:rPr lang="en-US" altLang="ko-KR" sz="1100" b="1" baseline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 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</a:t>
                      </a:r>
                      <a:r>
                        <a:rPr lang="en-US" altLang="ko-KR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AM </a:t>
                      </a:r>
                      <a:r>
                        <a:rPr lang="ko-KR" altLang="en-US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결재 후 관련 경조사비 신청 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&amp;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수령</a:t>
                      </a:r>
                      <a:endParaRPr lang="en-US" altLang="ko-KR" sz="1100" b="1" baseline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4. CTR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고객관리본부 </a:t>
                      </a:r>
                      <a:r>
                        <a:rPr lang="en-US" altLang="ko-KR" sz="1100" b="1" baseline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M</a:t>
                      </a:r>
                      <a:r>
                        <a:rPr lang="en-US" altLang="ko-KR" sz="1100" b="1" baseline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고객관리팀 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</a:t>
                      </a:r>
                      <a:r>
                        <a:rPr lang="en-US" altLang="ko-KR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AM </a:t>
                      </a:r>
                      <a:r>
                        <a:rPr lang="ko-KR" altLang="en-US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영업팀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에서 신청 부서에 경조사비 전달</a:t>
                      </a:r>
                      <a:endParaRPr lang="en-US" altLang="ko-KR" sz="1100" b="1" baseline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5.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경조사 대응은 각 부문별로 대응 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기존과 동일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endParaRPr lang="en-US" altLang="ko-KR" sz="1100" b="1" baseline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※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긴급상황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(</a:t>
                      </a:r>
                      <a:r>
                        <a:rPr lang="ko-KR" altLang="en-US" sz="1100" b="1" baseline="0" dirty="0" err="1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휴무등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)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의 경우 유선으로 고객관리본부 </a:t>
                      </a:r>
                      <a:r>
                        <a:rPr lang="en-US" altLang="ko-KR" sz="1100" b="1" baseline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or 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M</a:t>
                      </a:r>
                      <a:r>
                        <a:rPr lang="en-US" altLang="ko-KR" sz="1100" b="1" baseline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고객관리팀 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or </a:t>
                      </a:r>
                      <a:r>
                        <a:rPr lang="en-US" altLang="ko-KR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AM </a:t>
                      </a:r>
                      <a:r>
                        <a:rPr lang="ko-KR" altLang="en-US" sz="1100" b="1" dirty="0">
                          <a:solidFill>
                            <a:srgbClr val="E2211C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영업팀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과 공유 후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선조치하고 각 본부</a:t>
                      </a:r>
                      <a:r>
                        <a:rPr lang="en-US" altLang="ko-KR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/</a:t>
                      </a:r>
                      <a:r>
                        <a:rPr lang="ko-KR" altLang="en-US" sz="1100" b="1" baseline="0" dirty="0"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sym typeface="Wingdings" pitchFamily="2" charset="2"/>
                        </a:rPr>
                        <a:t>팀에서 경조사비 후 정산 진행</a:t>
                      </a:r>
                      <a:endParaRPr lang="en-US" altLang="ko-KR" sz="1100" b="1" baseline="0" dirty="0"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1" u="sng" dirty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 </a:t>
                      </a:r>
                      <a:r>
                        <a:rPr lang="ko-KR" altLang="en-US" sz="1100" b="1" u="sng" dirty="0" err="1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센트랄그룹</a:t>
                      </a:r>
                      <a:r>
                        <a:rPr lang="ko-KR" altLang="en-US" sz="1100" b="1" u="sng" dirty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내 동일한 고객 경조 건에 중복 지급은 어떤 경우에도 금한다</a:t>
                      </a:r>
                      <a:r>
                        <a:rPr lang="en-US" altLang="ko-KR" sz="1100" b="1" u="sng" dirty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128873"/>
                  </a:ext>
                </a:extLst>
              </a:tr>
            </a:tbl>
          </a:graphicData>
        </a:graphic>
      </p:graphicFrame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0A64F7A-620F-1628-6DA6-8DFEEB03D99D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6917615" y="2407192"/>
            <a:ext cx="655037" cy="3906"/>
          </a:xfrm>
          <a:prstGeom prst="straightConnector1">
            <a:avLst/>
          </a:prstGeom>
          <a:ln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B357BD56-3F5C-F290-3794-F702E154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3" y="300705"/>
            <a:ext cx="8505276" cy="360362"/>
          </a:xfrm>
        </p:spPr>
        <p:txBody>
          <a:bodyPr/>
          <a:lstStyle/>
          <a:p>
            <a:r>
              <a:rPr lang="en-US" altLang="ko-KR"/>
              <a:t>2-1. CTR </a:t>
            </a:r>
            <a:r>
              <a:rPr lang="ko-KR" altLang="en-US"/>
              <a:t>고객 경조사비 지급 </a:t>
            </a:r>
            <a:r>
              <a:rPr lang="en-US" altLang="ko-KR"/>
              <a:t>PROCESS </a:t>
            </a:r>
            <a:r>
              <a:rPr lang="ko-KR" altLang="en-US"/>
              <a:t>및 기준</a:t>
            </a:r>
          </a:p>
        </p:txBody>
      </p:sp>
      <p:sp>
        <p:nvSpPr>
          <p:cNvPr id="2" name="모서리가 둥근 직사각형 47">
            <a:extLst>
              <a:ext uri="{FF2B5EF4-FFF2-40B4-BE49-F238E27FC236}">
                <a16:creationId xmlns:a16="http://schemas.microsoft.com/office/drawing/2014/main" id="{AF05BDEB-3EB3-2360-EA07-289A5D53A826}"/>
              </a:ext>
            </a:extLst>
          </p:cNvPr>
          <p:cNvSpPr/>
          <p:nvPr/>
        </p:nvSpPr>
        <p:spPr>
          <a:xfrm>
            <a:off x="2392214" y="1366425"/>
            <a:ext cx="761624" cy="22496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고객</a:t>
            </a:r>
          </a:p>
        </p:txBody>
      </p:sp>
      <p:sp>
        <p:nvSpPr>
          <p:cNvPr id="3" name="모서리가 둥근 직사각형 48">
            <a:extLst>
              <a:ext uri="{FF2B5EF4-FFF2-40B4-BE49-F238E27FC236}">
                <a16:creationId xmlns:a16="http://schemas.microsoft.com/office/drawing/2014/main" id="{3E34A503-B6BE-9140-0A37-596C36A3CA7C}"/>
              </a:ext>
            </a:extLst>
          </p:cNvPr>
          <p:cNvSpPr/>
          <p:nvPr/>
        </p:nvSpPr>
        <p:spPr>
          <a:xfrm>
            <a:off x="3857100" y="1366425"/>
            <a:ext cx="1260000" cy="324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고객관리본부</a:t>
            </a:r>
          </a:p>
        </p:txBody>
      </p:sp>
      <p:sp>
        <p:nvSpPr>
          <p:cNvPr id="10" name="모서리가 둥근 직사각형 57">
            <a:extLst>
              <a:ext uri="{FF2B5EF4-FFF2-40B4-BE49-F238E27FC236}">
                <a16:creationId xmlns:a16="http://schemas.microsoft.com/office/drawing/2014/main" id="{E955F7E1-2EAF-46B1-0D4C-35C63714C0B2}"/>
              </a:ext>
            </a:extLst>
          </p:cNvPr>
          <p:cNvSpPr/>
          <p:nvPr/>
        </p:nvSpPr>
        <p:spPr>
          <a:xfrm>
            <a:off x="8474498" y="1771390"/>
            <a:ext cx="1260000" cy="47598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</a:t>
            </a: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재경</a:t>
            </a:r>
          </a:p>
        </p:txBody>
      </p:sp>
      <p:sp>
        <p:nvSpPr>
          <p:cNvPr id="12" name="모서리가 둥근 직사각형 64">
            <a:extLst>
              <a:ext uri="{FF2B5EF4-FFF2-40B4-BE49-F238E27FC236}">
                <a16:creationId xmlns:a16="http://schemas.microsoft.com/office/drawing/2014/main" id="{C9AFF591-9BF1-17AF-DFC0-10A8FEB290F0}"/>
              </a:ext>
            </a:extLst>
          </p:cNvPr>
          <p:cNvSpPr/>
          <p:nvPr/>
        </p:nvSpPr>
        <p:spPr>
          <a:xfrm>
            <a:off x="5662280" y="1607058"/>
            <a:ext cx="1260000" cy="4832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</a:t>
            </a: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고객관리본부</a:t>
            </a: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C7DC5A5F-F802-FF4C-6BE8-522E218DE00A}"/>
              </a:ext>
            </a:extLst>
          </p:cNvPr>
          <p:cNvSpPr/>
          <p:nvPr/>
        </p:nvSpPr>
        <p:spPr>
          <a:xfrm>
            <a:off x="5662280" y="2774562"/>
            <a:ext cx="1260000" cy="4832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 M</a:t>
            </a: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고객관리팀</a:t>
            </a:r>
          </a:p>
        </p:txBody>
      </p:sp>
      <p:sp>
        <p:nvSpPr>
          <p:cNvPr id="19" name="모서리가 둥근 직사각형 120">
            <a:extLst>
              <a:ext uri="{FF2B5EF4-FFF2-40B4-BE49-F238E27FC236}">
                <a16:creationId xmlns:a16="http://schemas.microsoft.com/office/drawing/2014/main" id="{FCDF24AD-02FF-7F9A-0810-27445FC4FA8D}"/>
              </a:ext>
            </a:extLst>
          </p:cNvPr>
          <p:cNvSpPr/>
          <p:nvPr/>
        </p:nvSpPr>
        <p:spPr>
          <a:xfrm>
            <a:off x="8476225" y="2621478"/>
            <a:ext cx="1260000" cy="47598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 M</a:t>
            </a: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재경</a:t>
            </a:r>
          </a:p>
        </p:txBody>
      </p:sp>
      <p:sp>
        <p:nvSpPr>
          <p:cNvPr id="51" name="모서리가 둥근 직사각형 48">
            <a:extLst>
              <a:ext uri="{FF2B5EF4-FFF2-40B4-BE49-F238E27FC236}">
                <a16:creationId xmlns:a16="http://schemas.microsoft.com/office/drawing/2014/main" id="{C8DDF11E-14E3-1F25-55CB-425C13A9B261}"/>
              </a:ext>
            </a:extLst>
          </p:cNvPr>
          <p:cNvSpPr/>
          <p:nvPr/>
        </p:nvSpPr>
        <p:spPr>
          <a:xfrm>
            <a:off x="3859976" y="1741077"/>
            <a:ext cx="1260000" cy="324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ECO </a:t>
            </a:r>
            <a:r>
              <a:rPr lang="ko-KR" altLang="en-US" sz="900" b="1" err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샤시부문</a:t>
            </a:r>
            <a:endParaRPr lang="ko-KR" altLang="en-US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52" name="모서리가 둥근 직사각형 48">
            <a:extLst>
              <a:ext uri="{FF2B5EF4-FFF2-40B4-BE49-F238E27FC236}">
                <a16:creationId xmlns:a16="http://schemas.microsoft.com/office/drawing/2014/main" id="{849B653F-EFD9-AFA3-EF17-9B0732B30605}"/>
              </a:ext>
            </a:extLst>
          </p:cNvPr>
          <p:cNvSpPr/>
          <p:nvPr/>
        </p:nvSpPr>
        <p:spPr>
          <a:xfrm>
            <a:off x="3857100" y="2122028"/>
            <a:ext cx="1260000" cy="324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연구개발본부</a:t>
            </a:r>
          </a:p>
        </p:txBody>
      </p:sp>
      <p:sp>
        <p:nvSpPr>
          <p:cNvPr id="53" name="모서리가 둥근 직사각형 48">
            <a:extLst>
              <a:ext uri="{FF2B5EF4-FFF2-40B4-BE49-F238E27FC236}">
                <a16:creationId xmlns:a16="http://schemas.microsoft.com/office/drawing/2014/main" id="{7C9A5EC9-A450-8677-D254-46746B2D4B70}"/>
              </a:ext>
            </a:extLst>
          </p:cNvPr>
          <p:cNvSpPr/>
          <p:nvPr/>
        </p:nvSpPr>
        <p:spPr>
          <a:xfrm>
            <a:off x="3862625" y="2512359"/>
            <a:ext cx="1260000" cy="324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품질본부</a:t>
            </a:r>
          </a:p>
        </p:txBody>
      </p:sp>
      <p:sp>
        <p:nvSpPr>
          <p:cNvPr id="54" name="모서리가 둥근 직사각형 48">
            <a:extLst>
              <a:ext uri="{FF2B5EF4-FFF2-40B4-BE49-F238E27FC236}">
                <a16:creationId xmlns:a16="http://schemas.microsoft.com/office/drawing/2014/main" id="{B2DE33AB-4529-D058-3467-16380259CEAE}"/>
              </a:ext>
            </a:extLst>
          </p:cNvPr>
          <p:cNvSpPr/>
          <p:nvPr/>
        </p:nvSpPr>
        <p:spPr>
          <a:xfrm>
            <a:off x="3870480" y="2895246"/>
            <a:ext cx="1260000" cy="324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계열사</a:t>
            </a:r>
          </a:p>
        </p:txBody>
      </p:sp>
      <p:sp>
        <p:nvSpPr>
          <p:cNvPr id="55" name="모서리가 둥근 직사각형 48">
            <a:extLst>
              <a:ext uri="{FF2B5EF4-FFF2-40B4-BE49-F238E27FC236}">
                <a16:creationId xmlns:a16="http://schemas.microsoft.com/office/drawing/2014/main" id="{6AC6DADE-514D-B291-00AF-E6DBDC5E925D}"/>
              </a:ext>
            </a:extLst>
          </p:cNvPr>
          <p:cNvSpPr/>
          <p:nvPr/>
        </p:nvSpPr>
        <p:spPr>
          <a:xfrm>
            <a:off x="3857100" y="3292053"/>
            <a:ext cx="1260000" cy="324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관련부문</a:t>
            </a:r>
          </a:p>
        </p:txBody>
      </p:sp>
      <p:sp>
        <p:nvSpPr>
          <p:cNvPr id="69" name="모서리가 둥근 직사각형 64">
            <a:extLst>
              <a:ext uri="{FF2B5EF4-FFF2-40B4-BE49-F238E27FC236}">
                <a16:creationId xmlns:a16="http://schemas.microsoft.com/office/drawing/2014/main" id="{9E951B56-1D3E-FD57-A56F-6F49C084E547}"/>
              </a:ext>
            </a:extLst>
          </p:cNvPr>
          <p:cNvSpPr/>
          <p:nvPr/>
        </p:nvSpPr>
        <p:spPr>
          <a:xfrm>
            <a:off x="5657615" y="2169471"/>
            <a:ext cx="1260000" cy="48325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</a:t>
            </a:r>
          </a:p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AM </a:t>
            </a:r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영업팀</a:t>
            </a:r>
          </a:p>
        </p:txBody>
      </p:sp>
      <p:sp>
        <p:nvSpPr>
          <p:cNvPr id="74" name="화살표: 왼쪽/오른쪽 73">
            <a:extLst>
              <a:ext uri="{FF2B5EF4-FFF2-40B4-BE49-F238E27FC236}">
                <a16:creationId xmlns:a16="http://schemas.microsoft.com/office/drawing/2014/main" id="{BC5C304B-5049-B296-7637-15098FC7B698}"/>
              </a:ext>
            </a:extLst>
          </p:cNvPr>
          <p:cNvSpPr/>
          <p:nvPr/>
        </p:nvSpPr>
        <p:spPr>
          <a:xfrm>
            <a:off x="3337372" y="2407192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5" name="화살표: 왼쪽/오른쪽 74">
            <a:extLst>
              <a:ext uri="{FF2B5EF4-FFF2-40B4-BE49-F238E27FC236}">
                <a16:creationId xmlns:a16="http://schemas.microsoft.com/office/drawing/2014/main" id="{0A244B17-8093-3F81-D906-E63392FCAE85}"/>
              </a:ext>
            </a:extLst>
          </p:cNvPr>
          <p:cNvSpPr/>
          <p:nvPr/>
        </p:nvSpPr>
        <p:spPr>
          <a:xfrm>
            <a:off x="5247550" y="2355405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29D67F61-AC8A-4BF9-CACD-739A87A55F92}"/>
              </a:ext>
            </a:extLst>
          </p:cNvPr>
          <p:cNvCxnSpPr>
            <a:cxnSpLocks/>
            <a:stCxn id="12" idx="3"/>
            <a:endCxn id="13" idx="3"/>
          </p:cNvCxnSpPr>
          <p:nvPr/>
        </p:nvCxnSpPr>
        <p:spPr>
          <a:xfrm>
            <a:off x="6922280" y="1848685"/>
            <a:ext cx="12700" cy="1167504"/>
          </a:xfrm>
          <a:prstGeom prst="curvedConnector3">
            <a:avLst>
              <a:gd name="adj1" fmla="val 4596118"/>
            </a:avLst>
          </a:prstGeom>
          <a:ln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F7F35C3E-8743-5B7E-A1BF-8CA73B092B20}"/>
              </a:ext>
            </a:extLst>
          </p:cNvPr>
          <p:cNvSpPr/>
          <p:nvPr/>
        </p:nvSpPr>
        <p:spPr>
          <a:xfrm>
            <a:off x="7399572" y="1921354"/>
            <a:ext cx="847783" cy="9963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중복</a:t>
            </a:r>
            <a:endParaRPr lang="en-US" altLang="ko-KR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지급</a:t>
            </a:r>
            <a:endParaRPr lang="en-US" altLang="ko-KR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Cross</a:t>
            </a:r>
          </a:p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Check</a:t>
            </a:r>
            <a:endParaRPr lang="ko-KR" altLang="en-US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725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867A058-8B82-6F2D-DF0A-F713A3D3B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86200"/>
              </p:ext>
            </p:extLst>
          </p:nvPr>
        </p:nvGraphicFramePr>
        <p:xfrm>
          <a:off x="698869" y="982115"/>
          <a:ext cx="10566890" cy="3285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580">
                  <a:extLst>
                    <a:ext uri="{9D8B030D-6E8A-4147-A177-3AD203B41FA5}">
                      <a16:colId xmlns:a16="http://schemas.microsoft.com/office/drawing/2014/main" val="3701621186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4168992297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2185015189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3446716229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3910075688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969896931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402218968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3373258068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355263332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3828162071"/>
                    </a:ext>
                  </a:extLst>
                </a:gridCol>
                <a:gridCol w="977431">
                  <a:extLst>
                    <a:ext uri="{9D8B030D-6E8A-4147-A177-3AD203B41FA5}">
                      <a16:colId xmlns:a16="http://schemas.microsoft.com/office/drawing/2014/main" val="79011067"/>
                    </a:ext>
                  </a:extLst>
                </a:gridCol>
              </a:tblGrid>
              <a:tr h="25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부모상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빙부</a:t>
                      </a:r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/</a:t>
                      </a:r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빙모상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자녀결혼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조부모상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본인결혼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0464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9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직접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간접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직접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간접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직접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간접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직접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간접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직접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간접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532064"/>
                  </a:ext>
                </a:extLst>
              </a:tr>
              <a:tr h="68684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본부장 이상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30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 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 中 택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 中 택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30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 中 택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</a:t>
                      </a: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회장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2232"/>
                  </a:ext>
                </a:extLst>
              </a:tr>
              <a:tr h="41404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임원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58838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부장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  <a:p>
                      <a:pPr lvl="0"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팀장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lang="ko-KR" altLang="en-US" sz="9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513462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팀원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※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20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90014"/>
                  </a:ext>
                </a:extLst>
              </a:tr>
              <a:tr h="68684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0">
                  <a:txBody>
                    <a:bodyPr/>
                    <a:lstStyle/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▶ 조화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본부장 이상은 회장 명의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(15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그 이하는 대표이사 또는 본부장 명의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로 장례식장에 배달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▶ 고객 행사지원비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체육대회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야유회 등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는 관련본부와 영업본부가 협의하여 결정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▶ 기타 경조사는 조부모상 기준을 적용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603822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B357BD56-3F5C-F290-3794-F702E154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3" y="300705"/>
            <a:ext cx="8505276" cy="360362"/>
          </a:xfrm>
        </p:spPr>
        <p:txBody>
          <a:bodyPr/>
          <a:lstStyle/>
          <a:p>
            <a:r>
              <a:rPr lang="en-US" altLang="ko-KR"/>
              <a:t>2-2. CTR </a:t>
            </a:r>
            <a:r>
              <a:rPr lang="ko-KR" altLang="en-US"/>
              <a:t>고객 경조사비 지급 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83A99-E461-1FCE-4368-FC4D7371C488}"/>
              </a:ext>
            </a:extLst>
          </p:cNvPr>
          <p:cNvSpPr txBox="1"/>
          <p:nvPr/>
        </p:nvSpPr>
        <p:spPr>
          <a:xfrm>
            <a:off x="698869" y="4418525"/>
            <a:ext cx="10701259" cy="127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◆ 직접관련 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sz="1050" b="1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센트랄그룹과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직접 업무적으로 연관을 가지는 담당자와 직계 상급자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◆ 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간접관련 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sz="1050" b="1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센트랄그룹과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직접 업무적으로는 관련이 많지 않은 고객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 (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전직 구매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품질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연구소 등에 근무한 자로서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간접적 관련이 있는 인원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 -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직접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간접의 구분은 관련부문과 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CTR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고객관리본부 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(or </a:t>
            </a:r>
            <a:r>
              <a:rPr lang="en-US" altLang="ko-KR" sz="1050" b="1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CTR M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고객관리팀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or CTR AM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영업팀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과 협의하여 탄력적으로 구분할 수 있다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   (ex,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지금은 간접부문에 속하지만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직접부문과 같이 많은 영향력을 미치는 인원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-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경조사비 지급대상 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직접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간접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은 </a:t>
            </a:r>
            <a:r>
              <a:rPr lang="ko-KR" altLang="en-US" sz="1050" b="1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센트랄그룹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고객과 </a:t>
            </a:r>
            <a:r>
              <a:rPr lang="ko-KR" altLang="en-US" sz="1050" b="1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센트랄그룹과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관련된 각종협회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연구소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학회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,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교수 등을 포함한다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.</a:t>
            </a:r>
            <a:endParaRPr lang="ko-KR" altLang="en-US" sz="1050" b="1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1B44D-E406-330B-31AF-7128A317B324}"/>
              </a:ext>
            </a:extLst>
          </p:cNvPr>
          <p:cNvSpPr txBox="1"/>
          <p:nvPr/>
        </p:nvSpPr>
        <p:spPr>
          <a:xfrm>
            <a:off x="698869" y="5733841"/>
            <a:ext cx="10701259" cy="793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◆ 등급기준</a:t>
            </a:r>
            <a:endParaRPr lang="en-US" altLang="ko-KR" sz="105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대상고객 수준에 따라 고객관리본부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(or </a:t>
            </a:r>
            <a:r>
              <a:rPr lang="en-US" altLang="ko-KR" sz="1050" b="1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CTR M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고객관리팀 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or CTR AM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영업팀</a:t>
            </a: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 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와 협의하여 </a:t>
            </a:r>
            <a:endParaRPr lang="en-US" altLang="ko-KR" sz="1050" b="1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    +, - 1</a:t>
            </a:r>
            <a:r>
              <a:rPr lang="ko-KR" altLang="en-US" sz="1050" b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등급 조정 가능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6BBF364-D96F-36C9-44B4-0606CDB01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52124"/>
              </p:ext>
            </p:extLst>
          </p:nvPr>
        </p:nvGraphicFramePr>
        <p:xfrm>
          <a:off x="6987383" y="5919771"/>
          <a:ext cx="4278376" cy="644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594">
                  <a:extLst>
                    <a:ext uri="{9D8B030D-6E8A-4147-A177-3AD203B41FA5}">
                      <a16:colId xmlns:a16="http://schemas.microsoft.com/office/drawing/2014/main" val="4091067656"/>
                    </a:ext>
                  </a:extLst>
                </a:gridCol>
                <a:gridCol w="1069594">
                  <a:extLst>
                    <a:ext uri="{9D8B030D-6E8A-4147-A177-3AD203B41FA5}">
                      <a16:colId xmlns:a16="http://schemas.microsoft.com/office/drawing/2014/main" val="665358499"/>
                    </a:ext>
                  </a:extLst>
                </a:gridCol>
              </a:tblGrid>
              <a:tr h="2179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금 액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원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금 액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원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5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1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500,000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3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200,000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5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2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300,000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4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100,000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89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867A058-8B82-6F2D-DF0A-F713A3D3B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026626"/>
              </p:ext>
            </p:extLst>
          </p:nvPr>
        </p:nvGraphicFramePr>
        <p:xfrm>
          <a:off x="674702" y="947507"/>
          <a:ext cx="10724226" cy="5053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113">
                  <a:extLst>
                    <a:ext uri="{9D8B030D-6E8A-4147-A177-3AD203B41FA5}">
                      <a16:colId xmlns:a16="http://schemas.microsoft.com/office/drawing/2014/main" val="3701621186"/>
                    </a:ext>
                  </a:extLst>
                </a:gridCol>
                <a:gridCol w="5362113">
                  <a:extLst>
                    <a:ext uri="{9D8B030D-6E8A-4147-A177-3AD203B41FA5}">
                      <a16:colId xmlns:a16="http://schemas.microsoft.com/office/drawing/2014/main" val="246332354"/>
                    </a:ext>
                  </a:extLst>
                </a:gridCol>
              </a:tblGrid>
              <a:tr h="3128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As – is</a:t>
                      </a:r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To - Be</a:t>
                      </a:r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0464"/>
                  </a:ext>
                </a:extLst>
              </a:tr>
              <a:tr h="2104419">
                <a:tc>
                  <a:txBody>
                    <a:bodyPr/>
                    <a:lstStyle/>
                    <a:p>
                      <a:pPr lvl="0" algn="l" latinLnBrk="1"/>
                      <a:endParaRPr lang="ko-KR" altLang="en-US" sz="900" b="1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endParaRPr lang="ko-KR" altLang="en-US" sz="900" b="1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532064"/>
                  </a:ext>
                </a:extLst>
              </a:tr>
              <a:tr h="2636571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협력업체 경조사 통보를 받은 부문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(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CTR M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, ECO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전 팀 포함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에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서 관련근거를 포함하여 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      CTR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구매본부로 의뢰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(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청첩장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경조사 고객메일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문자 등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2.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구매본부장 결재 후 관련 경조사비를 재경에 신청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&amp;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지급 받음</a:t>
                      </a: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3.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구매본부에서 관련 부문에 경조사비 지급함</a:t>
                      </a: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4.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협력사 경조사 대응은 각 부문별로 대응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(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기존과 동일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※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긴급상황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휴무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등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의 경우 유선으로 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CTR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구매본부와 공유 후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관련부문에서 선조치하고 </a:t>
                      </a:r>
                      <a:endParaRPr lang="en-US" altLang="ko-KR" sz="1000" b="1" kern="1200" baseline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   CTR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구매본부에서 경조사비 후 정산 진행</a:t>
                      </a:r>
                      <a:endParaRPr lang="en-US" altLang="ko-KR" sz="1000" b="1" u="sng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.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협력업체 경조사 통보를 받은 부문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(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M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, 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E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전 팀 포함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에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서 관련근거를 포함하여</a:t>
                      </a:r>
                      <a:endParaRPr lang="en-US" altLang="ko-KR" sz="1000" b="1" kern="120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    </a:t>
                      </a:r>
                      <a:r>
                        <a:rPr lang="ko-KR" altLang="en-US" sz="1000" b="1" kern="120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각 사업부별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구매본부로 의뢰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(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청첩장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경조사 고객메일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문자 등</a:t>
                      </a: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2. </a:t>
                      </a:r>
                      <a:r>
                        <a:rPr lang="ko-KR" altLang="en-US" sz="1000" b="1" kern="120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각 사업부별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구매본부장 결재 후 관련 경조사비를 재경에 신청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&amp;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지급 받음</a:t>
                      </a: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3. </a:t>
                      </a:r>
                      <a:r>
                        <a:rPr lang="ko-KR" altLang="en-US" sz="1000" b="1" kern="120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각 사업부별</a:t>
                      </a:r>
                      <a:r>
                        <a:rPr lang="ko-KR" altLang="en-US" sz="1000" b="1" kern="120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구매본부에서 관련 부문에 경조사비 지급함</a:t>
                      </a: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4. 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협력사 경조사 대응은 각 부문별로 대응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 (</a:t>
                      </a:r>
                      <a:r>
                        <a:rPr lang="ko-KR" altLang="en-US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기존과 동일</a:t>
                      </a: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dk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5. </a:t>
                      </a:r>
                      <a:r>
                        <a:rPr lang="ko-KR" altLang="en-US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중복 지급 방지를 위해 사업부별 협력사 사전 구분 </a:t>
                      </a:r>
                      <a:r>
                        <a:rPr lang="en-US" altLang="ko-KR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구매기획팀 연 </a:t>
                      </a:r>
                      <a:r>
                        <a:rPr lang="en-US" altLang="ko-KR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</a:t>
                      </a:r>
                      <a:r>
                        <a:rPr lang="ko-KR" altLang="en-US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회 구분 후 공유</a:t>
                      </a:r>
                      <a:r>
                        <a:rPr lang="en-US" altLang="ko-KR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6. </a:t>
                      </a:r>
                      <a:r>
                        <a:rPr lang="ko-KR" altLang="en-US" sz="1000" b="1" kern="1200" baseline="0">
                          <a:solidFill>
                            <a:schemeClr val="accent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새로운 협력사 추가 시 업체등록을 주관한 사업부에서 경조사비 지급 및 비용처리 진행</a:t>
                      </a:r>
                      <a:endParaRPr lang="en-US" altLang="ko-KR" sz="1000" b="1" kern="1200" baseline="0">
                        <a:solidFill>
                          <a:schemeClr val="accent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endParaRPr lang="en-US" altLang="ko-KR" sz="1000" b="1" kern="1200" baseline="0">
                        <a:solidFill>
                          <a:schemeClr val="dk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※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긴급상황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휴무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등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의 경우 유선으로 </a:t>
                      </a:r>
                      <a:r>
                        <a:rPr lang="ko-KR" altLang="en-US" sz="1000" b="1" kern="1200" baseline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각 사업부별</a:t>
                      </a:r>
                      <a:r>
                        <a:rPr lang="en-US" altLang="ko-KR" sz="1000" b="1" kern="1200" baseline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구매본부와 공유 후</a:t>
                      </a: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관련부문에서 선조치</a:t>
                      </a:r>
                      <a:endParaRPr lang="en-US" altLang="ko-KR" sz="1000" b="1" kern="1200" baseline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  <a:sym typeface="Wingdings" pitchFamily="2" charset="2"/>
                      </a:endParaRPr>
                    </a:p>
                    <a:p>
                      <a:pPr marL="228600" indent="-22860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   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하고 </a:t>
                      </a:r>
                      <a:r>
                        <a:rPr lang="ko-KR" altLang="en-US" sz="1000" b="1" kern="1200" baseline="0">
                          <a:solidFill>
                            <a:srgbClr val="FF0000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각 사업부별</a:t>
                      </a:r>
                      <a:r>
                        <a:rPr lang="ko-KR" altLang="en-US" sz="1000" b="1" kern="1200" baseline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  <a:sym typeface="Wingdings" pitchFamily="2" charset="2"/>
                        </a:rPr>
                        <a:t> 구매본부에서 경조사비 후 정산 진행</a:t>
                      </a:r>
                      <a:endParaRPr lang="en-US" altLang="ko-KR" sz="1000" b="1" u="sng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12887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B357BD56-3F5C-F290-3794-F702E154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3" y="300705"/>
            <a:ext cx="8505276" cy="360362"/>
          </a:xfrm>
        </p:spPr>
        <p:txBody>
          <a:bodyPr/>
          <a:lstStyle/>
          <a:p>
            <a:r>
              <a:rPr lang="en-US" altLang="ko-KR"/>
              <a:t>3-1. CTR </a:t>
            </a:r>
            <a:r>
              <a:rPr lang="ko-KR" altLang="en-US"/>
              <a:t>협력업체 경조사비 지급 </a:t>
            </a:r>
            <a:r>
              <a:rPr lang="en-US" altLang="ko-KR"/>
              <a:t>PROCESS</a:t>
            </a:r>
            <a:endParaRPr lang="ko-KR" altLang="en-US"/>
          </a:p>
        </p:txBody>
      </p:sp>
      <p:sp>
        <p:nvSpPr>
          <p:cNvPr id="21" name="모서리가 둥근 직사각형 47">
            <a:extLst>
              <a:ext uri="{FF2B5EF4-FFF2-40B4-BE49-F238E27FC236}">
                <a16:creationId xmlns:a16="http://schemas.microsoft.com/office/drawing/2014/main" id="{B95E981D-1AA5-25F8-4571-A23B51BC8CC3}"/>
              </a:ext>
            </a:extLst>
          </p:cNvPr>
          <p:cNvSpPr/>
          <p:nvPr/>
        </p:nvSpPr>
        <p:spPr>
          <a:xfrm>
            <a:off x="1383240" y="1422279"/>
            <a:ext cx="584011" cy="16923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협력사</a:t>
            </a:r>
          </a:p>
        </p:txBody>
      </p:sp>
      <p:sp>
        <p:nvSpPr>
          <p:cNvPr id="22" name="모서리가 둥근 직사각형 48">
            <a:extLst>
              <a:ext uri="{FF2B5EF4-FFF2-40B4-BE49-F238E27FC236}">
                <a16:creationId xmlns:a16="http://schemas.microsoft.com/office/drawing/2014/main" id="{7E4021F0-6765-7273-6D31-D643D2188770}"/>
              </a:ext>
            </a:extLst>
          </p:cNvPr>
          <p:cNvSpPr/>
          <p:nvPr/>
        </p:nvSpPr>
        <p:spPr>
          <a:xfrm>
            <a:off x="2417568" y="1422279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구매본부</a:t>
            </a:r>
          </a:p>
        </p:txBody>
      </p:sp>
      <p:sp>
        <p:nvSpPr>
          <p:cNvPr id="24" name="모서리가 둥근 직사각형 50">
            <a:extLst>
              <a:ext uri="{FF2B5EF4-FFF2-40B4-BE49-F238E27FC236}">
                <a16:creationId xmlns:a16="http://schemas.microsoft.com/office/drawing/2014/main" id="{A0C4AE06-BB1A-6582-043D-93FC8E656D28}"/>
              </a:ext>
            </a:extLst>
          </p:cNvPr>
          <p:cNvSpPr/>
          <p:nvPr/>
        </p:nvSpPr>
        <p:spPr>
          <a:xfrm>
            <a:off x="2417568" y="1860910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품질</a:t>
            </a:r>
          </a:p>
        </p:txBody>
      </p:sp>
      <p:sp>
        <p:nvSpPr>
          <p:cNvPr id="25" name="모서리가 둥근 직사각형 51">
            <a:extLst>
              <a:ext uri="{FF2B5EF4-FFF2-40B4-BE49-F238E27FC236}">
                <a16:creationId xmlns:a16="http://schemas.microsoft.com/office/drawing/2014/main" id="{E404BFBD-5FAA-8151-522C-252D62694894}"/>
              </a:ext>
            </a:extLst>
          </p:cNvPr>
          <p:cNvSpPr/>
          <p:nvPr/>
        </p:nvSpPr>
        <p:spPr>
          <a:xfrm>
            <a:off x="2417568" y="2292958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계열사</a:t>
            </a:r>
          </a:p>
        </p:txBody>
      </p:sp>
      <p:sp>
        <p:nvSpPr>
          <p:cNvPr id="26" name="모서리가 둥근 직사각형 52">
            <a:extLst>
              <a:ext uri="{FF2B5EF4-FFF2-40B4-BE49-F238E27FC236}">
                <a16:creationId xmlns:a16="http://schemas.microsoft.com/office/drawing/2014/main" id="{F79EC5A6-E574-F726-E7E2-2A609A20ED86}"/>
              </a:ext>
            </a:extLst>
          </p:cNvPr>
          <p:cNvSpPr/>
          <p:nvPr/>
        </p:nvSpPr>
        <p:spPr>
          <a:xfrm>
            <a:off x="2417568" y="2750955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관련부문</a:t>
            </a:r>
          </a:p>
        </p:txBody>
      </p:sp>
      <p:sp>
        <p:nvSpPr>
          <p:cNvPr id="48" name="모서리가 둥근 직사각형 114">
            <a:extLst>
              <a:ext uri="{FF2B5EF4-FFF2-40B4-BE49-F238E27FC236}">
                <a16:creationId xmlns:a16="http://schemas.microsoft.com/office/drawing/2014/main" id="{22AE6774-C0A7-AFA4-7FAD-F5312FE01686}"/>
              </a:ext>
            </a:extLst>
          </p:cNvPr>
          <p:cNvSpPr/>
          <p:nvPr/>
        </p:nvSpPr>
        <p:spPr>
          <a:xfrm>
            <a:off x="3936517" y="1768210"/>
            <a:ext cx="619032" cy="9963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</a:t>
            </a: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구매</a:t>
            </a:r>
            <a:endParaRPr lang="en-US" altLang="ko-KR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본부</a:t>
            </a:r>
          </a:p>
        </p:txBody>
      </p:sp>
      <p:sp>
        <p:nvSpPr>
          <p:cNvPr id="70" name="화살표: 왼쪽/오른쪽 69">
            <a:extLst>
              <a:ext uri="{FF2B5EF4-FFF2-40B4-BE49-F238E27FC236}">
                <a16:creationId xmlns:a16="http://schemas.microsoft.com/office/drawing/2014/main" id="{5B63BDFB-E646-7EA0-2527-55B0A833D550}"/>
              </a:ext>
            </a:extLst>
          </p:cNvPr>
          <p:cNvSpPr/>
          <p:nvPr/>
        </p:nvSpPr>
        <p:spPr>
          <a:xfrm>
            <a:off x="2064909" y="2173413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71" name="화살표: 왼쪽/오른쪽 70">
            <a:extLst>
              <a:ext uri="{FF2B5EF4-FFF2-40B4-BE49-F238E27FC236}">
                <a16:creationId xmlns:a16="http://schemas.microsoft.com/office/drawing/2014/main" id="{24B53CDF-DAE4-EE0D-7B16-CFBB00724528}"/>
              </a:ext>
            </a:extLst>
          </p:cNvPr>
          <p:cNvSpPr/>
          <p:nvPr/>
        </p:nvSpPr>
        <p:spPr>
          <a:xfrm>
            <a:off x="3557835" y="2174896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5" name="모서리가 둥근 직사각형 114">
            <a:extLst>
              <a:ext uri="{FF2B5EF4-FFF2-40B4-BE49-F238E27FC236}">
                <a16:creationId xmlns:a16="http://schemas.microsoft.com/office/drawing/2014/main" id="{856ACCD5-EA91-E62E-DF0F-9F1CA84A8D07}"/>
              </a:ext>
            </a:extLst>
          </p:cNvPr>
          <p:cNvSpPr/>
          <p:nvPr/>
        </p:nvSpPr>
        <p:spPr>
          <a:xfrm>
            <a:off x="5012195" y="1769689"/>
            <a:ext cx="619032" cy="9963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CTR</a:t>
            </a: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재경</a:t>
            </a:r>
            <a:endParaRPr lang="en-US" altLang="ko-KR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8B4A1146-9511-F2CB-4A10-E79BFE539096}"/>
              </a:ext>
            </a:extLst>
          </p:cNvPr>
          <p:cNvSpPr/>
          <p:nvPr/>
        </p:nvSpPr>
        <p:spPr>
          <a:xfrm>
            <a:off x="4660150" y="2176376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" name="모서리가 둥근 직사각형 47">
            <a:extLst>
              <a:ext uri="{FF2B5EF4-FFF2-40B4-BE49-F238E27FC236}">
                <a16:creationId xmlns:a16="http://schemas.microsoft.com/office/drawing/2014/main" id="{1F88427C-FC8F-61A1-2E86-F1AA367CE25D}"/>
              </a:ext>
            </a:extLst>
          </p:cNvPr>
          <p:cNvSpPr/>
          <p:nvPr/>
        </p:nvSpPr>
        <p:spPr>
          <a:xfrm>
            <a:off x="6436127" y="1423759"/>
            <a:ext cx="584011" cy="16923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협력사</a:t>
            </a:r>
          </a:p>
        </p:txBody>
      </p:sp>
      <p:sp>
        <p:nvSpPr>
          <p:cNvPr id="3" name="모서리가 둥근 직사각형 48">
            <a:extLst>
              <a:ext uri="{FF2B5EF4-FFF2-40B4-BE49-F238E27FC236}">
                <a16:creationId xmlns:a16="http://schemas.microsoft.com/office/drawing/2014/main" id="{701EA8D5-FC44-6447-7D9A-FC68778B6181}"/>
              </a:ext>
            </a:extLst>
          </p:cNvPr>
          <p:cNvSpPr/>
          <p:nvPr/>
        </p:nvSpPr>
        <p:spPr>
          <a:xfrm>
            <a:off x="7470455" y="1423759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구매본부</a:t>
            </a:r>
          </a:p>
        </p:txBody>
      </p:sp>
      <p:sp>
        <p:nvSpPr>
          <p:cNvPr id="8" name="모서리가 둥근 직사각형 50">
            <a:extLst>
              <a:ext uri="{FF2B5EF4-FFF2-40B4-BE49-F238E27FC236}">
                <a16:creationId xmlns:a16="http://schemas.microsoft.com/office/drawing/2014/main" id="{49DB0197-A283-FF82-52A0-70509301F086}"/>
              </a:ext>
            </a:extLst>
          </p:cNvPr>
          <p:cNvSpPr/>
          <p:nvPr/>
        </p:nvSpPr>
        <p:spPr>
          <a:xfrm>
            <a:off x="7470455" y="2093211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품질</a:t>
            </a:r>
          </a:p>
        </p:txBody>
      </p:sp>
      <p:sp>
        <p:nvSpPr>
          <p:cNvPr id="10" name="모서리가 둥근 직사각형 52">
            <a:extLst>
              <a:ext uri="{FF2B5EF4-FFF2-40B4-BE49-F238E27FC236}">
                <a16:creationId xmlns:a16="http://schemas.microsoft.com/office/drawing/2014/main" id="{DC65361D-D1A4-FE6E-990C-A45588EA6EF0}"/>
              </a:ext>
            </a:extLst>
          </p:cNvPr>
          <p:cNvSpPr/>
          <p:nvPr/>
        </p:nvSpPr>
        <p:spPr>
          <a:xfrm>
            <a:off x="7470455" y="2743559"/>
            <a:ext cx="1037410" cy="3636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관련부문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4B46C32-9B38-619F-0B94-0609B6B6790E}"/>
              </a:ext>
            </a:extLst>
          </p:cNvPr>
          <p:cNvSpPr/>
          <p:nvPr/>
        </p:nvSpPr>
        <p:spPr>
          <a:xfrm>
            <a:off x="8989403" y="1769690"/>
            <a:ext cx="824351" cy="9963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accent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각 사업부별</a:t>
            </a:r>
            <a:endParaRPr lang="en-US" altLang="ko-KR" sz="900" b="1">
              <a:solidFill>
                <a:schemeClr val="accent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구매 본부</a:t>
            </a:r>
          </a:p>
        </p:txBody>
      </p:sp>
      <p:sp>
        <p:nvSpPr>
          <p:cNvPr id="12" name="화살표: 왼쪽/오른쪽 11">
            <a:extLst>
              <a:ext uri="{FF2B5EF4-FFF2-40B4-BE49-F238E27FC236}">
                <a16:creationId xmlns:a16="http://schemas.microsoft.com/office/drawing/2014/main" id="{D2395DB5-82AB-0C3C-E848-0593C1AF9215}"/>
              </a:ext>
            </a:extLst>
          </p:cNvPr>
          <p:cNvSpPr/>
          <p:nvPr/>
        </p:nvSpPr>
        <p:spPr>
          <a:xfrm>
            <a:off x="7117796" y="2174893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3" name="화살표: 왼쪽/오른쪽 12">
            <a:extLst>
              <a:ext uri="{FF2B5EF4-FFF2-40B4-BE49-F238E27FC236}">
                <a16:creationId xmlns:a16="http://schemas.microsoft.com/office/drawing/2014/main" id="{56D19779-817E-62E7-618E-59177A71256F}"/>
              </a:ext>
            </a:extLst>
          </p:cNvPr>
          <p:cNvSpPr/>
          <p:nvPr/>
        </p:nvSpPr>
        <p:spPr>
          <a:xfrm>
            <a:off x="8610722" y="2176376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E90FEC72-9D7A-A205-8668-913BA5AA694F}"/>
              </a:ext>
            </a:extLst>
          </p:cNvPr>
          <p:cNvSpPr/>
          <p:nvPr/>
        </p:nvSpPr>
        <p:spPr>
          <a:xfrm>
            <a:off x="10276271" y="1768210"/>
            <a:ext cx="714286" cy="9963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각 법인별</a:t>
            </a:r>
            <a:r>
              <a:rPr lang="ko-KR" altLang="en-US" sz="900" b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재경</a:t>
            </a:r>
            <a:endParaRPr lang="en-US" altLang="ko-KR" sz="900" b="1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5701321F-1DE4-EB03-7CF2-28195B80041D}"/>
              </a:ext>
            </a:extLst>
          </p:cNvPr>
          <p:cNvSpPr/>
          <p:nvPr/>
        </p:nvSpPr>
        <p:spPr>
          <a:xfrm>
            <a:off x="9904926" y="2169663"/>
            <a:ext cx="252000" cy="152885"/>
          </a:xfrm>
          <a:prstGeom prst="left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2CDA07-07E0-46A7-1B23-7E002B2A08A4}"/>
              </a:ext>
            </a:extLst>
          </p:cNvPr>
          <p:cNvSpPr txBox="1"/>
          <p:nvPr/>
        </p:nvSpPr>
        <p:spPr>
          <a:xfrm>
            <a:off x="674702" y="6095623"/>
            <a:ext cx="4039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*</a:t>
            </a:r>
            <a:r>
              <a:rPr lang="ko-KR" altLang="en-US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다음 </a:t>
            </a:r>
            <a:r>
              <a:rPr lang="en-US" altLang="ko-KR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Page : </a:t>
            </a:r>
            <a:r>
              <a:rPr lang="ko-KR" altLang="en-US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각사업부별 구매본부 및 경조사비 지급 재경팀 기준 참고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D48E37-C91D-EEF8-CB61-A35A5B2D0300}"/>
              </a:ext>
            </a:extLst>
          </p:cNvPr>
          <p:cNvSpPr txBox="1"/>
          <p:nvPr/>
        </p:nvSpPr>
        <p:spPr>
          <a:xfrm>
            <a:off x="9559189" y="1970100"/>
            <a:ext cx="31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*</a:t>
            </a:r>
            <a:endParaRPr lang="ko-KR" altLang="en-US" sz="1000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A0510C-7FAF-8C66-EF71-D37F231BA7AA}"/>
              </a:ext>
            </a:extLst>
          </p:cNvPr>
          <p:cNvSpPr txBox="1"/>
          <p:nvPr/>
        </p:nvSpPr>
        <p:spPr>
          <a:xfrm>
            <a:off x="10747341" y="1970100"/>
            <a:ext cx="31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*</a:t>
            </a:r>
            <a:endParaRPr lang="ko-KR" altLang="en-US" sz="1000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FA632-59F0-59EA-71BC-194EF79115A5}"/>
              </a:ext>
            </a:extLst>
          </p:cNvPr>
          <p:cNvSpPr txBox="1"/>
          <p:nvPr/>
        </p:nvSpPr>
        <p:spPr>
          <a:xfrm>
            <a:off x="674702" y="6341844"/>
            <a:ext cx="5249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**</a:t>
            </a:r>
            <a:r>
              <a:rPr lang="ko-KR" altLang="en-US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사업부별 협력사 지급 기준</a:t>
            </a:r>
            <a:r>
              <a:rPr lang="en-US" altLang="ko-KR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: </a:t>
            </a:r>
            <a:r>
              <a:rPr lang="en-US" altLang="ko-KR" sz="1000">
                <a:hlinkClick r:id="rId3"/>
              </a:rPr>
              <a:t>231004 </a:t>
            </a:r>
            <a:r>
              <a:rPr lang="ko-KR" altLang="en-US" sz="1000">
                <a:hlinkClick r:id="rId3"/>
              </a:rPr>
              <a:t>경조사비 처리 사업부 기준 리스트</a:t>
            </a:r>
            <a:r>
              <a:rPr lang="en-US" altLang="ko-KR" sz="1000">
                <a:hlinkClick r:id="rId3"/>
              </a:rPr>
              <a:t>.xlsx</a:t>
            </a:r>
            <a:endParaRPr lang="ko-KR" altLang="en-US" sz="1000">
              <a:solidFill>
                <a:srgbClr val="FF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EC48E5-E0BF-F320-BC17-646447F5299C}"/>
              </a:ext>
            </a:extLst>
          </p:cNvPr>
          <p:cNvSpPr txBox="1"/>
          <p:nvPr/>
        </p:nvSpPr>
        <p:spPr>
          <a:xfrm>
            <a:off x="10591531" y="4617802"/>
            <a:ext cx="3932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**</a:t>
            </a:r>
            <a:endParaRPr lang="ko-KR" altLang="en-US" sz="1000">
              <a:solidFill>
                <a:srgbClr val="FF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258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D867A058-8B82-6F2D-DF0A-F713A3D3B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982654"/>
              </p:ext>
            </p:extLst>
          </p:nvPr>
        </p:nvGraphicFramePr>
        <p:xfrm>
          <a:off x="769893" y="875586"/>
          <a:ext cx="10566888" cy="2665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844">
                  <a:extLst>
                    <a:ext uri="{9D8B030D-6E8A-4147-A177-3AD203B41FA5}">
                      <a16:colId xmlns:a16="http://schemas.microsoft.com/office/drawing/2014/main" val="3701621186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4168992297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2185015189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3446716229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3910075688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969896931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402218968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3373258068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355263332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3828162071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79011067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1503037339"/>
                    </a:ext>
                  </a:extLst>
                </a:gridCol>
                <a:gridCol w="824837">
                  <a:extLst>
                    <a:ext uri="{9D8B030D-6E8A-4147-A177-3AD203B41FA5}">
                      <a16:colId xmlns:a16="http://schemas.microsoft.com/office/drawing/2014/main" val="104068102"/>
                    </a:ext>
                  </a:extLst>
                </a:gridCol>
              </a:tblGrid>
              <a:tr h="25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부모상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빙부</a:t>
                      </a:r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/</a:t>
                      </a:r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빙모상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자녀결혼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조부모상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본인사망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공장신축</a:t>
                      </a:r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이전</a:t>
                      </a:r>
                      <a:r>
                        <a:rPr lang="en-US" altLang="ko-KR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0464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9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비협력회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532064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대표이사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20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20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90014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임원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807335"/>
                  </a:ext>
                </a:extLst>
              </a:tr>
              <a:tr h="481115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부장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  <a:p>
                      <a:pPr lvl="0"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팀장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lang="ko-KR" altLang="en-US" sz="900" b="1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10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00326"/>
                  </a:ext>
                </a:extLst>
              </a:tr>
              <a:tr h="68684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0">
                  <a:txBody>
                    <a:bodyPr/>
                    <a:lstStyle/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▶ 조화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: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대표이사 이상 부모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빙부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/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빙모상 회장 명의 추가 발송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(10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만원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)</a:t>
                      </a:r>
                    </a:p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▶ 경조사비 및 화환 선택 가능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lvl="0" algn="l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▶ 지급대상 외 필요 시 구매본부 내 지급가능 검토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안전기원제 시행시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l" latinLnBrk="1">
                        <a:lnSpc>
                          <a:spcPct val="150000"/>
                        </a:lnSpc>
                      </a:pPr>
                      <a:endParaRPr lang="ko-KR" altLang="en-US" sz="9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603822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B357BD56-3F5C-F290-3794-F702E154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3" y="300705"/>
            <a:ext cx="8505276" cy="360362"/>
          </a:xfrm>
        </p:spPr>
        <p:txBody>
          <a:bodyPr/>
          <a:lstStyle/>
          <a:p>
            <a:r>
              <a:rPr lang="en-US" altLang="ko-KR"/>
              <a:t>3-2. CTR </a:t>
            </a:r>
            <a:r>
              <a:rPr lang="ko-KR" altLang="en-US"/>
              <a:t>협력업체 경조사비 지급 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83A99-E461-1FCE-4368-FC4D7371C488}"/>
              </a:ext>
            </a:extLst>
          </p:cNvPr>
          <p:cNvSpPr txBox="1"/>
          <p:nvPr/>
        </p:nvSpPr>
        <p:spPr>
          <a:xfrm>
            <a:off x="769893" y="3637292"/>
            <a:ext cx="10701259" cy="551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◆ 대상 협력업체는 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ERP 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등록 모든 거래업체</a:t>
            </a:r>
            <a:endParaRPr lang="en-US" altLang="ko-KR" sz="105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◆ 협력회 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대진단조 외 </a:t>
            </a:r>
            <a:r>
              <a:rPr lang="en-US" altLang="ko-KR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60</a:t>
            </a: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개사</a:t>
            </a:r>
            <a:endParaRPr lang="en-US" altLang="ko-KR" sz="1050" b="1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CF4C4D18-F694-DE84-BDA2-11D9FDCF3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54898"/>
              </p:ext>
            </p:extLst>
          </p:nvPr>
        </p:nvGraphicFramePr>
        <p:xfrm>
          <a:off x="938567" y="4566562"/>
          <a:ext cx="5000596" cy="151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298">
                  <a:extLst>
                    <a:ext uri="{9D8B030D-6E8A-4147-A177-3AD203B41FA5}">
                      <a16:colId xmlns:a16="http://schemas.microsoft.com/office/drawing/2014/main" val="4168992297"/>
                    </a:ext>
                  </a:extLst>
                </a:gridCol>
                <a:gridCol w="2500298">
                  <a:extLst>
                    <a:ext uri="{9D8B030D-6E8A-4147-A177-3AD203B41FA5}">
                      <a16:colId xmlns:a16="http://schemas.microsoft.com/office/drawing/2014/main" val="2185015189"/>
                    </a:ext>
                  </a:extLst>
                </a:gridCol>
              </a:tblGrid>
              <a:tr h="2380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사업부별 구매본부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각 법인별 재경팀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0464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OE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구매기획팀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재경팀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532064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CTR AM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구매팀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90014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CTR Mobiilty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CTR Mobiilty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재경팀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807335"/>
                  </a:ext>
                </a:extLst>
              </a:tr>
              <a:tr h="318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CTR Ecoforging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구매팀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CTR Ecoforging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경영관리팀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003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E3F565-9E5A-CA8A-7E9D-9476ED34A32E}"/>
              </a:ext>
            </a:extLst>
          </p:cNvPr>
          <p:cNvSpPr txBox="1"/>
          <p:nvPr/>
        </p:nvSpPr>
        <p:spPr>
          <a:xfrm>
            <a:off x="778771" y="4107701"/>
            <a:ext cx="10701259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◆ </a:t>
            </a:r>
            <a:r>
              <a:rPr lang="ko-KR" altLang="en-US" sz="1050" b="1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사업부별 구매본부 및 지급 재경팀</a:t>
            </a:r>
            <a:endParaRPr lang="en-US" altLang="ko-KR" sz="1050" b="1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629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7A32FE-C643-F366-445C-771D967C6BDC}"/>
              </a:ext>
            </a:extLst>
          </p:cNvPr>
          <p:cNvSpPr txBox="1"/>
          <p:nvPr/>
        </p:nvSpPr>
        <p:spPr>
          <a:xfrm>
            <a:off x="3246210" y="5384799"/>
            <a:ext cx="5699580" cy="825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본 문서는 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CTR Group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의 정보자산으로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승인을 받지 않은 문서의 열람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수정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배포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복사를 엄격하게 금지합니다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이를</a:t>
            </a:r>
            <a:r>
              <a:rPr kumimoji="1" lang="en" altLang="ko-Kore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위반할 경우 부정경쟁방지 및 영업비밀보호에 관한 법률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형법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, 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민법 등에 따라 민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·</a:t>
            </a:r>
            <a:r>
              <a:rPr kumimoji="1" lang="ko-KR" altLang="en-US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형사상 책임을 부담할 수 있습니다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</a:t>
            </a:r>
            <a:b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</a:br>
            <a:endParaRPr kumimoji="1" lang="en-US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This document is an information property of the CTR Group. Unauthorized access, editing, distribution, and copying are strictly prohibited. 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Failure to comply may result in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penalties under the Unfair Competition Prevention and Trade Secret Protection Act and </a:t>
            </a:r>
            <a:r>
              <a:rPr kumimoji="1" lang="en-US" altLang="ko-KR" sz="700" spc="-3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civil·criminal</a:t>
            </a:r>
            <a:r>
              <a:rPr kumimoji="1" lang="en-US" altLang="ko-KR" sz="700" spc="-3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laws.</a:t>
            </a:r>
            <a:endParaRPr kumimoji="1" lang="ko-KR" altLang="ko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endParaRPr kumimoji="1" lang="en" altLang="ko-Kore-KR" sz="700" spc="-3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" name="그림 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579D2C8E-92C4-15E8-8569-E69101905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72" y="2133677"/>
            <a:ext cx="5433455" cy="170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9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TR Color System">
      <a:dk1>
        <a:srgbClr val="000000"/>
      </a:dk1>
      <a:lt1>
        <a:sysClr val="window" lastClr="FFFFFF"/>
      </a:lt1>
      <a:dk2>
        <a:srgbClr val="F7F8F8"/>
      </a:dk2>
      <a:lt2>
        <a:srgbClr val="FFFF66"/>
      </a:lt2>
      <a:accent1>
        <a:srgbClr val="E1251B"/>
      </a:accent1>
      <a:accent2>
        <a:srgbClr val="CE0E2D"/>
      </a:accent2>
      <a:accent3>
        <a:srgbClr val="76777A"/>
      </a:accent3>
      <a:accent4>
        <a:srgbClr val="636569"/>
      </a:accent4>
      <a:accent5>
        <a:srgbClr val="00946E"/>
      </a:accent5>
      <a:accent6>
        <a:srgbClr val="007A4C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 sz="1000" smtClean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b51ee87-befd-4db7-a3ab-e9817b37cc8f">
      <UserInfo>
        <DisplayName>Yunjin Jang 장윤진(인재경영팀)</DisplayName>
        <AccountId>14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AC6D138A9216478D8C00E1C8E45BDF" ma:contentTypeVersion="7" ma:contentTypeDescription="Create a new document." ma:contentTypeScope="" ma:versionID="f81e8de81e8501c20a4cf73b3bb8f9dd">
  <xsd:schema xmlns:xsd="http://www.w3.org/2001/XMLSchema" xmlns:xs="http://www.w3.org/2001/XMLSchema" xmlns:p="http://schemas.microsoft.com/office/2006/metadata/properties" xmlns:ns2="5c7abf6b-9cf9-4d0d-b79a-adf7330794c1" xmlns:ns3="4b51ee87-befd-4db7-a3ab-e9817b37cc8f" targetNamespace="http://schemas.microsoft.com/office/2006/metadata/properties" ma:root="true" ma:fieldsID="58a5e6c9a83eecba5a2cf639db998936" ns2:_="" ns3:_="">
    <xsd:import namespace="5c7abf6b-9cf9-4d0d-b79a-adf7330794c1"/>
    <xsd:import namespace="4b51ee87-befd-4db7-a3ab-e9817b37cc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bf6b-9cf9-4d0d-b79a-adf733079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1ee87-befd-4db7-a3ab-e9817b37cc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3EEC16-534E-47E9-A552-318886961FFE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http://purl.org/dc/dcmitype/"/>
    <ds:schemaRef ds:uri="http://www.w3.org/XML/1998/namespace"/>
    <ds:schemaRef ds:uri="4b51ee87-befd-4db7-a3ab-e9817b37cc8f"/>
    <ds:schemaRef ds:uri="5c7abf6b-9cf9-4d0d-b79a-adf7330794c1"/>
  </ds:schemaRefs>
</ds:datastoreItem>
</file>

<file path=customXml/itemProps2.xml><?xml version="1.0" encoding="utf-8"?>
<ds:datastoreItem xmlns:ds="http://schemas.openxmlformats.org/officeDocument/2006/customXml" ds:itemID="{B6372511-D16C-4AD4-AA2E-0AB747640A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7abf6b-9cf9-4d0d-b79a-adf7330794c1"/>
    <ds:schemaRef ds:uri="4b51ee87-befd-4db7-a3ab-e9817b37cc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F197BF-F96E-419B-B34E-6F125F89B3D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059d40-19c8-4fad-b73a-4bd721d6054a}" enabled="1" method="Standard" siteId="{7626d4cb-4eb7-40ae-96db-5fd0b9c7db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1356</Words>
  <Application>Microsoft Office PowerPoint</Application>
  <PresentationFormat>와이드스크린</PresentationFormat>
  <Paragraphs>297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CJK KR Bold</vt:lpstr>
      <vt:lpstr>Noto Sans CJK KR Regular</vt:lpstr>
      <vt:lpstr>맑은 고딕</vt:lpstr>
      <vt:lpstr>Arial</vt:lpstr>
      <vt:lpstr>Office 테마</vt:lpstr>
      <vt:lpstr>CTR  고객/협력사 경조사비 지급 PROCESS</vt:lpstr>
      <vt:lpstr>1. CTR 고객 경조사비 지급 PROCESS 주관부서</vt:lpstr>
      <vt:lpstr>2-1. CTR 고객 경조사비 지급 PROCESS 및 기준</vt:lpstr>
      <vt:lpstr>2-2. CTR 고객 경조사비 지급 기준</vt:lpstr>
      <vt:lpstr>3-1. CTR 협력업체 경조사비 지급 PROCESS</vt:lpstr>
      <vt:lpstr>3-2. CTR 협력업체 경조사비 지급 기준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Yunjin Jang 장윤진(인재경영팀)</dc:creator>
  <cp:lastModifiedBy>Sungsu Kim 김성수(미래기획팀)</cp:lastModifiedBy>
  <cp:revision>1</cp:revision>
  <dcterms:created xsi:type="dcterms:W3CDTF">2023-03-31T10:00:21Z</dcterms:created>
  <dcterms:modified xsi:type="dcterms:W3CDTF">2023-10-23T00:39:45Z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0x01010045AC6D138A9216478D8C00E1C8E45BDF</vt:lpwstr>
  </property>
  <property fmtid="{D5CDD505-2E9C-101B-9397-08002B2CF9AE}" pid="3" name="MediaServiceImageTags">
    <vt:lpwstr/>
  </property>
</Properties>
</file>