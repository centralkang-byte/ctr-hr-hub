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301" r:id="rId5"/>
    <p:sldId id="1279" r:id="rId6"/>
    <p:sldId id="1280" r:id="rId7"/>
    <p:sldId id="1293" r:id="rId8"/>
    <p:sldId id="1289" r:id="rId9"/>
    <p:sldId id="1290" r:id="rId10"/>
    <p:sldId id="1283" r:id="rId11"/>
    <p:sldId id="1284" r:id="rId12"/>
    <p:sldId id="1285" r:id="rId13"/>
    <p:sldId id="1286" r:id="rId14"/>
    <p:sldId id="1287" r:id="rId15"/>
    <p:sldId id="1288" r:id="rId16"/>
    <p:sldId id="258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pos="211" userDrawn="1">
          <p15:clr>
            <a:srgbClr val="A4A3A4"/>
          </p15:clr>
        </p15:guide>
        <p15:guide id="4" pos="7469" userDrawn="1">
          <p15:clr>
            <a:srgbClr val="A4A3A4"/>
          </p15:clr>
        </p15:guide>
        <p15:guide id="5" orient="horz" pos="2160" userDrawn="1">
          <p15:clr>
            <a:srgbClr val="A4A3A4"/>
          </p15:clr>
        </p15:guide>
        <p15:guide id="6" orient="horz" pos="4315" userDrawn="1">
          <p15:clr>
            <a:srgbClr val="A4A3A4"/>
          </p15:clr>
        </p15:guide>
        <p15:guide id="7" orient="horz" pos="414" userDrawn="1">
          <p15:clr>
            <a:srgbClr val="A4A3A4"/>
          </p15:clr>
        </p15:guide>
        <p15:guide id="8" orient="horz" pos="572" userDrawn="1">
          <p15:clr>
            <a:srgbClr val="A4A3A4"/>
          </p15:clr>
        </p15:guide>
        <p15:guide id="9" orient="horz" pos="4201" userDrawn="1">
          <p15:clr>
            <a:srgbClr val="A4A3A4"/>
          </p15:clr>
        </p15:guide>
        <p15:guide id="10" pos="370" userDrawn="1">
          <p15:clr>
            <a:srgbClr val="A4A3A4"/>
          </p15:clr>
        </p15:guide>
        <p15:guide id="11" pos="7310" userDrawn="1">
          <p15:clr>
            <a:srgbClr val="A4A3A4"/>
          </p15:clr>
        </p15:guide>
        <p15:guide id="13" orient="horz" pos="799" userDrawn="1">
          <p15:clr>
            <a:srgbClr val="A4A3A4"/>
          </p15:clr>
        </p15:guide>
        <p15:guide id="14" orient="horz" pos="686" userDrawn="1">
          <p15:clr>
            <a:srgbClr val="A4A3A4"/>
          </p15:clr>
        </p15:guide>
        <p15:guide id="15" orient="horz" pos="4088" userDrawn="1">
          <p15:clr>
            <a:srgbClr val="A4A3A4"/>
          </p15:clr>
        </p15:guide>
        <p15:guide id="16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211C"/>
    <a:srgbClr val="4472C4"/>
    <a:srgbClr val="CE162C"/>
    <a:srgbClr val="CE0E2D"/>
    <a:srgbClr val="B4B4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091DD6-85CA-4062-A1D8-864917F5A63F}" vWet="4" dt="2023-06-20T01:09:05.247"/>
    <p1510:client id="{29C7DF53-5304-4D1B-A555-467AC796ED8B}" v="27" dt="2023-06-20T01:09:08.2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pos="211"/>
        <p:guide pos="7469"/>
        <p:guide orient="horz" pos="2160"/>
        <p:guide orient="horz" pos="4315"/>
        <p:guide orient="horz" pos="414"/>
        <p:guide orient="horz" pos="572"/>
        <p:guide orient="horz" pos="4201"/>
        <p:guide pos="370"/>
        <p:guide pos="7310"/>
        <p:guide orient="horz" pos="799"/>
        <p:guide orient="horz" pos="686"/>
        <p:guide orient="horz" pos="4088"/>
        <p:guide pos="384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ngsu Kim 김성수(미래기획팀)" userId="469b12f1-7eb5-4772-8503-69018f0da6c1" providerId="ADAL" clId="{29C7DF53-5304-4D1B-A555-467AC796ED8B}"/>
    <pc:docChg chg="modSld">
      <pc:chgData name="Sungsu Kim 김성수(미래기획팀)" userId="469b12f1-7eb5-4772-8503-69018f0da6c1" providerId="ADAL" clId="{29C7DF53-5304-4D1B-A555-467AC796ED8B}" dt="2023-06-20T01:09:08.248" v="139" actId="20577"/>
      <pc:docMkLst>
        <pc:docMk/>
      </pc:docMkLst>
      <pc:sldChg chg="modSp mod">
        <pc:chgData name="Sungsu Kim 김성수(미래기획팀)" userId="469b12f1-7eb5-4772-8503-69018f0da6c1" providerId="ADAL" clId="{29C7DF53-5304-4D1B-A555-467AC796ED8B}" dt="2023-06-20T01:09:08.248" v="139" actId="20577"/>
        <pc:sldMkLst>
          <pc:docMk/>
          <pc:sldMk cId="614193967" sldId="1280"/>
        </pc:sldMkLst>
        <pc:spChg chg="mod">
          <ac:chgData name="Sungsu Kim 김성수(미래기획팀)" userId="469b12f1-7eb5-4772-8503-69018f0da6c1" providerId="ADAL" clId="{29C7DF53-5304-4D1B-A555-467AC796ED8B}" dt="2023-06-19T22:52:25.212" v="51" actId="1035"/>
          <ac:spMkLst>
            <pc:docMk/>
            <pc:sldMk cId="614193967" sldId="1280"/>
            <ac:spMk id="3" creationId="{1A20F03D-C5E6-9FCA-67EC-F2836AFAD3BC}"/>
          </ac:spMkLst>
        </pc:spChg>
        <pc:graphicFrameChg chg="mod modGraphic">
          <ac:chgData name="Sungsu Kim 김성수(미래기획팀)" userId="469b12f1-7eb5-4772-8503-69018f0da6c1" providerId="ADAL" clId="{29C7DF53-5304-4D1B-A555-467AC796ED8B}" dt="2023-06-20T01:09:08.248" v="139" actId="20577"/>
          <ac:graphicFrameMkLst>
            <pc:docMk/>
            <pc:sldMk cId="614193967" sldId="1280"/>
            <ac:graphicFrameMk id="18" creationId="{D5C0C759-0686-FFE7-0361-38B5B6B816E4}"/>
          </ac:graphicFrameMkLst>
        </pc:graphicFrameChg>
      </pc:sldChg>
    </pc:docChg>
  </pc:docChgLst>
  <pc:docChgLst>
    <pc:chgData name="Sungsu Kim 김성수(미래기획팀)" userId="469b12f1-7eb5-4772-8503-69018f0da6c1" providerId="ADAL" clId="{4A32089A-35DE-4E39-A12B-69258FE6E15D}"/>
    <pc:docChg chg="delSld modSld">
      <pc:chgData name="Sungsu Kim 김성수(미래기획팀)" userId="469b12f1-7eb5-4772-8503-69018f0da6c1" providerId="ADAL" clId="{4A32089A-35DE-4E39-A12B-69258FE6E15D}" dt="2023-06-16T00:25:57.988" v="20" actId="20577"/>
      <pc:docMkLst>
        <pc:docMk/>
      </pc:docMkLst>
      <pc:sldChg chg="modSp mod">
        <pc:chgData name="Sungsu Kim 김성수(미래기획팀)" userId="469b12f1-7eb5-4772-8503-69018f0da6c1" providerId="ADAL" clId="{4A32089A-35DE-4E39-A12B-69258FE6E15D}" dt="2023-06-16T00:25:57.988" v="20" actId="20577"/>
        <pc:sldMkLst>
          <pc:docMk/>
          <pc:sldMk cId="412382111" sldId="301"/>
        </pc:sldMkLst>
        <pc:spChg chg="mod">
          <ac:chgData name="Sungsu Kim 김성수(미래기획팀)" userId="469b12f1-7eb5-4772-8503-69018f0da6c1" providerId="ADAL" clId="{4A32089A-35DE-4E39-A12B-69258FE6E15D}" dt="2023-06-16T00:25:57.988" v="20" actId="20577"/>
          <ac:spMkLst>
            <pc:docMk/>
            <pc:sldMk cId="412382111" sldId="301"/>
            <ac:spMk id="4" creationId="{863F8ECB-A6E6-54CE-EC80-F76FC2502FC7}"/>
          </ac:spMkLst>
        </pc:spChg>
      </pc:sldChg>
      <pc:sldChg chg="modSp mod">
        <pc:chgData name="Sungsu Kim 김성수(미래기획팀)" userId="469b12f1-7eb5-4772-8503-69018f0da6c1" providerId="ADAL" clId="{4A32089A-35DE-4E39-A12B-69258FE6E15D}" dt="2023-06-15T23:28:59.892" v="16" actId="14100"/>
        <pc:sldMkLst>
          <pc:docMk/>
          <pc:sldMk cId="614193967" sldId="1280"/>
        </pc:sldMkLst>
        <pc:spChg chg="mod">
          <ac:chgData name="Sungsu Kim 김성수(미래기획팀)" userId="469b12f1-7eb5-4772-8503-69018f0da6c1" providerId="ADAL" clId="{4A32089A-35DE-4E39-A12B-69258FE6E15D}" dt="2023-06-15T23:28:42.923" v="15" actId="1037"/>
          <ac:spMkLst>
            <pc:docMk/>
            <pc:sldMk cId="614193967" sldId="1280"/>
            <ac:spMk id="29" creationId="{96E90BBE-3134-319E-4EA5-16CB0FF3C6DC}"/>
          </ac:spMkLst>
        </pc:spChg>
        <pc:graphicFrameChg chg="mod modGraphic">
          <ac:chgData name="Sungsu Kim 김성수(미래기획팀)" userId="469b12f1-7eb5-4772-8503-69018f0da6c1" providerId="ADAL" clId="{4A32089A-35DE-4E39-A12B-69258FE6E15D}" dt="2023-06-15T23:28:59.892" v="16" actId="14100"/>
          <ac:graphicFrameMkLst>
            <pc:docMk/>
            <pc:sldMk cId="614193967" sldId="1280"/>
            <ac:graphicFrameMk id="18" creationId="{D5C0C759-0686-FFE7-0361-38B5B6B816E4}"/>
          </ac:graphicFrameMkLst>
        </pc:graphicFrameChg>
      </pc:sldChg>
      <pc:sldChg chg="del">
        <pc:chgData name="Sungsu Kim 김성수(미래기획팀)" userId="469b12f1-7eb5-4772-8503-69018f0da6c1" providerId="ADAL" clId="{4A32089A-35DE-4E39-A12B-69258FE6E15D}" dt="2023-06-15T23:28:11.323" v="0" actId="47"/>
        <pc:sldMkLst>
          <pc:docMk/>
          <pc:sldMk cId="2341984853" sldId="129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15079A40-E12A-99EA-9EF3-9C29CF5BD31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5341060-D47E-149C-4985-819DEBE821D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2DA5B1-A5DF-4296-8A52-F247366DF40C}" type="datetimeFigureOut">
              <a:rPr lang="ko-KR" altLang="en-US" smtClean="0"/>
              <a:t>2023-06-19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62308FD-D96E-0AE0-9146-64DBD4B89D6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5BD2259-2A68-0700-C21B-02961335045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BA0CA-1C5A-4040-861F-13DC5E999E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914994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45032E-F6BA-4CD2-83D5-8F3204CEAFE8}" type="datetimeFigureOut">
              <a:rPr lang="ko-KR" altLang="en-US" smtClean="0"/>
              <a:t>2023-06-19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509473-C834-47EE-850B-0245B22CFD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348706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E74B5BE2-B628-DE98-2908-C909BEC9B8B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E16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CA40259-47CB-8C52-895E-3DDFD024F2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4500" y="0"/>
            <a:ext cx="2857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6537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2C4B3281-6CDF-9E38-AC91-FC230CC8CA9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4500" y="0"/>
            <a:ext cx="2857500" cy="68580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E34A48FA-260A-83F5-A0D1-305D08BDC43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253" y="791639"/>
            <a:ext cx="4939600" cy="332311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18A294A-8D67-3280-F6BE-FADAB962FB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0100" y="2127918"/>
            <a:ext cx="7372350" cy="1301082"/>
          </a:xfrm>
        </p:spPr>
        <p:txBody>
          <a:bodyPr lIns="0" tIns="0" rIns="0" bIns="0" anchor="t" anchorCtr="0">
            <a:noAutofit/>
          </a:bodyPr>
          <a:lstStyle>
            <a:lvl1pPr>
              <a:lnSpc>
                <a:spcPct val="100000"/>
              </a:lnSpc>
              <a:spcBef>
                <a:spcPts val="1800"/>
              </a:spcBef>
              <a:spcAft>
                <a:spcPts val="1200"/>
              </a:spcAft>
              <a:defRPr sz="3600" b="1" spc="-150" baseline="0">
                <a:solidFill>
                  <a:schemeClr val="accent4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altLang="ko-KR"/>
              <a:t>Click to add title</a:t>
            </a:r>
            <a:endParaRPr lang="en-US"/>
          </a:p>
        </p:txBody>
      </p:sp>
      <p:sp>
        <p:nvSpPr>
          <p:cNvPr id="16" name="텍스트 개체 틀 9">
            <a:extLst>
              <a:ext uri="{FF2B5EF4-FFF2-40B4-BE49-F238E27FC236}">
                <a16:creationId xmlns:a16="http://schemas.microsoft.com/office/drawing/2014/main" id="{B1CFE8B7-390F-32AC-9D8C-DBB45C47D4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0100" y="3547142"/>
            <a:ext cx="7372350" cy="360362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>
            <a:noAutofit/>
          </a:bodyPr>
          <a:lstStyle>
            <a:lvl1pPr>
              <a:buNone/>
              <a:defRPr kumimoji="1" lang="ko-KR" altLang="en-US" sz="2000" b="1" kern="1200" spc="-150" noProof="0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4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</a:lstStyle>
          <a:p>
            <a:pPr marL="0" marR="0" lvl="0" indent="0" algn="l" defTabSz="957263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altLang="ko-KR"/>
              <a:t>Click to add sub-title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7582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화살이(가) 표시된 사진&#10;&#10;자동 생성된 설명">
            <a:extLst>
              <a:ext uri="{FF2B5EF4-FFF2-40B4-BE49-F238E27FC236}">
                <a16:creationId xmlns:a16="http://schemas.microsoft.com/office/drawing/2014/main" id="{825D5980-6938-C89A-0B55-68156BC3A8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4500" y="0"/>
            <a:ext cx="2857500" cy="6858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CF95E42-2A6F-B0EF-B587-07C5046D63C7}"/>
              </a:ext>
            </a:extLst>
          </p:cNvPr>
          <p:cNvSpPr txBox="1"/>
          <p:nvPr userDrawn="1"/>
        </p:nvSpPr>
        <p:spPr>
          <a:xfrm>
            <a:off x="11870058" y="6604588"/>
            <a:ext cx="129844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fld id="{F5C88401-DF11-4B3B-9C0D-78E7BEF73E81}" type="slidenum">
              <a:rPr lang="en-US" altLang="ko-KR" sz="800" smtClean="0">
                <a:solidFill>
                  <a:schemeClr val="accent4"/>
                </a:solidFill>
              </a:rPr>
              <a:pPr algn="r"/>
              <a:t>‹#›</a:t>
            </a:fld>
            <a:endParaRPr lang="ko-KR" altLang="en-US" sz="80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86972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FA62BA8-4CED-6F3F-C941-F4A4160A7A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1869" y="401899"/>
            <a:ext cx="2332141" cy="153845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138CC10B-1535-B508-EFA3-08F31FE8C8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6533" y="300705"/>
            <a:ext cx="8505276" cy="360362"/>
          </a:xfrm>
        </p:spPr>
        <p:txBody>
          <a:bodyPr lIns="0" rIns="0">
            <a:noAutofit/>
          </a:bodyPr>
          <a:lstStyle>
            <a:lvl1pPr>
              <a:defRPr sz="2000" b="1" spc="-7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altLang="ko-KR"/>
              <a:t>Click to add title</a:t>
            </a:r>
            <a:endParaRPr lang="en-US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8B0590E6-1240-F5E1-2012-75474E9583F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6533" y="843126"/>
            <a:ext cx="11367474" cy="360362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>
            <a:normAutofit/>
          </a:bodyPr>
          <a:lstStyle>
            <a:lvl1pPr>
              <a:buNone/>
              <a:defRPr kumimoji="1" lang="ko-KR" altLang="en-US" sz="1600" b="1" kern="1200" spc="-50" baseline="0" noProof="0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+mj-lt"/>
                <a:ea typeface="+mn-ea"/>
                <a:cs typeface="Arial" panose="020B0604020202020204" pitchFamily="34" charset="0"/>
              </a:defRPr>
            </a:lvl1pPr>
          </a:lstStyle>
          <a:p>
            <a:pPr marL="0" marR="0" lvl="0" indent="0" algn="l" defTabSz="957263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altLang="ko-KR"/>
              <a:t>1.</a:t>
            </a:r>
            <a:endParaRPr lang="ko-KR" altLang="en-US"/>
          </a:p>
        </p:txBody>
      </p:sp>
      <p:sp>
        <p:nvSpPr>
          <p:cNvPr id="11" name="텍스트 개체 틀 3">
            <a:extLst>
              <a:ext uri="{FF2B5EF4-FFF2-40B4-BE49-F238E27FC236}">
                <a16:creationId xmlns:a16="http://schemas.microsoft.com/office/drawing/2014/main" id="{653851EE-4308-A72D-A0BF-770689D15B4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6532" y="1317060"/>
            <a:ext cx="11367475" cy="5139037"/>
          </a:xfrm>
        </p:spPr>
        <p:txBody>
          <a:bodyPr lIns="0" rIns="0">
            <a:noAutofit/>
          </a:bodyPr>
          <a:lstStyle>
            <a:lvl1pPr marL="0" indent="0" algn="l" defTabSz="914400" rtl="0" eaLnBrk="1" latinLnBrk="1" hangingPunct="1">
              <a:lnSpc>
                <a:spcPct val="100000"/>
              </a:lnSpc>
              <a:buFont typeface="Arial" panose="020B0604020202020204" pitchFamily="34" charset="0"/>
              <a:buNone/>
              <a:tabLst>
                <a:tab pos="0" algn="l"/>
              </a:tabLst>
              <a:defRPr lang="en-US" altLang="ko-KR" sz="1400" kern="1200" spc="-50" baseline="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+mj-lt"/>
                <a:ea typeface="+mn-ea"/>
                <a:cs typeface="Arial" panose="020B0604020202020204" pitchFamily="34" charset="0"/>
              </a:defRPr>
            </a:lvl1pPr>
            <a:lvl2pPr algn="l" defTabSz="914400" rtl="0" eaLnBrk="1" latinLnBrk="1" hangingPunct="1">
              <a:lnSpc>
                <a:spcPct val="100000"/>
              </a:lnSpc>
              <a:buFont typeface="Arial" panose="020B0604020202020204" pitchFamily="34" charset="0"/>
              <a:defRPr lang="en-US" altLang="ko-KR" sz="1400" kern="1200" baseline="0" dirty="0" smtClean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</a:lstStyle>
          <a:p>
            <a:pPr lvl="0"/>
            <a:r>
              <a:rPr lang="en-US" altLang="ko-KR"/>
              <a:t>1)  </a:t>
            </a:r>
          </a:p>
        </p:txBody>
      </p:sp>
      <p:cxnSp>
        <p:nvCxnSpPr>
          <p:cNvPr id="12" name="직선 연결선[R] 5">
            <a:extLst>
              <a:ext uri="{FF2B5EF4-FFF2-40B4-BE49-F238E27FC236}">
                <a16:creationId xmlns:a16="http://schemas.microsoft.com/office/drawing/2014/main" id="{59F30DA8-E8E4-2AA9-AE5D-9128970978E4}"/>
              </a:ext>
            </a:extLst>
          </p:cNvPr>
          <p:cNvCxnSpPr>
            <a:cxnSpLocks/>
          </p:cNvCxnSpPr>
          <p:nvPr userDrawn="1"/>
        </p:nvCxnSpPr>
        <p:spPr>
          <a:xfrm>
            <a:off x="407988" y="669730"/>
            <a:ext cx="11376022" cy="0"/>
          </a:xfrm>
          <a:prstGeom prst="line">
            <a:avLst/>
          </a:prstGeom>
          <a:ln>
            <a:solidFill>
              <a:srgbClr val="B4B4B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17DBEF5-1ACE-97BF-D5E7-155B79EDBDB0}"/>
              </a:ext>
            </a:extLst>
          </p:cNvPr>
          <p:cNvSpPr txBox="1"/>
          <p:nvPr userDrawn="1"/>
        </p:nvSpPr>
        <p:spPr>
          <a:xfrm>
            <a:off x="11870058" y="6604588"/>
            <a:ext cx="129844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fld id="{F5C88401-DF11-4B3B-9C0D-78E7BEF73E81}" type="slidenum">
              <a:rPr lang="en-US" altLang="ko-KR" sz="800" smtClean="0">
                <a:solidFill>
                  <a:schemeClr val="accent4"/>
                </a:solidFill>
              </a:rPr>
              <a:pPr algn="r"/>
              <a:t>‹#›</a:t>
            </a:fld>
            <a:endParaRPr lang="ko-KR" altLang="en-US" sz="80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959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1A5F72C0-AAD1-CFAE-1EB2-3BAB19D3B839}"/>
              </a:ext>
            </a:extLst>
          </p:cNvPr>
          <p:cNvSpPr txBox="1"/>
          <p:nvPr userDrawn="1"/>
        </p:nvSpPr>
        <p:spPr>
          <a:xfrm>
            <a:off x="11870058" y="6604588"/>
            <a:ext cx="129844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fld id="{F5C88401-DF11-4B3B-9C0D-78E7BEF73E81}" type="slidenum">
              <a:rPr lang="en-US" altLang="ko-KR" sz="800" smtClean="0">
                <a:solidFill>
                  <a:schemeClr val="accent4"/>
                </a:solidFill>
              </a:rPr>
              <a:pPr algn="r"/>
              <a:t>‹#›</a:t>
            </a:fld>
            <a:endParaRPr lang="ko-KR" altLang="en-US" sz="80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3502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ner cover_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E79386B-071D-7A84-22DE-1A5CF3EA1C2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18A8C35-8F1D-13EE-18D6-E8BDAB68A4C3}"/>
              </a:ext>
            </a:extLst>
          </p:cNvPr>
          <p:cNvSpPr txBox="1"/>
          <p:nvPr userDrawn="1"/>
        </p:nvSpPr>
        <p:spPr>
          <a:xfrm>
            <a:off x="11870058" y="6604588"/>
            <a:ext cx="129844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fld id="{F5C88401-DF11-4B3B-9C0D-78E7BEF73E81}" type="slidenum">
              <a:rPr lang="en-US" altLang="ko-KR" sz="800" smtClean="0">
                <a:solidFill>
                  <a:schemeClr val="accent4"/>
                </a:solidFill>
              </a:rPr>
              <a:pPr algn="r"/>
              <a:t>‹#›</a:t>
            </a:fld>
            <a:endParaRPr lang="ko-KR" altLang="en-US" sz="80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49286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ner cover_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화살이(가) 표시된 사진&#10;&#10;자동 생성된 설명">
            <a:extLst>
              <a:ext uri="{FF2B5EF4-FFF2-40B4-BE49-F238E27FC236}">
                <a16:creationId xmlns:a16="http://schemas.microsoft.com/office/drawing/2014/main" id="{9631126C-4479-E85B-F620-D454CCF4FBB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12B6780-E928-C0FE-C194-772880B423E5}"/>
              </a:ext>
            </a:extLst>
          </p:cNvPr>
          <p:cNvSpPr txBox="1"/>
          <p:nvPr userDrawn="1"/>
        </p:nvSpPr>
        <p:spPr>
          <a:xfrm>
            <a:off x="11870058" y="6604588"/>
            <a:ext cx="129844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fld id="{F5C88401-DF11-4B3B-9C0D-78E7BEF73E81}" type="slidenum">
              <a:rPr lang="en-US" altLang="ko-KR" sz="800" smtClean="0">
                <a:solidFill>
                  <a:schemeClr val="accent4"/>
                </a:solidFill>
              </a:rPr>
              <a:pPr algn="r"/>
              <a:t>‹#›</a:t>
            </a:fld>
            <a:endParaRPr lang="ko-KR" altLang="en-US" sz="80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22978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ner cover_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88BE9CA-8A56-3EC3-9CC7-6645433FC8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028ECA9-5863-21FF-570F-9023D84DF75F}"/>
              </a:ext>
            </a:extLst>
          </p:cNvPr>
          <p:cNvSpPr txBox="1"/>
          <p:nvPr userDrawn="1"/>
        </p:nvSpPr>
        <p:spPr>
          <a:xfrm>
            <a:off x="11870058" y="6604588"/>
            <a:ext cx="129844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fld id="{F5C88401-DF11-4B3B-9C0D-78E7BEF73E81}" type="slidenum">
              <a:rPr lang="en-US" altLang="ko-KR" sz="800" smtClean="0">
                <a:solidFill>
                  <a:schemeClr val="accent4"/>
                </a:solidFill>
              </a:rPr>
              <a:pPr algn="r"/>
              <a:t>‹#›</a:t>
            </a:fld>
            <a:endParaRPr lang="ko-KR" altLang="en-US" sz="80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33622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429DB3-0EC8-57C4-CA36-9C4B20322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E4CF1F3-F920-820F-604E-8B9151C417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6054E7-3757-6E24-2A99-B92E00F989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9F0F31-2E9E-BC0D-DECB-DF61F286F2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B9D92E0-7402-3E38-481A-6D9F6EC33D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EEE5E3-ED40-4819-9206-2622D1809C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754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6" r:id="rId3"/>
    <p:sldLayoutId id="2147483665" r:id="rId4"/>
    <p:sldLayoutId id="2147483667" r:id="rId5"/>
    <p:sldLayoutId id="2147483662" r:id="rId6"/>
    <p:sldLayoutId id="2147483664" r:id="rId7"/>
    <p:sldLayoutId id="2147483663" r:id="rId8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4DA702-4F4D-D85E-50B6-447AE8E32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2127918"/>
            <a:ext cx="7372350" cy="168643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/>
              <a:t>해외진출 프로세스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3F8ECB-A6E6-54CE-EC80-F76FC2502FC7}"/>
              </a:ext>
            </a:extLst>
          </p:cNvPr>
          <p:cNvSpPr txBox="1"/>
          <p:nvPr/>
        </p:nvSpPr>
        <p:spPr>
          <a:xfrm>
            <a:off x="800100" y="5413179"/>
            <a:ext cx="1279196" cy="71917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</a:pPr>
            <a:r>
              <a:rPr kumimoji="1" lang="en-US" altLang="ko-KR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4"/>
                </a:solidFill>
                <a:latin typeface="+mj-lt"/>
                <a:cs typeface="Arial" panose="020B0604020202020204" pitchFamily="34" charset="0"/>
              </a:rPr>
              <a:t>2023. 06. 16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</a:pPr>
            <a:r>
              <a:rPr kumimoji="1" lang="ko-KR" altLang="en-US" b="1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4"/>
                </a:solidFill>
                <a:latin typeface="+mj-lt"/>
                <a:cs typeface="Arial" panose="020B0604020202020204" pitchFamily="34" charset="0"/>
              </a:rPr>
              <a:t>미래기획팀</a:t>
            </a:r>
            <a:endParaRPr kumimoji="1" lang="en-US" altLang="ko-KR" b="1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accent4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842AB1-0F2E-F15E-145B-C530D7F70285}"/>
              </a:ext>
            </a:extLst>
          </p:cNvPr>
          <p:cNvSpPr txBox="1"/>
          <p:nvPr/>
        </p:nvSpPr>
        <p:spPr>
          <a:xfrm>
            <a:off x="4704670" y="5272655"/>
            <a:ext cx="4734606" cy="9657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ko-KR" altLang="en-US" sz="7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+mn-ea"/>
                <a:cs typeface="Arial" panose="020B0604020202020204" pitchFamily="34" charset="0"/>
              </a:rPr>
              <a:t>본 문서는 </a:t>
            </a:r>
            <a:r>
              <a:rPr kumimoji="1" lang="en-US" altLang="ko-KR" sz="7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+mn-ea"/>
                <a:cs typeface="Arial" panose="020B0604020202020204" pitchFamily="34" charset="0"/>
              </a:rPr>
              <a:t>CTR Group</a:t>
            </a:r>
            <a:r>
              <a:rPr kumimoji="1" lang="ko-KR" altLang="en-US" sz="7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+mn-ea"/>
                <a:cs typeface="Arial" panose="020B0604020202020204" pitchFamily="34" charset="0"/>
              </a:rPr>
              <a:t>의 정보자산으로</a:t>
            </a:r>
            <a:r>
              <a:rPr kumimoji="1" lang="en-US" altLang="ko-KR" sz="7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+mn-ea"/>
                <a:cs typeface="Arial" panose="020B0604020202020204" pitchFamily="34" charset="0"/>
              </a:rPr>
              <a:t> </a:t>
            </a:r>
            <a:r>
              <a:rPr kumimoji="1" lang="ko-KR" altLang="en-US" sz="7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+mn-ea"/>
                <a:cs typeface="Arial" panose="020B0604020202020204" pitchFamily="34" charset="0"/>
              </a:rPr>
              <a:t>승인을 받지 않은 문서의 열람</a:t>
            </a:r>
            <a:r>
              <a:rPr kumimoji="1" lang="en-US" altLang="ko-KR" sz="7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+mn-ea"/>
                <a:cs typeface="Arial" panose="020B0604020202020204" pitchFamily="34" charset="0"/>
              </a:rPr>
              <a:t>, </a:t>
            </a:r>
            <a:r>
              <a:rPr kumimoji="1" lang="ko-KR" altLang="en-US" sz="7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+mn-ea"/>
                <a:cs typeface="Arial" panose="020B0604020202020204" pitchFamily="34" charset="0"/>
              </a:rPr>
              <a:t>수정</a:t>
            </a:r>
            <a:r>
              <a:rPr kumimoji="1" lang="en-US" altLang="ko-KR" sz="7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+mn-ea"/>
                <a:cs typeface="Arial" panose="020B0604020202020204" pitchFamily="34" charset="0"/>
              </a:rPr>
              <a:t>, </a:t>
            </a:r>
            <a:r>
              <a:rPr kumimoji="1" lang="ko-KR" altLang="en-US" sz="7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+mn-ea"/>
                <a:cs typeface="Arial" panose="020B0604020202020204" pitchFamily="34" charset="0"/>
              </a:rPr>
              <a:t>배포</a:t>
            </a:r>
            <a:r>
              <a:rPr kumimoji="1" lang="en-US" altLang="ko-KR" sz="7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+mn-ea"/>
                <a:cs typeface="Arial" panose="020B0604020202020204" pitchFamily="34" charset="0"/>
              </a:rPr>
              <a:t>, </a:t>
            </a:r>
            <a:r>
              <a:rPr kumimoji="1" lang="ko-KR" altLang="en-US" sz="7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+mn-ea"/>
                <a:cs typeface="Arial" panose="020B0604020202020204" pitchFamily="34" charset="0"/>
              </a:rPr>
              <a:t>복사를 엄격하게 금지합니다</a:t>
            </a:r>
            <a:r>
              <a:rPr kumimoji="1" lang="en-US" altLang="ko-KR" sz="7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+mn-ea"/>
                <a:cs typeface="Arial" panose="020B0604020202020204" pitchFamily="34" charset="0"/>
              </a:rPr>
              <a:t>. </a:t>
            </a:r>
          </a:p>
          <a:p>
            <a:pPr>
              <a:lnSpc>
                <a:spcPct val="130000"/>
              </a:lnSpc>
            </a:pPr>
            <a:r>
              <a:rPr kumimoji="1" lang="ko-KR" altLang="en-US" sz="7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+mn-ea"/>
                <a:cs typeface="Arial" panose="020B0604020202020204" pitchFamily="34" charset="0"/>
              </a:rPr>
              <a:t>이를</a:t>
            </a:r>
            <a:r>
              <a:rPr kumimoji="1" lang="en" altLang="ko-Kore-KR" sz="7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+mn-ea"/>
                <a:cs typeface="Arial" panose="020B0604020202020204" pitchFamily="34" charset="0"/>
              </a:rPr>
              <a:t> </a:t>
            </a:r>
            <a:r>
              <a:rPr kumimoji="1" lang="ko-KR" altLang="en-US" sz="7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+mn-ea"/>
                <a:cs typeface="Arial" panose="020B0604020202020204" pitchFamily="34" charset="0"/>
              </a:rPr>
              <a:t>위반할 경우 부정경쟁방지 및 영업비밀보호에 관한 법률</a:t>
            </a:r>
            <a:r>
              <a:rPr kumimoji="1" lang="en-US" altLang="ko-KR" sz="7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+mn-ea"/>
                <a:cs typeface="Arial" panose="020B0604020202020204" pitchFamily="34" charset="0"/>
              </a:rPr>
              <a:t>, </a:t>
            </a:r>
            <a:r>
              <a:rPr kumimoji="1" lang="ko-KR" altLang="en-US" sz="7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+mn-ea"/>
                <a:cs typeface="Arial" panose="020B0604020202020204" pitchFamily="34" charset="0"/>
              </a:rPr>
              <a:t>형법</a:t>
            </a:r>
            <a:r>
              <a:rPr kumimoji="1" lang="en-US" altLang="ko-KR" sz="7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+mn-ea"/>
                <a:cs typeface="Arial" panose="020B0604020202020204" pitchFamily="34" charset="0"/>
              </a:rPr>
              <a:t>, </a:t>
            </a:r>
            <a:r>
              <a:rPr kumimoji="1" lang="ko-KR" altLang="en-US" sz="7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+mn-ea"/>
                <a:cs typeface="Arial" panose="020B0604020202020204" pitchFamily="34" charset="0"/>
              </a:rPr>
              <a:t>민법 등에 따라 민</a:t>
            </a:r>
            <a:r>
              <a:rPr kumimoji="1" lang="en-US" altLang="ko-KR" sz="7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+mn-ea"/>
                <a:cs typeface="Arial" panose="020B0604020202020204" pitchFamily="34" charset="0"/>
              </a:rPr>
              <a:t>·</a:t>
            </a:r>
            <a:r>
              <a:rPr kumimoji="1" lang="ko-KR" altLang="en-US" sz="7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+mn-ea"/>
                <a:cs typeface="Arial" panose="020B0604020202020204" pitchFamily="34" charset="0"/>
              </a:rPr>
              <a:t>형사상 책임을 부담할 수 있습니다</a:t>
            </a:r>
            <a:r>
              <a:rPr kumimoji="1" lang="en-US" altLang="ko-KR" sz="7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+mn-ea"/>
                <a:cs typeface="Arial" panose="020B0604020202020204" pitchFamily="34" charset="0"/>
              </a:rPr>
              <a:t>.</a:t>
            </a:r>
            <a:br>
              <a:rPr kumimoji="1" lang="en-US" altLang="ko-KR" sz="7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+mn-ea"/>
                <a:cs typeface="Arial" panose="020B0604020202020204" pitchFamily="34" charset="0"/>
              </a:rPr>
            </a:br>
            <a:endParaRPr kumimoji="1" lang="en-US" altLang="ko-KR" sz="700" spc="-3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accent1"/>
              </a:solidFill>
              <a:latin typeface="+mn-ea"/>
              <a:cs typeface="Arial" panose="020B0604020202020204" pitchFamily="34" charset="0"/>
            </a:endParaRPr>
          </a:p>
          <a:p>
            <a:pPr>
              <a:lnSpc>
                <a:spcPct val="130000"/>
              </a:lnSpc>
            </a:pPr>
            <a:r>
              <a:rPr kumimoji="1" lang="en-US" altLang="ko-KR" sz="7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+mn-ea"/>
                <a:cs typeface="Arial" panose="020B0604020202020204" pitchFamily="34" charset="0"/>
              </a:rPr>
              <a:t>This document is an information property of the CTR Group. Unauthorized access, editing, distribution, and copying are strictly prohibited. Failure to comply may result in </a:t>
            </a:r>
            <a:r>
              <a:rPr kumimoji="1" lang="en-US" altLang="ko-KR" sz="700" spc="-30" err="1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+mn-ea"/>
                <a:cs typeface="Arial" panose="020B0604020202020204" pitchFamily="34" charset="0"/>
              </a:rPr>
              <a:t>civil·criminal</a:t>
            </a:r>
            <a:r>
              <a:rPr kumimoji="1" lang="en-US" altLang="ko-KR" sz="7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+mn-ea"/>
                <a:cs typeface="Arial" panose="020B0604020202020204" pitchFamily="34" charset="0"/>
              </a:rPr>
              <a:t> penalties under the Unfair Competition Prevention and </a:t>
            </a:r>
            <a:br>
              <a:rPr kumimoji="1" lang="en-US" altLang="ko-KR" sz="7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+mn-ea"/>
                <a:cs typeface="Arial" panose="020B0604020202020204" pitchFamily="34" charset="0"/>
              </a:rPr>
            </a:br>
            <a:r>
              <a:rPr kumimoji="1" lang="en-US" altLang="ko-KR" sz="7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+mn-ea"/>
                <a:cs typeface="Arial" panose="020B0604020202020204" pitchFamily="34" charset="0"/>
              </a:rPr>
              <a:t>Trade Secret Protection Act and </a:t>
            </a:r>
            <a:r>
              <a:rPr kumimoji="1" lang="en-US" altLang="ko-KR" sz="700" spc="-30" err="1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+mn-ea"/>
                <a:cs typeface="Arial" panose="020B0604020202020204" pitchFamily="34" charset="0"/>
              </a:rPr>
              <a:t>civil·criminal</a:t>
            </a:r>
            <a:r>
              <a:rPr kumimoji="1" lang="en-US" altLang="ko-KR" sz="7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+mn-ea"/>
                <a:cs typeface="Arial" panose="020B0604020202020204" pitchFamily="34" charset="0"/>
              </a:rPr>
              <a:t> laws.</a:t>
            </a:r>
            <a:endParaRPr kumimoji="1" lang="ko-KR" altLang="ko-KR" sz="700" spc="-3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accent1"/>
              </a:solidFill>
              <a:latin typeface="+mn-ea"/>
              <a:cs typeface="Arial" panose="020B0604020202020204" pitchFamily="34" charset="0"/>
            </a:endParaRPr>
          </a:p>
          <a:p>
            <a:pPr>
              <a:lnSpc>
                <a:spcPct val="130000"/>
              </a:lnSpc>
            </a:pPr>
            <a:endParaRPr kumimoji="1" lang="en" altLang="ko-Kore-KR" sz="700" spc="-3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accent1"/>
              </a:solidFill>
              <a:latin typeface="+mn-ea"/>
              <a:cs typeface="Arial" panose="020B0604020202020204" pitchFamily="34" charset="0"/>
            </a:endParaRPr>
          </a:p>
        </p:txBody>
      </p:sp>
      <p:graphicFrame>
        <p:nvGraphicFramePr>
          <p:cNvPr id="11" name="표 11">
            <a:extLst>
              <a:ext uri="{FF2B5EF4-FFF2-40B4-BE49-F238E27FC236}">
                <a16:creationId xmlns:a16="http://schemas.microsoft.com/office/drawing/2014/main" id="{C964D4FD-1DB8-8D0D-A2B9-95C91AFB5384}"/>
              </a:ext>
            </a:extLst>
          </p:cNvPr>
          <p:cNvGraphicFramePr>
            <a:graphicFrameLocks noGrp="1"/>
          </p:cNvGraphicFramePr>
          <p:nvPr/>
        </p:nvGraphicFramePr>
        <p:xfrm>
          <a:off x="10267963" y="794658"/>
          <a:ext cx="1116000" cy="502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6000">
                  <a:extLst>
                    <a:ext uri="{9D8B030D-6E8A-4147-A177-3AD203B41FA5}">
                      <a16:colId xmlns:a16="http://schemas.microsoft.com/office/drawing/2014/main" val="2161796615"/>
                    </a:ext>
                  </a:extLst>
                </a:gridCol>
              </a:tblGrid>
              <a:tr h="16811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/>
                        <a:t>대외비</a:t>
                      </a:r>
                    </a:p>
                  </a:txBody>
                  <a:tcPr anchor="ctr">
                    <a:lnL w="3175" cap="flat" cmpd="sng" algn="ctr">
                      <a:solidFill>
                        <a:srgbClr val="E221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221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221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221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9005735"/>
                  </a:ext>
                </a:extLst>
              </a:tr>
              <a:tr h="1681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kern="1200">
                          <a:solidFill>
                            <a:srgbClr val="E2211C"/>
                          </a:solidFill>
                          <a:latin typeface="+mn-lt"/>
                          <a:ea typeface="+mn-ea"/>
                          <a:cs typeface="+mn-cs"/>
                        </a:rPr>
                        <a:t>Confidential</a:t>
                      </a:r>
                    </a:p>
                  </a:txBody>
                  <a:tcPr anchor="ctr">
                    <a:lnL w="3175" cap="flat" cmpd="sng" algn="ctr">
                      <a:solidFill>
                        <a:srgbClr val="E221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221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221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221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7146125"/>
                  </a:ext>
                </a:extLst>
              </a:tr>
            </a:tbl>
          </a:graphicData>
        </a:graphic>
      </p:graphicFrame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250BB9DD-5106-D04D-CE90-C15F3CEDA261}"/>
              </a:ext>
            </a:extLst>
          </p:cNvPr>
          <p:cNvCxnSpPr>
            <a:cxnSpLocks/>
          </p:cNvCxnSpPr>
          <p:nvPr/>
        </p:nvCxnSpPr>
        <p:spPr>
          <a:xfrm>
            <a:off x="4563374" y="5298533"/>
            <a:ext cx="0" cy="784364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382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60501020-1C00-5EC2-018C-4B3B069FDCF8}"/>
              </a:ext>
            </a:extLst>
          </p:cNvPr>
          <p:cNvSpPr txBox="1">
            <a:spLocks/>
          </p:cNvSpPr>
          <p:nvPr/>
        </p:nvSpPr>
        <p:spPr>
          <a:xfrm>
            <a:off x="526928" y="1763893"/>
            <a:ext cx="9650599" cy="4729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60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■ </a:t>
            </a:r>
            <a:r>
              <a:rPr lang="ko-KR" altLang="en-US" sz="160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적용 목적</a:t>
            </a: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C9E6F70B-7D36-5DA9-4C9A-6AE3AC1D6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18" y="291827"/>
            <a:ext cx="8505276" cy="360362"/>
          </a:xfrm>
        </p:spPr>
        <p:txBody>
          <a:bodyPr/>
          <a:lstStyle/>
          <a:p>
            <a:r>
              <a:rPr lang="ko-KR" altLang="en-US" b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해외진출 프로세스 개요</a:t>
            </a: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5F39B1E6-8067-71DF-3F05-B600DF41E6FC}"/>
              </a:ext>
            </a:extLst>
          </p:cNvPr>
          <p:cNvSpPr txBox="1">
            <a:spLocks/>
          </p:cNvSpPr>
          <p:nvPr/>
        </p:nvSpPr>
        <p:spPr>
          <a:xfrm>
            <a:off x="526927" y="777230"/>
            <a:ext cx="9650599" cy="4729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60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■ </a:t>
            </a:r>
            <a:r>
              <a:rPr lang="ko-KR" altLang="en-US" sz="160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해외진출이란</a:t>
            </a:r>
            <a:r>
              <a:rPr lang="en-US" altLang="ko-KR" sz="160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?</a:t>
            </a:r>
            <a:endParaRPr lang="ko-KR" altLang="en-US" sz="1600"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719788-6356-E351-70C9-AF910E81052E}"/>
              </a:ext>
            </a:extLst>
          </p:cNvPr>
          <p:cNvSpPr txBox="1"/>
          <p:nvPr/>
        </p:nvSpPr>
        <p:spPr>
          <a:xfrm>
            <a:off x="809990" y="2085843"/>
            <a:ext cx="8141504" cy="8940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6000" indent="-216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b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CTR </a:t>
            </a:r>
            <a:r>
              <a:rPr lang="ko-KR" altLang="en-US" sz="1200" b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그룹 글로벌 전략에 맞춘 해외 프로세스 확립</a:t>
            </a:r>
            <a:endParaRPr lang="en-US" altLang="ko-KR" sz="1200" b="1"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  <a:p>
            <a:pPr marL="216000" indent="-216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명확한 현지 조사를 통한 타당성 분석</a:t>
            </a:r>
            <a:endParaRPr lang="en-US" altLang="ko-KR" sz="1200" b="1"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  <a:p>
            <a:pPr marL="216000" indent="-216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해외 진출 후 발생하는 </a:t>
            </a:r>
            <a:r>
              <a:rPr lang="en-US" altLang="ko-KR" sz="1200" b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Risk </a:t>
            </a:r>
            <a:r>
              <a:rPr lang="ko-KR" altLang="en-US" sz="1200" b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방지  </a:t>
            </a:r>
            <a:r>
              <a:rPr lang="en-US" altLang="ko-KR" sz="1200" b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&amp; </a:t>
            </a:r>
            <a:r>
              <a:rPr lang="ko-KR" altLang="en-US" sz="1200" b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수익성 확보</a:t>
            </a:r>
            <a:endParaRPr lang="en-US" altLang="ko-KR" sz="1200" b="1"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CE6FDD-BADF-9A03-22F4-E3DFC955CCF3}"/>
              </a:ext>
            </a:extLst>
          </p:cNvPr>
          <p:cNvSpPr txBox="1"/>
          <p:nvPr/>
        </p:nvSpPr>
        <p:spPr>
          <a:xfrm>
            <a:off x="809989" y="1161012"/>
            <a:ext cx="10411386" cy="6170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6000" indent="-216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투자대상국의 기업경영에 직접 참여하는 형태의 해외사업방식으로</a:t>
            </a:r>
            <a:r>
              <a:rPr lang="en-US" altLang="ko-KR" sz="1200" b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, </a:t>
            </a:r>
          </a:p>
          <a:p>
            <a:pPr>
              <a:lnSpc>
                <a:spcPct val="150000"/>
              </a:lnSpc>
            </a:pPr>
            <a:r>
              <a:rPr lang="en-US" altLang="ko-KR" sz="1200" b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      </a:t>
            </a:r>
            <a:r>
              <a:rPr lang="ko-KR" altLang="en-US" sz="1200" b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기업이 보유하는 유형의 경영자원인 </a:t>
            </a:r>
            <a:r>
              <a:rPr lang="ko-KR" altLang="en-US" sz="1200" b="1">
                <a:solidFill>
                  <a:srgbClr val="FF0000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자본</a:t>
            </a:r>
            <a:r>
              <a:rPr lang="ko-KR" altLang="en-US" sz="1200" b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과 </a:t>
            </a:r>
            <a:r>
              <a:rPr lang="ko-KR" altLang="en-US" sz="1200" b="1">
                <a:solidFill>
                  <a:srgbClr val="FF0000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인력</a:t>
            </a:r>
            <a:r>
              <a:rPr lang="ko-KR" altLang="en-US" sz="1200" b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 뿐만 아니라 무형의 경영자원인 </a:t>
            </a:r>
            <a:r>
              <a:rPr lang="ko-KR" altLang="en-US" sz="1200" b="1">
                <a:solidFill>
                  <a:srgbClr val="FF0000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경영노하우</a:t>
            </a:r>
            <a:r>
              <a:rPr lang="en-US" altLang="ko-KR" sz="1200" b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, </a:t>
            </a:r>
            <a:r>
              <a:rPr lang="ko-KR" altLang="en-US" sz="1200" b="1">
                <a:solidFill>
                  <a:srgbClr val="FF0000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기술</a:t>
            </a:r>
            <a:r>
              <a:rPr lang="ko-KR" altLang="en-US" sz="1200" b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 등을 해외에 </a:t>
            </a:r>
            <a:r>
              <a:rPr lang="ko-KR" altLang="en-US" sz="1200" b="1">
                <a:solidFill>
                  <a:srgbClr val="FF0000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포괄적으로 이전</a:t>
            </a:r>
            <a:r>
              <a:rPr lang="ko-KR" altLang="en-US" sz="1200" b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시키는 기업의 경영활동</a:t>
            </a:r>
            <a:endParaRPr lang="en-US" altLang="ko-KR" sz="1200" b="1"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  <p:sp>
        <p:nvSpPr>
          <p:cNvPr id="12" name="제목 1">
            <a:extLst>
              <a:ext uri="{FF2B5EF4-FFF2-40B4-BE49-F238E27FC236}">
                <a16:creationId xmlns:a16="http://schemas.microsoft.com/office/drawing/2014/main" id="{4AB87F22-880B-DD8F-E6AE-C09EF252D0C6}"/>
              </a:ext>
            </a:extLst>
          </p:cNvPr>
          <p:cNvSpPr txBox="1">
            <a:spLocks/>
          </p:cNvSpPr>
          <p:nvPr/>
        </p:nvSpPr>
        <p:spPr>
          <a:xfrm>
            <a:off x="526926" y="2971648"/>
            <a:ext cx="9650599" cy="4729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60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■ </a:t>
            </a:r>
            <a:r>
              <a:rPr lang="ko-KR" altLang="en-US" sz="160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해외진출 유형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B8A75F1-344E-EF9E-41D0-FE6262405FA3}"/>
              </a:ext>
            </a:extLst>
          </p:cNvPr>
          <p:cNvSpPr txBox="1"/>
          <p:nvPr/>
        </p:nvSpPr>
        <p:spPr>
          <a:xfrm>
            <a:off x="809989" y="3320822"/>
            <a:ext cx="10730982" cy="6170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6000" indent="-216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해외직접투자</a:t>
            </a:r>
            <a:r>
              <a:rPr lang="en-US" altLang="ko-KR" sz="1200" b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 : </a:t>
            </a:r>
            <a:r>
              <a:rPr lang="ko-KR" altLang="en-US" sz="1200" b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해외에 신규 </a:t>
            </a:r>
            <a:r>
              <a:rPr lang="ko-KR" altLang="en-US" sz="1200" b="1">
                <a:solidFill>
                  <a:srgbClr val="FF0000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법인</a:t>
            </a:r>
            <a:r>
              <a:rPr lang="en-US" altLang="ko-KR" sz="1200" b="1">
                <a:solidFill>
                  <a:srgbClr val="FF0000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/</a:t>
            </a:r>
            <a:r>
              <a:rPr lang="ko-KR" altLang="en-US" sz="1200" b="1">
                <a:solidFill>
                  <a:srgbClr val="FF0000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지점</a:t>
            </a:r>
            <a:r>
              <a:rPr lang="en-US" altLang="ko-KR" sz="1200" b="1">
                <a:solidFill>
                  <a:srgbClr val="FF0000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/</a:t>
            </a:r>
            <a:r>
              <a:rPr lang="ko-KR" altLang="en-US" sz="1200" b="1">
                <a:solidFill>
                  <a:srgbClr val="FF0000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연락사무소</a:t>
            </a:r>
            <a:r>
              <a:rPr lang="ko-KR" altLang="en-US" sz="1200" b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를 통해 현지 투자대상 기업의 직접경영 및 사업관리에 참여</a:t>
            </a:r>
            <a:endParaRPr lang="en-US" altLang="ko-KR" sz="1200" b="1"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  <a:p>
            <a:pPr marL="216000" indent="-216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기타투자방법 </a:t>
            </a:r>
            <a:r>
              <a:rPr lang="en-US" altLang="ko-KR" sz="1200" b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: </a:t>
            </a:r>
            <a:r>
              <a:rPr lang="ko-KR" altLang="en-US" sz="1200" b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국내 기업 등이 외국에서 사업활동을 영위하기 위해 해외직접투자 이외의 방법으로 외국에 설치 및 운영</a:t>
            </a:r>
            <a:endParaRPr lang="en-US" altLang="ko-KR" sz="1200" b="1"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8432307-9637-2146-1E18-2C8B53C1EE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1598160"/>
              </p:ext>
            </p:extLst>
          </p:nvPr>
        </p:nvGraphicFramePr>
        <p:xfrm>
          <a:off x="1116809" y="3984799"/>
          <a:ext cx="9829359" cy="22473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687">
                  <a:extLst>
                    <a:ext uri="{9D8B030D-6E8A-4147-A177-3AD203B41FA5}">
                      <a16:colId xmlns:a16="http://schemas.microsoft.com/office/drawing/2014/main" val="4272082783"/>
                    </a:ext>
                  </a:extLst>
                </a:gridCol>
                <a:gridCol w="2831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12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1224">
                  <a:extLst>
                    <a:ext uri="{9D8B030D-6E8A-4147-A177-3AD203B41FA5}">
                      <a16:colId xmlns:a16="http://schemas.microsoft.com/office/drawing/2014/main" val="3532531121"/>
                    </a:ext>
                  </a:extLst>
                </a:gridCol>
              </a:tblGrid>
              <a:tr h="42228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구분</a:t>
                      </a:r>
                    </a:p>
                  </a:txBody>
                  <a:tcPr marL="83127" marR="83127" marT="41564" marB="4156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직접투자</a:t>
                      </a:r>
                      <a:endParaRPr lang="en-US" altLang="ko-KR" sz="1000" b="0">
                        <a:solidFill>
                          <a:schemeClr val="bg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algn="ctr" latinLnBrk="1"/>
                      <a:r>
                        <a:rPr lang="ko-KR" altLang="en-US" sz="1000" b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현지법인 </a:t>
                      </a:r>
                      <a:r>
                        <a:rPr lang="en-US" altLang="ko-KR" sz="1000" b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Domestic Corporation</a:t>
                      </a:r>
                      <a:endParaRPr lang="ko-KR" altLang="en-US" sz="1000" b="0">
                        <a:solidFill>
                          <a:schemeClr val="bg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83127" marR="83127" marT="41564" marB="4156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기타투자</a:t>
                      </a:r>
                      <a:endParaRPr lang="en-US" altLang="ko-KR" sz="1000" b="0">
                        <a:solidFill>
                          <a:schemeClr val="bg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algn="ctr" latinLnBrk="1"/>
                      <a:r>
                        <a:rPr lang="ko-KR" altLang="en-US" sz="1000" b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지점 </a:t>
                      </a:r>
                      <a:r>
                        <a:rPr lang="en-US" altLang="ko-KR" sz="1000" b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Branch</a:t>
                      </a:r>
                      <a:endParaRPr lang="ko-KR" altLang="en-US" sz="1000" b="0">
                        <a:solidFill>
                          <a:schemeClr val="bg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83127" marR="83127" marT="41564" marB="4156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기타투자</a:t>
                      </a:r>
                      <a:endParaRPr lang="en-US" altLang="ko-KR" sz="1000" b="0">
                        <a:solidFill>
                          <a:schemeClr val="bg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algn="ctr" latinLnBrk="1"/>
                      <a:r>
                        <a:rPr lang="ko-KR" altLang="en-US" sz="1000" b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연락사무소 </a:t>
                      </a:r>
                      <a:r>
                        <a:rPr lang="en-US" altLang="ko-KR" sz="1000" b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Office</a:t>
                      </a:r>
                      <a:endParaRPr lang="ko-KR" altLang="en-US" sz="1000" b="0">
                        <a:solidFill>
                          <a:schemeClr val="bg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83127" marR="83127" marT="41564" marB="4156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28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근거법규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83127" marR="83127" marT="41564" marB="4156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Font typeface="Arial" panose="020B0604020202020204" pitchFamily="34" charset="0"/>
                        <a:buNone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현지의 법률에 근거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83127" marR="83127" marT="41564" marB="4156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현지의 법률에 근거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(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본사에 적용되는 법이 지점에 그대로 적용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)</a:t>
                      </a:r>
                    </a:p>
                  </a:txBody>
                  <a:tcPr marL="83127" marR="83127" marT="41564" marB="4156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현지의 법률에 근거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83127" marR="83127" marT="41564" marB="4156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144107"/>
                  </a:ext>
                </a:extLst>
              </a:tr>
              <a:tr h="27152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상호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83127" marR="83127" marT="41564" marB="4156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Font typeface="Arial" panose="020B0604020202020204" pitchFamily="34" charset="0"/>
                        <a:buNone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제한 없음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83127" marR="83127" marT="41564" marB="4156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본사와 동일상호만 가능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83127" marR="83127" marT="41564" marB="4156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제한없음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83127" marR="83127" marT="41564" marB="4156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1796421"/>
                  </a:ext>
                </a:extLst>
              </a:tr>
              <a:tr h="58818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ko-KR" altLang="en-US" sz="1000" b="0">
                          <a:solidFill>
                            <a:srgbClr val="FF0000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영업활동의 범위</a:t>
                      </a:r>
                      <a:endParaRPr lang="en-US" altLang="ko-KR" sz="1000" b="0">
                        <a:solidFill>
                          <a:srgbClr val="FF0000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83127" marR="83127" marT="41564" marB="4156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Font typeface="Arial" panose="020B0604020202020204" pitchFamily="34" charset="0"/>
                        <a:buNone/>
                      </a:pPr>
                      <a:r>
                        <a:rPr lang="ko-KR" altLang="en-US" sz="1000" b="0">
                          <a:solidFill>
                            <a:srgbClr val="FF0000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인가 받은 범위 내에서 제한 없음</a:t>
                      </a:r>
                      <a:endParaRPr lang="en-US" altLang="ko-KR" sz="1000" b="0">
                        <a:solidFill>
                          <a:srgbClr val="FF0000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0" lv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0">
                          <a:solidFill>
                            <a:srgbClr val="FF0000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(</a:t>
                      </a:r>
                      <a:r>
                        <a:rPr lang="ko-KR" altLang="en-US" sz="1000" b="0">
                          <a:solidFill>
                            <a:srgbClr val="FF0000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현지법인 명의로 영업활동 가능</a:t>
                      </a:r>
                      <a:r>
                        <a:rPr lang="en-US" altLang="ko-KR" sz="1000" b="0">
                          <a:solidFill>
                            <a:srgbClr val="FF0000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)</a:t>
                      </a:r>
                    </a:p>
                  </a:txBody>
                  <a:tcPr marL="83127" marR="83127" marT="41564" marB="4156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b="0">
                          <a:solidFill>
                            <a:srgbClr val="FF0000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주재국의 법률에 따라 자유롭게 영업활동</a:t>
                      </a:r>
                      <a:endParaRPr lang="en-US" altLang="ko-KR" sz="1000" b="0">
                        <a:solidFill>
                          <a:srgbClr val="FF0000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0">
                          <a:solidFill>
                            <a:srgbClr val="FF0000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(</a:t>
                      </a:r>
                      <a:r>
                        <a:rPr lang="ko-KR" altLang="en-US" sz="1000" b="0">
                          <a:solidFill>
                            <a:srgbClr val="FF0000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모법인 명의로 영업활동 가능</a:t>
                      </a:r>
                      <a:r>
                        <a:rPr lang="en-US" altLang="ko-KR" sz="1000" b="0">
                          <a:solidFill>
                            <a:srgbClr val="FF0000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)</a:t>
                      </a:r>
                    </a:p>
                  </a:txBody>
                  <a:tcPr marL="83127" marR="83127" marT="41564" marB="4156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b="0">
                          <a:solidFill>
                            <a:srgbClr val="FF0000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영업활동 </a:t>
                      </a:r>
                      <a:r>
                        <a:rPr lang="en-US" altLang="ko-KR" sz="1000" b="0">
                          <a:solidFill>
                            <a:srgbClr val="FF0000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x</a:t>
                      </a:r>
                    </a:p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b="0">
                          <a:solidFill>
                            <a:srgbClr val="FF0000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단순 연락업무</a:t>
                      </a:r>
                      <a:r>
                        <a:rPr lang="en-US" altLang="ko-KR" sz="1000" b="0">
                          <a:solidFill>
                            <a:srgbClr val="FF0000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, </a:t>
                      </a:r>
                      <a:r>
                        <a:rPr lang="ko-KR" altLang="en-US" sz="1000" b="0">
                          <a:solidFill>
                            <a:srgbClr val="FF0000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광고선전</a:t>
                      </a:r>
                      <a:r>
                        <a:rPr lang="en-US" altLang="ko-KR" sz="1000" b="0">
                          <a:solidFill>
                            <a:srgbClr val="FF0000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, </a:t>
                      </a:r>
                      <a:r>
                        <a:rPr lang="ko-KR" altLang="en-US" sz="1000" b="0">
                          <a:solidFill>
                            <a:srgbClr val="FF0000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정보수집등과 같은</a:t>
                      </a:r>
                      <a:endParaRPr lang="en-US" altLang="ko-KR" sz="1000" b="0">
                        <a:solidFill>
                          <a:srgbClr val="FF0000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b="0">
                          <a:solidFill>
                            <a:srgbClr val="FF0000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사업의 예비적</a:t>
                      </a:r>
                      <a:r>
                        <a:rPr lang="en-US" altLang="ko-KR" sz="1000" b="0">
                          <a:solidFill>
                            <a:srgbClr val="FF0000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. </a:t>
                      </a:r>
                      <a:r>
                        <a:rPr lang="ko-KR" altLang="en-US" sz="1000" b="0">
                          <a:solidFill>
                            <a:srgbClr val="FF0000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보조적 활동만 수행</a:t>
                      </a:r>
                      <a:endParaRPr lang="en-US" altLang="ko-KR" sz="1000" b="0">
                        <a:solidFill>
                          <a:srgbClr val="FF0000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83127" marR="83127" marT="41564" marB="4156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3719202"/>
                  </a:ext>
                </a:extLst>
              </a:tr>
              <a:tr h="27152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법적책임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83127" marR="83127" marT="41564" marB="4156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Font typeface="Arial" panose="020B0604020202020204" pitchFamily="34" charset="0"/>
                        <a:buNone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현지법인에만 귀속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83127" marR="83127" marT="41564" marB="4156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본사까지 확대 책임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83127" marR="83127" marT="41564" marB="4156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본사까지 확대 책임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83127" marR="83127" marT="41564" marB="4156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7335047"/>
                  </a:ext>
                </a:extLst>
              </a:tr>
              <a:tr h="27152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독립성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83127" marR="83127" marT="41564" marB="4156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Font typeface="Arial" panose="020B0604020202020204" pitchFamily="34" charset="0"/>
                        <a:buNone/>
                      </a:pPr>
                      <a:r>
                        <a:rPr lang="ko-KR" altLang="en-US" sz="1000" b="0">
                          <a:solidFill>
                            <a:srgbClr val="FF0000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독립성 </a:t>
                      </a:r>
                      <a:r>
                        <a:rPr lang="en-US" altLang="ko-KR" sz="1000" b="0">
                          <a:solidFill>
                            <a:srgbClr val="FF0000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O</a:t>
                      </a:r>
                    </a:p>
                  </a:txBody>
                  <a:tcPr marL="83127" marR="83127" marT="41564" marB="4156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본사에 종속 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(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독립성 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X)</a:t>
                      </a:r>
                    </a:p>
                  </a:txBody>
                  <a:tcPr marL="83127" marR="83127" marT="41564" marB="4156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본사에 종속 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(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독립성 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X)</a:t>
                      </a:r>
                    </a:p>
                  </a:txBody>
                  <a:tcPr marL="83127" marR="83127" marT="41564" marB="4156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374483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F66F9E3-B948-2A68-D7EF-63522BB5564B}"/>
              </a:ext>
            </a:extLst>
          </p:cNvPr>
          <p:cNvSpPr txBox="1"/>
          <p:nvPr/>
        </p:nvSpPr>
        <p:spPr>
          <a:xfrm>
            <a:off x="1116812" y="6212905"/>
            <a:ext cx="10818593" cy="2987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 b="1">
                <a:solidFill>
                  <a:srgbClr val="FF0000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*</a:t>
            </a:r>
            <a:r>
              <a:rPr lang="ko-KR" altLang="en-US" sz="1000" b="1">
                <a:solidFill>
                  <a:srgbClr val="FF0000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각국의 현지 법률에 따라 정의 및 투자유형 차이 발생</a:t>
            </a:r>
            <a:endParaRPr lang="en-US" altLang="ko-KR" sz="1000" b="1">
              <a:solidFill>
                <a:srgbClr val="FF0000"/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684844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직사각형 34">
            <a:extLst>
              <a:ext uri="{FF2B5EF4-FFF2-40B4-BE49-F238E27FC236}">
                <a16:creationId xmlns:a16="http://schemas.microsoft.com/office/drawing/2014/main" id="{092C4FE0-ADAF-E00E-11D9-26A6E4DE4428}"/>
              </a:ext>
            </a:extLst>
          </p:cNvPr>
          <p:cNvSpPr/>
          <p:nvPr/>
        </p:nvSpPr>
        <p:spPr>
          <a:xfrm>
            <a:off x="3710866" y="1230513"/>
            <a:ext cx="5060272" cy="3272204"/>
          </a:xfrm>
          <a:prstGeom prst="rect">
            <a:avLst/>
          </a:prstGeom>
          <a:solidFill>
            <a:schemeClr val="accent1">
              <a:alpha val="3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01865B84-51EE-CFD3-E1DC-6698F281C756}"/>
              </a:ext>
            </a:extLst>
          </p:cNvPr>
          <p:cNvCxnSpPr>
            <a:cxnSpLocks/>
            <a:stCxn id="11" idx="2"/>
            <a:endCxn id="14" idx="0"/>
          </p:cNvCxnSpPr>
          <p:nvPr/>
        </p:nvCxnSpPr>
        <p:spPr>
          <a:xfrm>
            <a:off x="4364418" y="2702930"/>
            <a:ext cx="0" cy="1216673"/>
          </a:xfrm>
          <a:prstGeom prst="line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제목 1">
            <a:extLst>
              <a:ext uri="{FF2B5EF4-FFF2-40B4-BE49-F238E27FC236}">
                <a16:creationId xmlns:a16="http://schemas.microsoft.com/office/drawing/2014/main" id="{C9E6F70B-7D36-5DA9-4C9A-6AE3AC1D6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18" y="291827"/>
            <a:ext cx="8505276" cy="360362"/>
          </a:xfrm>
        </p:spPr>
        <p:txBody>
          <a:bodyPr/>
          <a:lstStyle/>
          <a:p>
            <a:r>
              <a:rPr lang="ko-KR" altLang="en-US" b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해외진출 검토 프로세스 </a:t>
            </a:r>
            <a:r>
              <a:rPr lang="en-US" altLang="ko-KR" b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1</a:t>
            </a:r>
            <a:r>
              <a:rPr lang="ko-KR" altLang="en-US" b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단계</a:t>
            </a:r>
            <a:endParaRPr lang="ko-KR" altLang="en-US" sz="1500" b="0"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400F8C6E-0BB2-A5BB-6C15-5544B4C0D0D0}"/>
              </a:ext>
            </a:extLst>
          </p:cNvPr>
          <p:cNvCxnSpPr>
            <a:cxnSpLocks/>
            <a:stCxn id="25" idx="3"/>
            <a:endCxn id="30" idx="1"/>
          </p:cNvCxnSpPr>
          <p:nvPr/>
        </p:nvCxnSpPr>
        <p:spPr>
          <a:xfrm>
            <a:off x="2956949" y="1939717"/>
            <a:ext cx="901221" cy="14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759A463-34B2-6086-D93F-EDE0E31F7BE2}"/>
              </a:ext>
            </a:extLst>
          </p:cNvPr>
          <p:cNvSpPr/>
          <p:nvPr/>
        </p:nvSpPr>
        <p:spPr>
          <a:xfrm>
            <a:off x="1974876" y="1362125"/>
            <a:ext cx="968473" cy="27880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1</a:t>
            </a:r>
            <a:r>
              <a:rPr lang="ko-KR" altLang="en-US" sz="110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단계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D564A1F4-6C97-9881-7C6D-41CD3EE5F116}"/>
              </a:ext>
            </a:extLst>
          </p:cNvPr>
          <p:cNvSpPr/>
          <p:nvPr/>
        </p:nvSpPr>
        <p:spPr>
          <a:xfrm>
            <a:off x="1966465" y="1705717"/>
            <a:ext cx="990484" cy="468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>
                <a:solidFill>
                  <a:sysClr val="windowText" lastClr="000000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진출 발의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53DCF8B9-0230-AB14-490E-A1AC7233F210}"/>
              </a:ext>
            </a:extLst>
          </p:cNvPr>
          <p:cNvSpPr/>
          <p:nvPr/>
        </p:nvSpPr>
        <p:spPr>
          <a:xfrm>
            <a:off x="3869176" y="1357590"/>
            <a:ext cx="968473" cy="27880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2</a:t>
            </a:r>
            <a:r>
              <a:rPr lang="ko-KR" altLang="en-US" sz="110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단계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4881554-6EF6-7AE8-A6EF-9957951D27CB}"/>
              </a:ext>
            </a:extLst>
          </p:cNvPr>
          <p:cNvSpPr/>
          <p:nvPr/>
        </p:nvSpPr>
        <p:spPr>
          <a:xfrm>
            <a:off x="5771275" y="1357590"/>
            <a:ext cx="968473" cy="27880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3</a:t>
            </a:r>
            <a:r>
              <a:rPr lang="ko-KR" altLang="en-US" sz="110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단계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DA7B484-3D1F-B93B-DE12-3915444E5BD7}"/>
              </a:ext>
            </a:extLst>
          </p:cNvPr>
          <p:cNvSpPr/>
          <p:nvPr/>
        </p:nvSpPr>
        <p:spPr>
          <a:xfrm>
            <a:off x="7709241" y="1357590"/>
            <a:ext cx="968400" cy="27880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4</a:t>
            </a:r>
            <a:r>
              <a:rPr lang="ko-KR" altLang="en-US" sz="110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단계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9071E43B-6315-8C5B-F351-D0A344673529}"/>
              </a:ext>
            </a:extLst>
          </p:cNvPr>
          <p:cNvSpPr/>
          <p:nvPr/>
        </p:nvSpPr>
        <p:spPr>
          <a:xfrm>
            <a:off x="3858170" y="1707124"/>
            <a:ext cx="990484" cy="4680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>
                <a:solidFill>
                  <a:sysClr val="windowText" lastClr="000000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시장조사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635BEE76-F137-58DC-A07B-A23DE762C5E0}"/>
              </a:ext>
            </a:extLst>
          </p:cNvPr>
          <p:cNvSpPr/>
          <p:nvPr/>
        </p:nvSpPr>
        <p:spPr>
          <a:xfrm>
            <a:off x="5772375" y="1705717"/>
            <a:ext cx="990484" cy="4680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ysClr val="windowText" lastClr="000000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사업계획</a:t>
            </a:r>
            <a:endParaRPr lang="en-US" altLang="ko-KR" sz="1000">
              <a:solidFill>
                <a:sysClr val="windowText" lastClr="000000"/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  <a:p>
            <a:pPr algn="ctr"/>
            <a:r>
              <a:rPr lang="ko-KR" altLang="en-US" sz="1000">
                <a:solidFill>
                  <a:sysClr val="windowText" lastClr="000000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수립 및 분석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B46F7E38-79B2-8EDB-16CA-E9087748EEDA}"/>
              </a:ext>
            </a:extLst>
          </p:cNvPr>
          <p:cNvSpPr/>
          <p:nvPr/>
        </p:nvSpPr>
        <p:spPr>
          <a:xfrm>
            <a:off x="7686580" y="1702826"/>
            <a:ext cx="990000" cy="468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>
                <a:solidFill>
                  <a:sysClr val="windowText" lastClr="000000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최종 결정</a:t>
            </a:r>
          </a:p>
        </p:txBody>
      </p: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C5C97B27-90AD-3CAB-2C82-080761B92028}"/>
              </a:ext>
            </a:extLst>
          </p:cNvPr>
          <p:cNvCxnSpPr>
            <a:cxnSpLocks/>
            <a:stCxn id="30" idx="3"/>
            <a:endCxn id="31" idx="1"/>
          </p:cNvCxnSpPr>
          <p:nvPr/>
        </p:nvCxnSpPr>
        <p:spPr>
          <a:xfrm flipV="1">
            <a:off x="4848654" y="1939717"/>
            <a:ext cx="923721" cy="14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C63446CD-FE56-FA96-20DB-D584E5CB3937}"/>
              </a:ext>
            </a:extLst>
          </p:cNvPr>
          <p:cNvCxnSpPr>
            <a:cxnSpLocks/>
            <a:stCxn id="31" idx="3"/>
            <a:endCxn id="32" idx="1"/>
          </p:cNvCxnSpPr>
          <p:nvPr/>
        </p:nvCxnSpPr>
        <p:spPr>
          <a:xfrm flipV="1">
            <a:off x="6762859" y="1936826"/>
            <a:ext cx="923721" cy="28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타원 87">
            <a:extLst>
              <a:ext uri="{FF2B5EF4-FFF2-40B4-BE49-F238E27FC236}">
                <a16:creationId xmlns:a16="http://schemas.microsoft.com/office/drawing/2014/main" id="{D30B3E2B-1358-3BA2-4DD3-5A53F9A17B2C}"/>
              </a:ext>
            </a:extLst>
          </p:cNvPr>
          <p:cNvSpPr/>
          <p:nvPr/>
        </p:nvSpPr>
        <p:spPr>
          <a:xfrm>
            <a:off x="8951494" y="7229815"/>
            <a:ext cx="2645238" cy="2544521"/>
          </a:xfrm>
          <a:prstGeom prst="ellipse">
            <a:avLst/>
          </a:prstGeom>
          <a:solidFill>
            <a:schemeClr val="accent1">
              <a:alpha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화살표: 오른쪽 88">
            <a:extLst>
              <a:ext uri="{FF2B5EF4-FFF2-40B4-BE49-F238E27FC236}">
                <a16:creationId xmlns:a16="http://schemas.microsoft.com/office/drawing/2014/main" id="{5AA09259-7905-78F3-B1F0-C24AFE95B7D6}"/>
              </a:ext>
            </a:extLst>
          </p:cNvPr>
          <p:cNvSpPr/>
          <p:nvPr/>
        </p:nvSpPr>
        <p:spPr>
          <a:xfrm rot="3473672">
            <a:off x="10524813" y="8261472"/>
            <a:ext cx="195098" cy="15792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화살표: 오른쪽 89">
            <a:extLst>
              <a:ext uri="{FF2B5EF4-FFF2-40B4-BE49-F238E27FC236}">
                <a16:creationId xmlns:a16="http://schemas.microsoft.com/office/drawing/2014/main" id="{1C85EBF0-E43E-D792-128B-4C3748DB36DD}"/>
              </a:ext>
            </a:extLst>
          </p:cNvPr>
          <p:cNvSpPr/>
          <p:nvPr/>
        </p:nvSpPr>
        <p:spPr>
          <a:xfrm rot="10800000">
            <a:off x="10185600" y="8893016"/>
            <a:ext cx="195098" cy="15792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화살표: 오른쪽 90">
            <a:extLst>
              <a:ext uri="{FF2B5EF4-FFF2-40B4-BE49-F238E27FC236}">
                <a16:creationId xmlns:a16="http://schemas.microsoft.com/office/drawing/2014/main" id="{C3191BE4-A7CE-D6B7-D231-0E0D661009BA}"/>
              </a:ext>
            </a:extLst>
          </p:cNvPr>
          <p:cNvSpPr/>
          <p:nvPr/>
        </p:nvSpPr>
        <p:spPr>
          <a:xfrm rot="18069673">
            <a:off x="9842430" y="8262742"/>
            <a:ext cx="195098" cy="15792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EE158595-B8AB-53FD-B61E-CA1E3DF6C925}"/>
              </a:ext>
            </a:extLst>
          </p:cNvPr>
          <p:cNvGrpSpPr/>
          <p:nvPr/>
        </p:nvGrpSpPr>
        <p:grpSpPr>
          <a:xfrm>
            <a:off x="9126249" y="8524394"/>
            <a:ext cx="945915" cy="823104"/>
            <a:chOff x="8612920" y="4734499"/>
            <a:chExt cx="1259014" cy="1095550"/>
          </a:xfrm>
        </p:grpSpPr>
        <p:sp>
          <p:nvSpPr>
            <p:cNvPr id="93" name="타원 92">
              <a:extLst>
                <a:ext uri="{FF2B5EF4-FFF2-40B4-BE49-F238E27FC236}">
                  <a16:creationId xmlns:a16="http://schemas.microsoft.com/office/drawing/2014/main" id="{D7A7A3AC-2AA8-F098-F181-B67868E278AC}"/>
                </a:ext>
              </a:extLst>
            </p:cNvPr>
            <p:cNvSpPr/>
            <p:nvPr/>
          </p:nvSpPr>
          <p:spPr>
            <a:xfrm>
              <a:off x="8682681" y="4734499"/>
              <a:ext cx="1144558" cy="10955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latin typeface="Noto Sans CJK KR Bold" panose="020B0800000000000000" pitchFamily="34" charset="-127"/>
                <a:ea typeface="Noto Sans CJK KR Bold" panose="020B0800000000000000" pitchFamily="34" charset="-127"/>
              </a:endParaRP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CFDEBE90-613E-8A39-F5CF-56396D48BD7B}"/>
                </a:ext>
              </a:extLst>
            </p:cNvPr>
            <p:cNvSpPr txBox="1"/>
            <p:nvPr/>
          </p:nvSpPr>
          <p:spPr>
            <a:xfrm>
              <a:off x="8612920" y="5074022"/>
              <a:ext cx="1259014" cy="5325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>
                  <a:solidFill>
                    <a:schemeClr val="bg1"/>
                  </a:solidFill>
                  <a:latin typeface="Noto Sans CJK KR Bold" panose="020B0800000000000000" pitchFamily="34" charset="-127"/>
                  <a:ea typeface="Noto Sans CJK KR Bold" panose="020B0800000000000000" pitchFamily="34" charset="-127"/>
                </a:rPr>
                <a:t>사업 타당성</a:t>
              </a:r>
              <a:endParaRPr lang="en-US" altLang="ko-KR" sz="1000">
                <a:solidFill>
                  <a:schemeClr val="bg1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endParaRPr>
            </a:p>
            <a:p>
              <a:pPr algn="ctr"/>
              <a:r>
                <a:rPr lang="ko-KR" altLang="en-US" sz="1000">
                  <a:solidFill>
                    <a:schemeClr val="bg1"/>
                  </a:solidFill>
                  <a:latin typeface="Noto Sans CJK KR Bold" panose="020B0800000000000000" pitchFamily="34" charset="-127"/>
                  <a:ea typeface="Noto Sans CJK KR Bold" panose="020B0800000000000000" pitchFamily="34" charset="-127"/>
                </a:rPr>
                <a:t>분석</a:t>
              </a:r>
            </a:p>
          </p:txBody>
        </p:sp>
      </p:grpSp>
      <p:sp>
        <p:nvSpPr>
          <p:cNvPr id="103" name="TextBox 102">
            <a:extLst>
              <a:ext uri="{FF2B5EF4-FFF2-40B4-BE49-F238E27FC236}">
                <a16:creationId xmlns:a16="http://schemas.microsoft.com/office/drawing/2014/main" id="{ECA1B4B0-C144-5EE6-C112-44FC9C0924C0}"/>
              </a:ext>
            </a:extLst>
          </p:cNvPr>
          <p:cNvSpPr txBox="1"/>
          <p:nvPr/>
        </p:nvSpPr>
        <p:spPr>
          <a:xfrm>
            <a:off x="6462543" y="3750927"/>
            <a:ext cx="2300124" cy="714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>
                <a:solidFill>
                  <a:schemeClr val="accent1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※ </a:t>
            </a:r>
            <a:r>
              <a:rPr lang="ko-KR" altLang="en-US" sz="1100">
                <a:solidFill>
                  <a:schemeClr val="accent1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필수 과정</a:t>
            </a:r>
            <a:endParaRPr lang="en-US" altLang="ko-KR" sz="1100">
              <a:solidFill>
                <a:schemeClr val="accent1"/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  <a:p>
            <a:endParaRPr lang="en-US" altLang="ko-KR" sz="100">
              <a:solidFill>
                <a:schemeClr val="accent1"/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accent1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2</a:t>
            </a:r>
            <a:r>
              <a:rPr lang="ko-KR" altLang="en-US" sz="1000">
                <a:solidFill>
                  <a:schemeClr val="accent1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단계</a:t>
            </a:r>
            <a:r>
              <a:rPr lang="en-US" altLang="ko-KR" sz="1000">
                <a:solidFill>
                  <a:schemeClr val="accent1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,3</a:t>
            </a:r>
            <a:r>
              <a:rPr lang="ko-KR" altLang="en-US" sz="1000">
                <a:solidFill>
                  <a:schemeClr val="accent1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단계는 동시에 진행 가능하나</a:t>
            </a:r>
            <a:endParaRPr lang="en-US" altLang="ko-KR" sz="1000">
              <a:solidFill>
                <a:schemeClr val="accent1"/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>
                <a:solidFill>
                  <a:schemeClr val="accent1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      각각의 결과물은 반드시 제출</a:t>
            </a:r>
            <a:endParaRPr lang="en-US" altLang="ko-KR" sz="1000">
              <a:solidFill>
                <a:schemeClr val="accent1"/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  <p:grpSp>
        <p:nvGrpSpPr>
          <p:cNvPr id="104" name="그룹 103">
            <a:extLst>
              <a:ext uri="{FF2B5EF4-FFF2-40B4-BE49-F238E27FC236}">
                <a16:creationId xmlns:a16="http://schemas.microsoft.com/office/drawing/2014/main" id="{3C780A30-133A-7EAC-672B-117CCD1F8735}"/>
              </a:ext>
            </a:extLst>
          </p:cNvPr>
          <p:cNvGrpSpPr/>
          <p:nvPr/>
        </p:nvGrpSpPr>
        <p:grpSpPr>
          <a:xfrm>
            <a:off x="9781760" y="7328079"/>
            <a:ext cx="945915" cy="824132"/>
            <a:chOff x="9490100" y="3317316"/>
            <a:chExt cx="1259014" cy="1095550"/>
          </a:xfrm>
        </p:grpSpPr>
        <p:sp>
          <p:nvSpPr>
            <p:cNvPr id="105" name="타원 104">
              <a:extLst>
                <a:ext uri="{FF2B5EF4-FFF2-40B4-BE49-F238E27FC236}">
                  <a16:creationId xmlns:a16="http://schemas.microsoft.com/office/drawing/2014/main" id="{BD35EC4D-B5AA-D761-6A91-A4B467027EF8}"/>
                </a:ext>
              </a:extLst>
            </p:cNvPr>
            <p:cNvSpPr/>
            <p:nvPr/>
          </p:nvSpPr>
          <p:spPr>
            <a:xfrm>
              <a:off x="9555487" y="3317316"/>
              <a:ext cx="1144558" cy="10955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latin typeface="Noto Sans CJK KR Bold" panose="020B0800000000000000" pitchFamily="34" charset="-127"/>
                <a:ea typeface="Noto Sans CJK KR Bold" panose="020B0800000000000000" pitchFamily="34" charset="-127"/>
              </a:endParaRP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B6D34FB9-82AF-1E80-7F54-CB93D8AD8590}"/>
                </a:ext>
              </a:extLst>
            </p:cNvPr>
            <p:cNvSpPr txBox="1"/>
            <p:nvPr/>
          </p:nvSpPr>
          <p:spPr>
            <a:xfrm>
              <a:off x="9490100" y="3605057"/>
              <a:ext cx="1259014" cy="5318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>
                  <a:solidFill>
                    <a:schemeClr val="bg1"/>
                  </a:solidFill>
                  <a:latin typeface="Noto Sans CJK KR Bold" panose="020B0800000000000000" pitchFamily="34" charset="-127"/>
                  <a:ea typeface="Noto Sans CJK KR Bold" panose="020B0800000000000000" pitchFamily="34" charset="-127"/>
                </a:rPr>
                <a:t>투자정보 조사</a:t>
              </a:r>
              <a:endParaRPr lang="en-US" altLang="ko-KR" sz="1000">
                <a:solidFill>
                  <a:schemeClr val="bg1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endParaRPr>
            </a:p>
            <a:p>
              <a:pPr algn="ctr"/>
              <a:r>
                <a:rPr lang="en-US" altLang="ko-KR" sz="1000">
                  <a:solidFill>
                    <a:schemeClr val="bg1"/>
                  </a:solidFill>
                  <a:latin typeface="Noto Sans CJK KR Bold" panose="020B0800000000000000" pitchFamily="34" charset="-127"/>
                  <a:ea typeface="Noto Sans CJK KR Bold" panose="020B0800000000000000" pitchFamily="34" charset="-127"/>
                </a:rPr>
                <a:t>(Check List)</a:t>
              </a:r>
              <a:endParaRPr lang="ko-KR" altLang="en-US" sz="1000">
                <a:solidFill>
                  <a:schemeClr val="bg1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endParaRPr>
            </a:p>
          </p:txBody>
        </p:sp>
      </p:grp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69D9C021-61FE-18BA-339A-3C29EF86574D}"/>
              </a:ext>
            </a:extLst>
          </p:cNvPr>
          <p:cNvGrpSpPr/>
          <p:nvPr/>
        </p:nvGrpSpPr>
        <p:grpSpPr>
          <a:xfrm>
            <a:off x="10486706" y="8524394"/>
            <a:ext cx="945915" cy="823104"/>
            <a:chOff x="10479957" y="4784297"/>
            <a:chExt cx="1144558" cy="995955"/>
          </a:xfrm>
        </p:grpSpPr>
        <p:sp>
          <p:nvSpPr>
            <p:cNvPr id="108" name="타원 107">
              <a:extLst>
                <a:ext uri="{FF2B5EF4-FFF2-40B4-BE49-F238E27FC236}">
                  <a16:creationId xmlns:a16="http://schemas.microsoft.com/office/drawing/2014/main" id="{8207AE2A-09C1-DD67-C3D9-6B69F91191F4}"/>
                </a:ext>
              </a:extLst>
            </p:cNvPr>
            <p:cNvSpPr/>
            <p:nvPr/>
          </p:nvSpPr>
          <p:spPr>
            <a:xfrm>
              <a:off x="10550757" y="4784297"/>
              <a:ext cx="1040507" cy="99595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latin typeface="Noto Sans CJK KR Bold" panose="020B0800000000000000" pitchFamily="34" charset="-127"/>
                <a:ea typeface="Noto Sans CJK KR Bold" panose="020B0800000000000000" pitchFamily="34" charset="-127"/>
              </a:endParaRP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D6B7FE03-98BD-7508-12E7-32808313D3EF}"/>
                </a:ext>
              </a:extLst>
            </p:cNvPr>
            <p:cNvSpPr txBox="1"/>
            <p:nvPr/>
          </p:nvSpPr>
          <p:spPr>
            <a:xfrm>
              <a:off x="10479957" y="5071969"/>
              <a:ext cx="1144558" cy="4841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>
                  <a:solidFill>
                    <a:schemeClr val="bg1"/>
                  </a:solidFill>
                  <a:latin typeface="Noto Sans CJK KR Bold" panose="020B0800000000000000" pitchFamily="34" charset="-127"/>
                  <a:ea typeface="Noto Sans CJK KR Bold" panose="020B0800000000000000" pitchFamily="34" charset="-127"/>
                </a:rPr>
                <a:t>사업계획</a:t>
              </a:r>
              <a:endParaRPr lang="en-US" altLang="ko-KR" sz="1000">
                <a:solidFill>
                  <a:schemeClr val="bg1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endParaRPr>
            </a:p>
            <a:p>
              <a:pPr algn="ctr"/>
              <a:r>
                <a:rPr lang="ko-KR" altLang="en-US" sz="1000">
                  <a:solidFill>
                    <a:schemeClr val="bg1"/>
                  </a:solidFill>
                  <a:latin typeface="Noto Sans CJK KR Bold" panose="020B0800000000000000" pitchFamily="34" charset="-127"/>
                  <a:ea typeface="Noto Sans CJK KR Bold" panose="020B0800000000000000" pitchFamily="34" charset="-127"/>
                </a:rPr>
                <a:t>분석</a:t>
              </a:r>
            </a:p>
          </p:txBody>
        </p:sp>
      </p:grp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B974FA02-9D6E-7F35-F3AC-FB9C8AE0B13F}"/>
              </a:ext>
            </a:extLst>
          </p:cNvPr>
          <p:cNvSpPr/>
          <p:nvPr/>
        </p:nvSpPr>
        <p:spPr>
          <a:xfrm>
            <a:off x="651853" y="2234930"/>
            <a:ext cx="990484" cy="4680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ysClr val="windowText" lastClr="000000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누가</a:t>
            </a:r>
            <a:r>
              <a:rPr lang="en-US" altLang="ko-KR" sz="1200">
                <a:solidFill>
                  <a:sysClr val="windowText" lastClr="000000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?</a:t>
            </a:r>
            <a:endParaRPr lang="ko-KR" altLang="en-US" sz="1200">
              <a:solidFill>
                <a:sysClr val="windowText" lastClr="000000"/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  <p:sp>
        <p:nvSpPr>
          <p:cNvPr id="3" name="화살표: 오른쪽 2">
            <a:extLst>
              <a:ext uri="{FF2B5EF4-FFF2-40B4-BE49-F238E27FC236}">
                <a16:creationId xmlns:a16="http://schemas.microsoft.com/office/drawing/2014/main" id="{1A20F03D-C5E6-9FCA-67EC-F2836AFAD3BC}"/>
              </a:ext>
            </a:extLst>
          </p:cNvPr>
          <p:cNvSpPr/>
          <p:nvPr/>
        </p:nvSpPr>
        <p:spPr>
          <a:xfrm>
            <a:off x="8938994" y="2144761"/>
            <a:ext cx="247484" cy="1281371"/>
          </a:xfrm>
          <a:prstGeom prst="rightArrow">
            <a:avLst>
              <a:gd name="adj1" fmla="val 50000"/>
              <a:gd name="adj2" fmla="val 100000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E8161AA5-DAB9-1268-DA64-2FE46A04323B}"/>
              </a:ext>
            </a:extLst>
          </p:cNvPr>
          <p:cNvSpPr/>
          <p:nvPr/>
        </p:nvSpPr>
        <p:spPr>
          <a:xfrm>
            <a:off x="1974876" y="2234930"/>
            <a:ext cx="990484" cy="468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>
                <a:solidFill>
                  <a:sysClr val="windowText" lastClr="000000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주관부서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02A5029E-53F0-E1FE-A105-BE0BF1BF849D}"/>
              </a:ext>
            </a:extLst>
          </p:cNvPr>
          <p:cNvSpPr/>
          <p:nvPr/>
        </p:nvSpPr>
        <p:spPr>
          <a:xfrm>
            <a:off x="3869176" y="2234930"/>
            <a:ext cx="990484" cy="4680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>
                <a:solidFill>
                  <a:sysClr val="windowText" lastClr="000000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주관부서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01845879-05D1-D0C4-EAC3-D85D7688752B}"/>
              </a:ext>
            </a:extLst>
          </p:cNvPr>
          <p:cNvSpPr/>
          <p:nvPr/>
        </p:nvSpPr>
        <p:spPr>
          <a:xfrm>
            <a:off x="3869176" y="2845860"/>
            <a:ext cx="990484" cy="4680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>
                <a:solidFill>
                  <a:sysClr val="windowText" lastClr="000000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판매</a:t>
            </a:r>
            <a:endParaRPr lang="en-US" altLang="ko-KR" sz="1050">
              <a:solidFill>
                <a:sysClr val="windowText" lastClr="000000"/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  <a:p>
            <a:pPr algn="ctr"/>
            <a:r>
              <a:rPr lang="en-US" altLang="ko-KR" sz="1050">
                <a:solidFill>
                  <a:sysClr val="windowText" lastClr="000000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TFT</a:t>
            </a:r>
            <a:endParaRPr lang="ko-KR" altLang="en-US" sz="1050">
              <a:solidFill>
                <a:sysClr val="windowText" lastClr="000000"/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03317A1F-A256-C49D-A58B-A410375102D1}"/>
              </a:ext>
            </a:extLst>
          </p:cNvPr>
          <p:cNvSpPr/>
          <p:nvPr/>
        </p:nvSpPr>
        <p:spPr>
          <a:xfrm>
            <a:off x="3869176" y="3384052"/>
            <a:ext cx="990484" cy="4680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>
                <a:solidFill>
                  <a:sysClr val="windowText" lastClr="000000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생산</a:t>
            </a:r>
            <a:endParaRPr lang="en-US" altLang="ko-KR" sz="1050">
              <a:solidFill>
                <a:sysClr val="windowText" lastClr="000000"/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  <a:p>
            <a:pPr algn="ctr"/>
            <a:r>
              <a:rPr lang="en-US" altLang="ko-KR" sz="1050">
                <a:solidFill>
                  <a:sysClr val="windowText" lastClr="000000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TFT</a:t>
            </a:r>
            <a:endParaRPr lang="ko-KR" altLang="en-US" sz="1050">
              <a:solidFill>
                <a:sysClr val="windowText" lastClr="000000"/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F2F0FECC-EED2-DF2C-01ED-C2EF980C1DD0}"/>
              </a:ext>
            </a:extLst>
          </p:cNvPr>
          <p:cNvSpPr/>
          <p:nvPr/>
        </p:nvSpPr>
        <p:spPr>
          <a:xfrm>
            <a:off x="3869176" y="3919603"/>
            <a:ext cx="990484" cy="4680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>
                <a:solidFill>
                  <a:sysClr val="windowText" lastClr="000000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일반환경</a:t>
            </a:r>
            <a:endParaRPr lang="en-US" altLang="ko-KR" sz="1050">
              <a:solidFill>
                <a:sysClr val="windowText" lastClr="000000"/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  <a:p>
            <a:pPr algn="ctr"/>
            <a:r>
              <a:rPr lang="en-US" altLang="ko-KR" sz="1050">
                <a:solidFill>
                  <a:sysClr val="windowText" lastClr="000000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TFT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C768C618-D6DA-E6E1-7000-AC00406F72FF}"/>
              </a:ext>
            </a:extLst>
          </p:cNvPr>
          <p:cNvSpPr/>
          <p:nvPr/>
        </p:nvSpPr>
        <p:spPr>
          <a:xfrm>
            <a:off x="5780238" y="2239549"/>
            <a:ext cx="990484" cy="4680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>
                <a:solidFill>
                  <a:sysClr val="windowText" lastClr="000000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주관부서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1728A0F8-B1CC-6D9B-2BDE-A964FB758786}"/>
              </a:ext>
            </a:extLst>
          </p:cNvPr>
          <p:cNvSpPr/>
          <p:nvPr/>
        </p:nvSpPr>
        <p:spPr>
          <a:xfrm>
            <a:off x="1963870" y="4559507"/>
            <a:ext cx="990484" cy="468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>
                <a:solidFill>
                  <a:sysClr val="windowText" lastClr="000000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CSM</a:t>
            </a:r>
            <a:endParaRPr lang="ko-KR" altLang="en-US" sz="1050">
              <a:solidFill>
                <a:sysClr val="windowText" lastClr="000000"/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6D9D8671-CE96-481F-66FE-A0EC0A00A158}"/>
              </a:ext>
            </a:extLst>
          </p:cNvPr>
          <p:cNvSpPr/>
          <p:nvPr/>
        </p:nvSpPr>
        <p:spPr>
          <a:xfrm>
            <a:off x="7700363" y="4559507"/>
            <a:ext cx="990000" cy="468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>
                <a:solidFill>
                  <a:sysClr val="windowText" lastClr="000000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CSM</a:t>
            </a:r>
            <a:endParaRPr lang="ko-KR" altLang="en-US" sz="1050">
              <a:solidFill>
                <a:sysClr val="windowText" lastClr="000000"/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3DB9787-3E25-6BCD-4AA8-D4279071E561}"/>
              </a:ext>
            </a:extLst>
          </p:cNvPr>
          <p:cNvSpPr/>
          <p:nvPr/>
        </p:nvSpPr>
        <p:spPr>
          <a:xfrm>
            <a:off x="651853" y="4559507"/>
            <a:ext cx="990484" cy="4680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ysClr val="windowText" lastClr="000000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어디서</a:t>
            </a:r>
            <a:r>
              <a:rPr lang="en-US" altLang="ko-KR" sz="1200">
                <a:solidFill>
                  <a:sysClr val="windowText" lastClr="000000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?</a:t>
            </a:r>
            <a:endParaRPr lang="ko-KR" altLang="en-US" sz="1200">
              <a:solidFill>
                <a:sysClr val="windowText" lastClr="000000"/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23E29CB-3077-E96A-3BC8-0881758A5590}"/>
              </a:ext>
            </a:extLst>
          </p:cNvPr>
          <p:cNvSpPr txBox="1"/>
          <p:nvPr/>
        </p:nvSpPr>
        <p:spPr>
          <a:xfrm>
            <a:off x="1971877" y="5727852"/>
            <a:ext cx="6704703" cy="7604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000" b="1">
                <a:solidFill>
                  <a:srgbClr val="FF0000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1</a:t>
            </a:r>
            <a:r>
              <a:rPr lang="ko-KR" altLang="en-US" sz="1000" b="1">
                <a:solidFill>
                  <a:srgbClr val="FF0000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단계 </a:t>
            </a:r>
            <a:r>
              <a:rPr lang="en-US" altLang="ko-KR" sz="1000" b="1">
                <a:solidFill>
                  <a:srgbClr val="FF0000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: </a:t>
            </a:r>
            <a:r>
              <a:rPr lang="ko-KR" altLang="en-US" sz="1000" b="1">
                <a:solidFill>
                  <a:srgbClr val="FF0000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진출발의 </a:t>
            </a:r>
            <a:r>
              <a:rPr lang="en-US" altLang="ko-KR" sz="1000" b="1">
                <a:solidFill>
                  <a:srgbClr val="FF0000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– </a:t>
            </a:r>
            <a:r>
              <a:rPr lang="ko-KR" altLang="en-US" sz="1000" b="1">
                <a:solidFill>
                  <a:srgbClr val="FF0000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해외진출에 대한 배경과 목적</a:t>
            </a:r>
            <a:r>
              <a:rPr lang="en-US" altLang="ko-KR" sz="1000" b="1">
                <a:solidFill>
                  <a:srgbClr val="FF0000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(</a:t>
            </a:r>
            <a:r>
              <a:rPr lang="ko-KR" altLang="en-US" sz="1000" b="1">
                <a:solidFill>
                  <a:srgbClr val="FF0000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필요성</a:t>
            </a:r>
            <a:r>
              <a:rPr lang="en-US" altLang="ko-KR" sz="1000" b="1">
                <a:solidFill>
                  <a:srgbClr val="FF0000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)</a:t>
            </a:r>
            <a:r>
              <a:rPr lang="ko-KR" altLang="en-US" sz="1000" b="1">
                <a:solidFill>
                  <a:srgbClr val="FF0000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에 대해 </a:t>
            </a:r>
            <a:r>
              <a:rPr lang="en-US" altLang="ko-KR" sz="1000" b="1">
                <a:solidFill>
                  <a:srgbClr val="FF0000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CSM </a:t>
            </a:r>
            <a:r>
              <a:rPr lang="ko-KR" altLang="en-US" sz="1000" b="1">
                <a:solidFill>
                  <a:srgbClr val="FF0000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에서 발의</a:t>
            </a:r>
            <a:endParaRPr lang="en-US" altLang="ko-KR" sz="1000" b="1">
              <a:solidFill>
                <a:srgbClr val="FF0000"/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000" b="1">
                <a:solidFill>
                  <a:srgbClr val="FF0000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2</a:t>
            </a:r>
            <a:r>
              <a:rPr lang="ko-KR" altLang="en-US" sz="1000" b="1">
                <a:solidFill>
                  <a:srgbClr val="FF0000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단계 </a:t>
            </a:r>
            <a:r>
              <a:rPr lang="en-US" altLang="ko-KR" sz="1000" b="1">
                <a:solidFill>
                  <a:srgbClr val="FF0000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~ 3</a:t>
            </a:r>
            <a:r>
              <a:rPr lang="ko-KR" altLang="en-US" sz="1000" b="1">
                <a:solidFill>
                  <a:srgbClr val="FF0000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단계 </a:t>
            </a:r>
            <a:r>
              <a:rPr lang="en-US" altLang="ko-KR" sz="1000" b="1">
                <a:solidFill>
                  <a:srgbClr val="FF0000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– </a:t>
            </a:r>
            <a:r>
              <a:rPr lang="ko-KR" altLang="en-US" sz="1000" b="1">
                <a:solidFill>
                  <a:srgbClr val="FF0000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주관부서를 중심으로 각 분야별 </a:t>
            </a:r>
            <a:r>
              <a:rPr lang="en-US" altLang="ko-KR" sz="1000" b="1">
                <a:solidFill>
                  <a:srgbClr val="FF0000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TFT</a:t>
            </a:r>
            <a:r>
              <a:rPr lang="ko-KR" altLang="en-US" sz="1000" b="1">
                <a:solidFill>
                  <a:srgbClr val="FF0000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팀 결성</a:t>
            </a:r>
            <a:r>
              <a:rPr lang="en-US" altLang="ko-KR" sz="1000" b="1">
                <a:solidFill>
                  <a:srgbClr val="FF0000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, </a:t>
            </a:r>
            <a:r>
              <a:rPr lang="ko-KR" altLang="en-US" sz="1000" b="1">
                <a:solidFill>
                  <a:srgbClr val="FF0000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시장조사를 기반으로 사업계획 수립 및 타당성 분석</a:t>
            </a:r>
            <a:endParaRPr lang="en-US" altLang="ko-KR" sz="1000" b="1">
              <a:solidFill>
                <a:srgbClr val="FF0000"/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000" b="1">
                <a:solidFill>
                  <a:srgbClr val="FF0000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4</a:t>
            </a:r>
            <a:r>
              <a:rPr lang="ko-KR" altLang="en-US" sz="1000" b="1">
                <a:solidFill>
                  <a:srgbClr val="FF0000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단계 </a:t>
            </a:r>
            <a:r>
              <a:rPr lang="en-US" altLang="ko-KR" sz="1000" b="1">
                <a:solidFill>
                  <a:srgbClr val="FF0000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: </a:t>
            </a:r>
            <a:r>
              <a:rPr lang="ko-KR" altLang="en-US" sz="1000" b="1">
                <a:solidFill>
                  <a:srgbClr val="FF0000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최종 조사 및 보고서 </a:t>
            </a:r>
            <a:r>
              <a:rPr lang="en-US" altLang="ko-KR" sz="1000" b="1">
                <a:solidFill>
                  <a:srgbClr val="FF0000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CSM</a:t>
            </a:r>
            <a:r>
              <a:rPr lang="ko-KR" altLang="en-US" sz="1000" b="1">
                <a:solidFill>
                  <a:srgbClr val="FF0000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에서 논의 진행</a:t>
            </a:r>
            <a:r>
              <a:rPr lang="en-US" altLang="ko-KR" sz="1000" b="1">
                <a:solidFill>
                  <a:srgbClr val="FF0000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 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88692E0-30A5-402C-3595-C1410F329E99}"/>
              </a:ext>
            </a:extLst>
          </p:cNvPr>
          <p:cNvSpPr/>
          <p:nvPr/>
        </p:nvSpPr>
        <p:spPr>
          <a:xfrm>
            <a:off x="651853" y="5131468"/>
            <a:ext cx="990484" cy="4680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ysClr val="windowText" lastClr="000000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결과물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1C916BDE-AD2F-2643-3D82-DE3694F728A0}"/>
              </a:ext>
            </a:extLst>
          </p:cNvPr>
          <p:cNvSpPr/>
          <p:nvPr/>
        </p:nvSpPr>
        <p:spPr>
          <a:xfrm>
            <a:off x="1979499" y="5137774"/>
            <a:ext cx="990484" cy="468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>
                <a:solidFill>
                  <a:sysClr val="windowText" lastClr="000000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발의안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7261C609-C12B-B8E2-641C-9E6C6F00D8C9}"/>
              </a:ext>
            </a:extLst>
          </p:cNvPr>
          <p:cNvSpPr/>
          <p:nvPr/>
        </p:nvSpPr>
        <p:spPr>
          <a:xfrm>
            <a:off x="3869176" y="5157208"/>
            <a:ext cx="990484" cy="468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>
                <a:solidFill>
                  <a:sysClr val="windowText" lastClr="000000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시장조사</a:t>
            </a:r>
            <a:endParaRPr lang="en-US" altLang="ko-KR" sz="1050">
              <a:solidFill>
                <a:sysClr val="windowText" lastClr="000000"/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  <a:p>
            <a:pPr algn="ctr"/>
            <a:r>
              <a:rPr lang="ko-KR" altLang="en-US" sz="1050">
                <a:solidFill>
                  <a:sysClr val="windowText" lastClr="000000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보고서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B1AABEAD-2B51-4C37-79C6-DBB1D94B5945}"/>
              </a:ext>
            </a:extLst>
          </p:cNvPr>
          <p:cNvSpPr/>
          <p:nvPr/>
        </p:nvSpPr>
        <p:spPr>
          <a:xfrm>
            <a:off x="5771275" y="5137774"/>
            <a:ext cx="990484" cy="468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>
                <a:solidFill>
                  <a:sysClr val="windowText" lastClr="000000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사업계획</a:t>
            </a:r>
            <a:endParaRPr lang="en-US" altLang="ko-KR" sz="1050">
              <a:solidFill>
                <a:sysClr val="windowText" lastClr="000000"/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  <a:p>
            <a:pPr algn="ctr"/>
            <a:r>
              <a:rPr lang="ko-KR" altLang="en-US" sz="1050">
                <a:solidFill>
                  <a:sysClr val="windowText" lastClr="000000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보고서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7EEEF4B5-90E6-35BB-44E4-2C2AEC932E30}"/>
              </a:ext>
            </a:extLst>
          </p:cNvPr>
          <p:cNvSpPr/>
          <p:nvPr/>
        </p:nvSpPr>
        <p:spPr>
          <a:xfrm>
            <a:off x="7690334" y="5148131"/>
            <a:ext cx="990484" cy="468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>
                <a:solidFill>
                  <a:sysClr val="windowText" lastClr="000000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사업 타당성</a:t>
            </a:r>
            <a:endParaRPr lang="en-US" altLang="ko-KR" sz="1050">
              <a:solidFill>
                <a:sysClr val="windowText" lastClr="000000"/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  <a:p>
            <a:pPr algn="ctr"/>
            <a:r>
              <a:rPr lang="ko-KR" altLang="en-US" sz="1050">
                <a:solidFill>
                  <a:sysClr val="windowText" lastClr="000000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분석 보고서</a:t>
            </a: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D5C0C759-0686-FFE7-0361-38B5B6B816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9143527"/>
              </p:ext>
            </p:extLst>
          </p:nvPr>
        </p:nvGraphicFramePr>
        <p:xfrm>
          <a:off x="9352487" y="1226994"/>
          <a:ext cx="2543589" cy="32722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7863">
                  <a:extLst>
                    <a:ext uri="{9D8B030D-6E8A-4147-A177-3AD203B41FA5}">
                      <a16:colId xmlns:a16="http://schemas.microsoft.com/office/drawing/2014/main" val="3532531121"/>
                    </a:ext>
                  </a:extLst>
                </a:gridCol>
                <a:gridCol w="847863">
                  <a:extLst>
                    <a:ext uri="{9D8B030D-6E8A-4147-A177-3AD203B41FA5}">
                      <a16:colId xmlns:a16="http://schemas.microsoft.com/office/drawing/2014/main" val="1229010877"/>
                    </a:ext>
                  </a:extLst>
                </a:gridCol>
                <a:gridCol w="847863">
                  <a:extLst>
                    <a:ext uri="{9D8B030D-6E8A-4147-A177-3AD203B41FA5}">
                      <a16:colId xmlns:a16="http://schemas.microsoft.com/office/drawing/2014/main" val="3911693860"/>
                    </a:ext>
                  </a:extLst>
                </a:gridCol>
              </a:tblGrid>
              <a:tr h="47853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출력물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책임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결재</a:t>
                      </a:r>
                      <a:endParaRPr lang="en-US" altLang="ko-KR" sz="900" b="0">
                        <a:solidFill>
                          <a:schemeClr val="bg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841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신규사업 진출</a:t>
                      </a:r>
                      <a:endParaRPr lang="en-US" altLang="ko-KR" sz="9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b="0" strike="noStrike">
                          <a:solidFill>
                            <a:srgbClr val="FF0000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주관부서</a:t>
                      </a:r>
                      <a:endParaRPr lang="en-US" altLang="ko-KR" sz="900" b="0" strike="noStrike">
                        <a:solidFill>
                          <a:srgbClr val="FF0000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900" b="0" strike="noStrike">
                          <a:solidFill>
                            <a:srgbClr val="FF0000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(</a:t>
                      </a:r>
                      <a:r>
                        <a:rPr lang="ko-KR" altLang="en-US" sz="900" b="0" strike="noStrike">
                          <a:solidFill>
                            <a:srgbClr val="FF0000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미래기획팀</a:t>
                      </a:r>
                      <a:r>
                        <a:rPr lang="en-US" altLang="ko-KR" sz="900" b="0" strike="noStrike">
                          <a:solidFill>
                            <a:srgbClr val="FF0000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)</a:t>
                      </a:r>
                      <a:endParaRPr lang="en-US" altLang="ko-KR" sz="900" b="0" strike="sngStrike">
                        <a:solidFill>
                          <a:srgbClr val="FF0000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b="0" i="0" u="none" strike="noStrike" noProof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/>
                        </a:rPr>
                        <a:t>최고</a:t>
                      </a:r>
                      <a:endParaRPr lang="ko-KR" sz="900" b="0" i="0" u="none" strike="noStrike" noProof="0">
                        <a:solidFill>
                          <a:srgbClr val="000000"/>
                        </a:solidFill>
                        <a:latin typeface="Noto Sans CJK KR Regular" panose="020B0500000000000000" pitchFamily="34" charset="-127"/>
                        <a:ea typeface="Noto Sans CJK KR Regular"/>
                      </a:endParaRPr>
                    </a:p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ko-KR" sz="900" b="0" i="0" u="none" strike="noStrike" noProof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/>
                        </a:rPr>
                        <a:t>경영층</a:t>
                      </a:r>
                      <a:endParaRPr lang="ko-KR" i="0" u="none" strike="noStrike" noProof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144107"/>
                  </a:ext>
                </a:extLst>
              </a:tr>
              <a:tr h="69841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b="0">
                          <a:solidFill>
                            <a:srgbClr val="E2211C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국내</a:t>
                      </a:r>
                      <a:r>
                        <a:rPr lang="en-US" altLang="ko-KR" sz="900" b="0">
                          <a:solidFill>
                            <a:srgbClr val="E2211C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.</a:t>
                      </a:r>
                      <a:r>
                        <a:rPr lang="ko-KR" altLang="en-US" sz="900" b="0">
                          <a:solidFill>
                            <a:srgbClr val="E2211C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외 지사</a:t>
                      </a:r>
                      <a:r>
                        <a:rPr lang="en-US" altLang="ko-KR" sz="900" b="0">
                          <a:solidFill>
                            <a:srgbClr val="E2211C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/</a:t>
                      </a:r>
                      <a:r>
                        <a:rPr lang="ko-KR" altLang="en-US" sz="900" b="0">
                          <a:solidFill>
                            <a:srgbClr val="E2211C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사무소</a:t>
                      </a:r>
                      <a:r>
                        <a:rPr lang="en-US" altLang="ko-KR" sz="900" b="0">
                          <a:solidFill>
                            <a:srgbClr val="E2211C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/</a:t>
                      </a:r>
                      <a:r>
                        <a:rPr lang="ko-KR" altLang="en-US" sz="900" b="0">
                          <a:solidFill>
                            <a:srgbClr val="E2211C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법인 등 설립</a:t>
                      </a:r>
                      <a:endParaRPr lang="en-US" altLang="ko-KR" sz="900" b="0">
                        <a:solidFill>
                          <a:srgbClr val="E2211C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b="0" strike="noStrike">
                          <a:solidFill>
                            <a:srgbClr val="E2211C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주관부서</a:t>
                      </a:r>
                      <a:endParaRPr lang="en-US" altLang="ko-KR" sz="900" b="0" strike="noStrike">
                        <a:solidFill>
                          <a:srgbClr val="E2211C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900" b="0" strike="noStrike">
                          <a:solidFill>
                            <a:srgbClr val="E2211C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(</a:t>
                      </a:r>
                      <a:r>
                        <a:rPr lang="ko-KR" altLang="en-US" sz="900" b="0" strike="noStrike">
                          <a:solidFill>
                            <a:srgbClr val="E2211C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미래기획팀</a:t>
                      </a:r>
                      <a:r>
                        <a:rPr lang="en-US" altLang="ko-KR" sz="900" b="0" strike="noStrike">
                          <a:solidFill>
                            <a:srgbClr val="E2211C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b="0" i="0" u="none" strike="noStrike" noProof="0">
                          <a:solidFill>
                            <a:srgbClr val="FF0000"/>
                          </a:solidFill>
                          <a:latin typeface="Noto Sans CJK KR Regular" panose="020B0500000000000000" pitchFamily="34" charset="-127"/>
                          <a:ea typeface="Noto Sans CJK KR Regular"/>
                        </a:rPr>
                        <a:t>최고</a:t>
                      </a: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b="0" i="0" u="none" strike="noStrike" noProof="0">
                          <a:solidFill>
                            <a:srgbClr val="FF0000"/>
                          </a:solidFill>
                          <a:latin typeface="Noto Sans CJK KR Regular" panose="020B0500000000000000" pitchFamily="34" charset="-127"/>
                          <a:ea typeface="Noto Sans CJK KR Regular"/>
                        </a:rPr>
                        <a:t>경영층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8980158"/>
                  </a:ext>
                </a:extLst>
              </a:tr>
              <a:tr h="69841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기존사업 철회</a:t>
                      </a:r>
                      <a:endParaRPr lang="en-US" altLang="ko-KR" sz="9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b="0" strike="noStrike">
                          <a:solidFill>
                            <a:srgbClr val="FF0000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주관부서</a:t>
                      </a:r>
                      <a:endParaRPr lang="en-US" altLang="ko-KR" sz="900" b="0" strike="noStrike">
                        <a:solidFill>
                          <a:srgbClr val="FF0000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900" b="0" strike="noStrike">
                          <a:solidFill>
                            <a:srgbClr val="FF0000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(</a:t>
                      </a:r>
                      <a:r>
                        <a:rPr lang="ko-KR" altLang="en-US" sz="900" b="0" strike="noStrike">
                          <a:solidFill>
                            <a:srgbClr val="FF0000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미래기획팀</a:t>
                      </a:r>
                      <a:r>
                        <a:rPr lang="en-US" altLang="ko-KR" sz="900" b="0" strike="noStrike">
                          <a:solidFill>
                            <a:srgbClr val="FF0000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)</a:t>
                      </a:r>
                      <a:endParaRPr lang="en-US" altLang="ko-KR" sz="9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b="0" i="0" u="none" strike="noStrike" noProof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/>
                        </a:rPr>
                        <a:t>최고</a:t>
                      </a:r>
                      <a:endParaRPr lang="ko-KR" sz="900" b="0" i="0" u="none" strike="noStrike" noProof="0">
                        <a:solidFill>
                          <a:srgbClr val="000000"/>
                        </a:solidFill>
                        <a:latin typeface="Noto Sans CJK KR Regular" panose="020B0500000000000000" pitchFamily="34" charset="-127"/>
                        <a:ea typeface="Noto Sans CJK KR Regular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b="0" i="0" u="none" strike="noStrike" noProof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/>
                        </a:rPr>
                        <a:t>경영층</a:t>
                      </a:r>
                      <a:endParaRPr lang="ko-KR" sz="900" b="0" i="0" u="none" strike="noStrike" noProof="0">
                        <a:solidFill>
                          <a:srgbClr val="000000"/>
                        </a:solidFill>
                        <a:latin typeface="Noto Sans CJK KR Regular" panose="020B0500000000000000" pitchFamily="34" charset="-127"/>
                        <a:ea typeface="Noto Sans CJK KR Regular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5315263"/>
                  </a:ext>
                </a:extLst>
              </a:tr>
              <a:tr h="69841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합작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, 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합병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, </a:t>
                      </a:r>
                      <a:r>
                        <a:rPr lang="ko-KR" altLang="en-US" sz="900" b="0" strike="sngStrike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신규회사 설립</a:t>
                      </a:r>
                      <a:endParaRPr lang="en-US" altLang="ko-KR" sz="900" b="0" strike="sngStrike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b="0" strike="noStrike">
                          <a:solidFill>
                            <a:srgbClr val="FF0000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주관부서</a:t>
                      </a:r>
                      <a:endParaRPr lang="en-US" altLang="ko-KR" sz="900" b="0" strike="noStrike">
                        <a:solidFill>
                          <a:srgbClr val="FF0000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900" b="0" strike="noStrike">
                          <a:solidFill>
                            <a:srgbClr val="FF0000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(</a:t>
                      </a:r>
                      <a:r>
                        <a:rPr lang="ko-KR" altLang="en-US" sz="900" b="0" strike="noStrike">
                          <a:solidFill>
                            <a:srgbClr val="FF0000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미래기획팀</a:t>
                      </a:r>
                      <a:r>
                        <a:rPr lang="en-US" altLang="ko-KR" sz="900" b="0" strike="noStrike">
                          <a:solidFill>
                            <a:srgbClr val="FF0000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)</a:t>
                      </a:r>
                      <a:endParaRPr lang="en-US" altLang="ko-KR" sz="9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b="0" i="0" u="none" strike="noStrike" noProof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/>
                        </a:rPr>
                        <a:t>최고</a:t>
                      </a:r>
                      <a:endParaRPr lang="ko-KR" sz="900" b="0" i="0" u="none" strike="noStrike" noProof="0">
                        <a:solidFill>
                          <a:srgbClr val="000000"/>
                        </a:solidFill>
                        <a:latin typeface="Noto Sans CJK KR Regular" panose="020B0500000000000000" pitchFamily="34" charset="-127"/>
                        <a:ea typeface="Noto Sans CJK KR Regular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b="0" i="0" u="none" strike="noStrike" noProof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/>
                        </a:rPr>
                        <a:t>경영층</a:t>
                      </a:r>
                      <a:endParaRPr lang="ko-KR" sz="900" b="0" i="0" u="none" strike="noStrike" noProof="0">
                        <a:solidFill>
                          <a:srgbClr val="000000"/>
                        </a:solidFill>
                        <a:latin typeface="Noto Sans CJK KR Regular" panose="020B0500000000000000" pitchFamily="34" charset="-127"/>
                        <a:ea typeface="Noto Sans CJK KR Regular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8733251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96E90BBE-3134-319E-4EA5-16CB0FF3C6DC}"/>
              </a:ext>
            </a:extLst>
          </p:cNvPr>
          <p:cNvSpPr txBox="1"/>
          <p:nvPr/>
        </p:nvSpPr>
        <p:spPr>
          <a:xfrm>
            <a:off x="9263707" y="961532"/>
            <a:ext cx="9821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[</a:t>
            </a:r>
            <a:r>
              <a:rPr lang="ko-KR" altLang="en-US" sz="1200" b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업무전결</a:t>
            </a:r>
            <a:r>
              <a:rPr lang="en-US" altLang="ko-KR" sz="1200" b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]</a:t>
            </a:r>
            <a:endParaRPr lang="ko-KR" altLang="en-US" sz="1200" b="1"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141939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>
            <a:extLst>
              <a:ext uri="{FF2B5EF4-FFF2-40B4-BE49-F238E27FC236}">
                <a16:creationId xmlns:a16="http://schemas.microsoft.com/office/drawing/2014/main" id="{C9E6F70B-7D36-5DA9-4C9A-6AE3AC1D6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18" y="291827"/>
            <a:ext cx="8505276" cy="360362"/>
          </a:xfrm>
        </p:spPr>
        <p:txBody>
          <a:bodyPr/>
          <a:lstStyle/>
          <a:p>
            <a:r>
              <a:rPr lang="ko-KR" altLang="en-US" b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해외진출 검토 프로세스 </a:t>
            </a:r>
            <a:r>
              <a:rPr lang="en-US" altLang="ko-KR" b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2</a:t>
            </a:r>
            <a:r>
              <a:rPr lang="ko-KR" altLang="en-US" b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단계</a:t>
            </a:r>
            <a:endParaRPr lang="ko-KR" altLang="en-US" sz="1500" b="0"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400F8C6E-0BB2-A5BB-6C15-5544B4C0D0D0}"/>
              </a:ext>
            </a:extLst>
          </p:cNvPr>
          <p:cNvCxnSpPr>
            <a:cxnSpLocks/>
            <a:stCxn id="25" idx="3"/>
            <a:endCxn id="30" idx="1"/>
          </p:cNvCxnSpPr>
          <p:nvPr/>
        </p:nvCxnSpPr>
        <p:spPr>
          <a:xfrm>
            <a:off x="4213733" y="1855426"/>
            <a:ext cx="370548" cy="14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C8733107-1EA8-FB6D-33F2-E33108EBAC64}"/>
              </a:ext>
            </a:extLst>
          </p:cNvPr>
          <p:cNvSpPr/>
          <p:nvPr/>
        </p:nvSpPr>
        <p:spPr>
          <a:xfrm>
            <a:off x="914402" y="1621426"/>
            <a:ext cx="551772" cy="975584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국내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759A463-34B2-6086-D93F-EDE0E31F7BE2}"/>
              </a:ext>
            </a:extLst>
          </p:cNvPr>
          <p:cNvSpPr/>
          <p:nvPr/>
        </p:nvSpPr>
        <p:spPr>
          <a:xfrm>
            <a:off x="2969179" y="1277834"/>
            <a:ext cx="1260000" cy="27880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1</a:t>
            </a:r>
            <a:r>
              <a:rPr lang="ko-KR" altLang="en-US" sz="110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단계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D564A1F4-6C97-9881-7C6D-41CD3EE5F116}"/>
              </a:ext>
            </a:extLst>
          </p:cNvPr>
          <p:cNvSpPr/>
          <p:nvPr/>
        </p:nvSpPr>
        <p:spPr>
          <a:xfrm>
            <a:off x="2953733" y="1621426"/>
            <a:ext cx="1260000" cy="468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>
                <a:solidFill>
                  <a:sysClr val="windowText" lastClr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중장기 사업</a:t>
            </a:r>
            <a:endParaRPr lang="en-US" altLang="ko-KR" sz="1050">
              <a:solidFill>
                <a:sysClr val="windowText" lastClr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  <a:p>
            <a:pPr algn="ctr"/>
            <a:r>
              <a:rPr lang="ko-KR" altLang="en-US" sz="1050">
                <a:solidFill>
                  <a:sysClr val="windowText" lastClr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전략 수립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53DCF8B9-0230-AB14-490E-A1AC7233F210}"/>
              </a:ext>
            </a:extLst>
          </p:cNvPr>
          <p:cNvSpPr/>
          <p:nvPr/>
        </p:nvSpPr>
        <p:spPr>
          <a:xfrm>
            <a:off x="4595286" y="1273299"/>
            <a:ext cx="1260000" cy="27880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2</a:t>
            </a:r>
            <a:r>
              <a:rPr lang="ko-KR" altLang="en-US" sz="110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단계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4881554-6EF6-7AE8-A6EF-9957951D27CB}"/>
              </a:ext>
            </a:extLst>
          </p:cNvPr>
          <p:cNvSpPr/>
          <p:nvPr/>
        </p:nvSpPr>
        <p:spPr>
          <a:xfrm>
            <a:off x="6212514" y="1273299"/>
            <a:ext cx="1260000" cy="27880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3</a:t>
            </a:r>
            <a:r>
              <a:rPr lang="ko-KR" altLang="en-US" sz="110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단계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DA7B484-3D1F-B93B-DE12-3915444E5BD7}"/>
              </a:ext>
            </a:extLst>
          </p:cNvPr>
          <p:cNvSpPr/>
          <p:nvPr/>
        </p:nvSpPr>
        <p:spPr>
          <a:xfrm>
            <a:off x="7838620" y="1273299"/>
            <a:ext cx="1260000" cy="27880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4</a:t>
            </a:r>
            <a:r>
              <a:rPr lang="ko-KR" altLang="en-US" sz="110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단계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5A1135E-0567-EF36-97AF-F1FAEEEA6293}"/>
              </a:ext>
            </a:extLst>
          </p:cNvPr>
          <p:cNvSpPr/>
          <p:nvPr/>
        </p:nvSpPr>
        <p:spPr>
          <a:xfrm>
            <a:off x="9464726" y="1268824"/>
            <a:ext cx="1260000" cy="27880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5</a:t>
            </a:r>
            <a:r>
              <a:rPr lang="ko-KR" altLang="en-US" sz="110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단계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9071E43B-6315-8C5B-F351-D0A344673529}"/>
              </a:ext>
            </a:extLst>
          </p:cNvPr>
          <p:cNvSpPr/>
          <p:nvPr/>
        </p:nvSpPr>
        <p:spPr>
          <a:xfrm>
            <a:off x="4584281" y="1622833"/>
            <a:ext cx="1260000" cy="468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>
                <a:solidFill>
                  <a:sysClr val="windowText" lastClr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해외투자</a:t>
            </a:r>
            <a:endParaRPr lang="en-US" altLang="ko-KR" sz="1050">
              <a:solidFill>
                <a:sysClr val="windowText" lastClr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  <a:p>
            <a:pPr algn="ctr"/>
            <a:r>
              <a:rPr lang="ko-KR" altLang="en-US" sz="1050">
                <a:solidFill>
                  <a:sysClr val="windowText" lastClr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계획 확정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635BEE76-F137-58DC-A07B-A23DE762C5E0}"/>
              </a:ext>
            </a:extLst>
          </p:cNvPr>
          <p:cNvSpPr/>
          <p:nvPr/>
        </p:nvSpPr>
        <p:spPr>
          <a:xfrm>
            <a:off x="6213615" y="1621426"/>
            <a:ext cx="1260000" cy="468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ysClr val="windowText" lastClr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해외직접투자</a:t>
            </a:r>
            <a:endParaRPr lang="en-US" altLang="ko-KR" sz="1000">
              <a:solidFill>
                <a:sysClr val="windowText" lastClr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  <a:p>
            <a:pPr algn="ctr"/>
            <a:r>
              <a:rPr lang="ko-KR" altLang="en-US" sz="1000">
                <a:solidFill>
                  <a:sysClr val="windowText" lastClr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신고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B46F7E38-79B2-8EDB-16CA-E9087748EEDA}"/>
              </a:ext>
            </a:extLst>
          </p:cNvPr>
          <p:cNvSpPr/>
          <p:nvPr/>
        </p:nvSpPr>
        <p:spPr>
          <a:xfrm>
            <a:off x="7839721" y="1622833"/>
            <a:ext cx="1260000" cy="468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>
                <a:solidFill>
                  <a:sysClr val="windowText" lastClr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주재원 파견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8DB7B240-64B6-67CB-DAF2-41602D40D1EB}"/>
              </a:ext>
            </a:extLst>
          </p:cNvPr>
          <p:cNvSpPr/>
          <p:nvPr/>
        </p:nvSpPr>
        <p:spPr>
          <a:xfrm>
            <a:off x="9465827" y="1621426"/>
            <a:ext cx="1260000" cy="468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>
                <a:solidFill>
                  <a:sysClr val="windowText" lastClr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투자자금</a:t>
            </a:r>
            <a:endParaRPr lang="en-US" altLang="ko-KR" sz="1050">
              <a:solidFill>
                <a:sysClr val="windowText" lastClr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  <a:p>
            <a:pPr algn="ctr"/>
            <a:r>
              <a:rPr lang="ko-KR" altLang="en-US" sz="1050">
                <a:solidFill>
                  <a:sysClr val="windowText" lastClr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송금</a:t>
            </a:r>
          </a:p>
        </p:txBody>
      </p: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C5C97B27-90AD-3CAB-2C82-080761B92028}"/>
              </a:ext>
            </a:extLst>
          </p:cNvPr>
          <p:cNvCxnSpPr>
            <a:cxnSpLocks/>
            <a:stCxn id="30" idx="3"/>
            <a:endCxn id="31" idx="1"/>
          </p:cNvCxnSpPr>
          <p:nvPr/>
        </p:nvCxnSpPr>
        <p:spPr>
          <a:xfrm flipV="1">
            <a:off x="5844281" y="1855426"/>
            <a:ext cx="369334" cy="14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C63446CD-FE56-FA96-20DB-D584E5CB3937}"/>
              </a:ext>
            </a:extLst>
          </p:cNvPr>
          <p:cNvCxnSpPr>
            <a:cxnSpLocks/>
            <a:stCxn id="31" idx="3"/>
            <a:endCxn id="32" idx="1"/>
          </p:cNvCxnSpPr>
          <p:nvPr/>
        </p:nvCxnSpPr>
        <p:spPr>
          <a:xfrm>
            <a:off x="7473615" y="1855426"/>
            <a:ext cx="366106" cy="14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DCB2D24D-571D-A204-5489-F5AF07AE1815}"/>
              </a:ext>
            </a:extLst>
          </p:cNvPr>
          <p:cNvCxnSpPr>
            <a:cxnSpLocks/>
            <a:stCxn id="32" idx="3"/>
            <a:endCxn id="33" idx="1"/>
          </p:cNvCxnSpPr>
          <p:nvPr/>
        </p:nvCxnSpPr>
        <p:spPr>
          <a:xfrm flipV="1">
            <a:off x="9099721" y="1855426"/>
            <a:ext cx="366106" cy="14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9D1F876C-1FBB-A28E-F481-9F08EA98C5BF}"/>
              </a:ext>
            </a:extLst>
          </p:cNvPr>
          <p:cNvCxnSpPr>
            <a:cxnSpLocks/>
            <a:stCxn id="48" idx="3"/>
            <a:endCxn id="53" idx="1"/>
          </p:cNvCxnSpPr>
          <p:nvPr/>
        </p:nvCxnSpPr>
        <p:spPr>
          <a:xfrm>
            <a:off x="4240367" y="3588059"/>
            <a:ext cx="370548" cy="14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BB47F7AC-C880-5512-B173-871A6CD8228E}"/>
              </a:ext>
            </a:extLst>
          </p:cNvPr>
          <p:cNvSpPr/>
          <p:nvPr/>
        </p:nvSpPr>
        <p:spPr>
          <a:xfrm>
            <a:off x="914402" y="2981192"/>
            <a:ext cx="551772" cy="283990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해외</a:t>
            </a:r>
            <a:endParaRPr lang="en-US" altLang="ko-KR" sz="1100"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CDF6133C-4C46-74F7-6240-A957D974B250}"/>
              </a:ext>
            </a:extLst>
          </p:cNvPr>
          <p:cNvSpPr/>
          <p:nvPr/>
        </p:nvSpPr>
        <p:spPr>
          <a:xfrm>
            <a:off x="2995813" y="3010467"/>
            <a:ext cx="1260000" cy="27880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1</a:t>
            </a:r>
            <a:r>
              <a:rPr lang="ko-KR" altLang="en-US" sz="110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단계</a:t>
            </a: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CF2E50CB-4B2B-D052-0867-18E2135AD9D8}"/>
              </a:ext>
            </a:extLst>
          </p:cNvPr>
          <p:cNvSpPr/>
          <p:nvPr/>
        </p:nvSpPr>
        <p:spPr>
          <a:xfrm>
            <a:off x="2980367" y="3354059"/>
            <a:ext cx="1260000" cy="468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>
                <a:solidFill>
                  <a:sysClr val="windowText" lastClr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투자허가</a:t>
            </a:r>
            <a:endParaRPr lang="en-US" altLang="ko-KR" sz="1050">
              <a:solidFill>
                <a:sysClr val="windowText" lastClr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  <a:p>
            <a:pPr algn="ctr"/>
            <a:r>
              <a:rPr lang="ko-KR" altLang="en-US" sz="1050">
                <a:solidFill>
                  <a:sysClr val="windowText" lastClr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취득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D5B1ED5B-051B-6AF5-516B-3E21454E1044}"/>
              </a:ext>
            </a:extLst>
          </p:cNvPr>
          <p:cNvSpPr/>
          <p:nvPr/>
        </p:nvSpPr>
        <p:spPr>
          <a:xfrm>
            <a:off x="4621920" y="3005932"/>
            <a:ext cx="1260000" cy="27880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2</a:t>
            </a:r>
            <a:r>
              <a:rPr lang="ko-KR" altLang="en-US" sz="110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단계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2C6E1352-21DB-4B22-3042-8EE9FF924128}"/>
              </a:ext>
            </a:extLst>
          </p:cNvPr>
          <p:cNvSpPr/>
          <p:nvPr/>
        </p:nvSpPr>
        <p:spPr>
          <a:xfrm>
            <a:off x="6239148" y="3005932"/>
            <a:ext cx="1260000" cy="27880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3</a:t>
            </a:r>
            <a:r>
              <a:rPr lang="ko-KR" altLang="en-US" sz="110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단계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3BB59514-925E-7DBB-0B74-35553E1F9424}"/>
              </a:ext>
            </a:extLst>
          </p:cNvPr>
          <p:cNvSpPr/>
          <p:nvPr/>
        </p:nvSpPr>
        <p:spPr>
          <a:xfrm>
            <a:off x="7865254" y="3005932"/>
            <a:ext cx="1260000" cy="27880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4</a:t>
            </a:r>
            <a:r>
              <a:rPr lang="ko-KR" altLang="en-US" sz="110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단계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F3DB63F4-706A-8713-4C78-9883DC36E635}"/>
              </a:ext>
            </a:extLst>
          </p:cNvPr>
          <p:cNvSpPr/>
          <p:nvPr/>
        </p:nvSpPr>
        <p:spPr>
          <a:xfrm>
            <a:off x="9491360" y="3001457"/>
            <a:ext cx="1260000" cy="27880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5</a:t>
            </a:r>
            <a:r>
              <a:rPr lang="ko-KR" altLang="en-US" sz="110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단계</a:t>
            </a: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4C4BFA79-44B7-3A9A-A2F5-4E995A1EC91F}"/>
              </a:ext>
            </a:extLst>
          </p:cNvPr>
          <p:cNvSpPr/>
          <p:nvPr/>
        </p:nvSpPr>
        <p:spPr>
          <a:xfrm>
            <a:off x="4610915" y="3355466"/>
            <a:ext cx="1260000" cy="468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>
                <a:solidFill>
                  <a:sysClr val="windowText" lastClr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법인설립</a:t>
            </a:r>
            <a:endParaRPr lang="en-US" altLang="ko-KR" sz="1050">
              <a:solidFill>
                <a:sysClr val="windowText" lastClr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  <a:p>
            <a:pPr algn="ctr"/>
            <a:r>
              <a:rPr lang="en-US" altLang="ko-KR" sz="1050">
                <a:solidFill>
                  <a:sysClr val="windowText" lastClr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(</a:t>
            </a:r>
            <a:r>
              <a:rPr lang="ko-KR" altLang="en-US" sz="1050">
                <a:solidFill>
                  <a:sysClr val="windowText" lastClr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신설</a:t>
            </a:r>
            <a:r>
              <a:rPr lang="en-US" altLang="ko-KR" sz="1050">
                <a:solidFill>
                  <a:sysClr val="windowText" lastClr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/M&amp;A)</a:t>
            </a:r>
            <a:endParaRPr lang="ko-KR" altLang="en-US" sz="1050">
              <a:solidFill>
                <a:sysClr val="windowText" lastClr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7C7EF783-42DA-1F4D-265B-179556190755}"/>
              </a:ext>
            </a:extLst>
          </p:cNvPr>
          <p:cNvSpPr/>
          <p:nvPr/>
        </p:nvSpPr>
        <p:spPr>
          <a:xfrm>
            <a:off x="6240249" y="3354059"/>
            <a:ext cx="1260000" cy="468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>
                <a:solidFill>
                  <a:sysClr val="windowText" lastClr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공장건축</a:t>
            </a:r>
            <a:endParaRPr lang="en-US" altLang="ko-KR" sz="1050">
              <a:solidFill>
                <a:sysClr val="windowText" lastClr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D6074DA6-A1DA-E761-6F08-5B5FF86C644F}"/>
              </a:ext>
            </a:extLst>
          </p:cNvPr>
          <p:cNvSpPr/>
          <p:nvPr/>
        </p:nvSpPr>
        <p:spPr>
          <a:xfrm>
            <a:off x="7866355" y="3355466"/>
            <a:ext cx="1260000" cy="468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>
                <a:solidFill>
                  <a:sysClr val="windowText" lastClr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핵심인력</a:t>
            </a:r>
            <a:endParaRPr lang="en-US" altLang="ko-KR" sz="1050">
              <a:solidFill>
                <a:sysClr val="windowText" lastClr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  <a:p>
            <a:pPr algn="ctr"/>
            <a:r>
              <a:rPr lang="ko-KR" altLang="en-US" sz="1050">
                <a:solidFill>
                  <a:sysClr val="windowText" lastClr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채용 및 교육</a:t>
            </a: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E4D519EA-A345-EE8D-D4FF-3D79A4249FE2}"/>
              </a:ext>
            </a:extLst>
          </p:cNvPr>
          <p:cNvSpPr/>
          <p:nvPr/>
        </p:nvSpPr>
        <p:spPr>
          <a:xfrm>
            <a:off x="9492461" y="3354059"/>
            <a:ext cx="1260000" cy="468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>
                <a:solidFill>
                  <a:sysClr val="windowText" lastClr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공장운영</a:t>
            </a:r>
            <a:endParaRPr lang="en-US" altLang="ko-KR" sz="1050">
              <a:solidFill>
                <a:sysClr val="windowText" lastClr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  <a:p>
            <a:pPr algn="ctr"/>
            <a:r>
              <a:rPr lang="ko-KR" altLang="en-US" sz="1050">
                <a:solidFill>
                  <a:sysClr val="windowText" lastClr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기준 수립</a:t>
            </a:r>
          </a:p>
        </p:txBody>
      </p: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A2208C94-34D9-7348-AB9E-18678FFEDEE5}"/>
              </a:ext>
            </a:extLst>
          </p:cNvPr>
          <p:cNvCxnSpPr>
            <a:cxnSpLocks/>
            <a:stCxn id="53" idx="3"/>
            <a:endCxn id="54" idx="1"/>
          </p:cNvCxnSpPr>
          <p:nvPr/>
        </p:nvCxnSpPr>
        <p:spPr>
          <a:xfrm flipV="1">
            <a:off x="5870915" y="3588059"/>
            <a:ext cx="369334" cy="14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7EFD5FA5-D594-E23B-B8D0-EE7E6E257BB2}"/>
              </a:ext>
            </a:extLst>
          </p:cNvPr>
          <p:cNvCxnSpPr>
            <a:cxnSpLocks/>
            <a:stCxn id="54" idx="3"/>
            <a:endCxn id="55" idx="1"/>
          </p:cNvCxnSpPr>
          <p:nvPr/>
        </p:nvCxnSpPr>
        <p:spPr>
          <a:xfrm>
            <a:off x="7500249" y="3588059"/>
            <a:ext cx="366106" cy="14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8EFC3A1E-A9A8-A105-C1E6-613B9F2BE2FF}"/>
              </a:ext>
            </a:extLst>
          </p:cNvPr>
          <p:cNvCxnSpPr>
            <a:cxnSpLocks/>
            <a:stCxn id="55" idx="3"/>
            <a:endCxn id="56" idx="1"/>
          </p:cNvCxnSpPr>
          <p:nvPr/>
        </p:nvCxnSpPr>
        <p:spPr>
          <a:xfrm flipV="1">
            <a:off x="9126355" y="3588059"/>
            <a:ext cx="366106" cy="14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25D7BAAC-2D78-6D9D-CC5E-6D753DAFECA3}"/>
              </a:ext>
            </a:extLst>
          </p:cNvPr>
          <p:cNvCxnSpPr>
            <a:cxnSpLocks/>
            <a:stCxn id="62" idx="3"/>
            <a:endCxn id="67" idx="1"/>
          </p:cNvCxnSpPr>
          <p:nvPr/>
        </p:nvCxnSpPr>
        <p:spPr>
          <a:xfrm>
            <a:off x="4240367" y="4519052"/>
            <a:ext cx="370548" cy="14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8C3F7C76-6E0E-BC4D-5188-087FA840BDCF}"/>
              </a:ext>
            </a:extLst>
          </p:cNvPr>
          <p:cNvSpPr/>
          <p:nvPr/>
        </p:nvSpPr>
        <p:spPr>
          <a:xfrm>
            <a:off x="2995813" y="3941460"/>
            <a:ext cx="1260000" cy="27880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6</a:t>
            </a:r>
            <a:r>
              <a:rPr lang="ko-KR" altLang="en-US" sz="110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단계</a:t>
            </a: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4F49C196-DE33-1E58-EFC6-7A1383B2FF84}"/>
              </a:ext>
            </a:extLst>
          </p:cNvPr>
          <p:cNvSpPr/>
          <p:nvPr/>
        </p:nvSpPr>
        <p:spPr>
          <a:xfrm>
            <a:off x="2980367" y="4285052"/>
            <a:ext cx="1260000" cy="468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>
                <a:solidFill>
                  <a:sysClr val="windowText" lastClr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건축 완료</a:t>
            </a:r>
            <a:endParaRPr lang="en-US" altLang="ko-KR" sz="1050">
              <a:solidFill>
                <a:sysClr val="windowText" lastClr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  <a:p>
            <a:pPr algn="ctr"/>
            <a:r>
              <a:rPr lang="ko-KR" altLang="en-US" sz="1050">
                <a:solidFill>
                  <a:sysClr val="windowText" lastClr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설비 설치</a:t>
            </a: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41DDFE5F-5031-F825-8EB5-AE25123CE72F}"/>
              </a:ext>
            </a:extLst>
          </p:cNvPr>
          <p:cNvSpPr/>
          <p:nvPr/>
        </p:nvSpPr>
        <p:spPr>
          <a:xfrm>
            <a:off x="4621920" y="3936925"/>
            <a:ext cx="1260000" cy="27880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7</a:t>
            </a:r>
            <a:r>
              <a:rPr lang="ko-KR" altLang="en-US" sz="110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단계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C02861BA-1CEB-9F85-05EC-0215D54429FD}"/>
              </a:ext>
            </a:extLst>
          </p:cNvPr>
          <p:cNvSpPr/>
          <p:nvPr/>
        </p:nvSpPr>
        <p:spPr>
          <a:xfrm>
            <a:off x="6239148" y="3936925"/>
            <a:ext cx="1260000" cy="27880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8</a:t>
            </a:r>
            <a:r>
              <a:rPr lang="ko-KR" altLang="en-US" sz="110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단계</a:t>
            </a: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3900890F-86B6-1A7B-B291-AA543B58C318}"/>
              </a:ext>
            </a:extLst>
          </p:cNvPr>
          <p:cNvSpPr/>
          <p:nvPr/>
        </p:nvSpPr>
        <p:spPr>
          <a:xfrm>
            <a:off x="7865254" y="3936925"/>
            <a:ext cx="1260000" cy="27880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9</a:t>
            </a:r>
            <a:r>
              <a:rPr lang="ko-KR" altLang="en-US" sz="110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단계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FA4504CE-F2E7-7B46-59FD-9F3285CE6547}"/>
              </a:ext>
            </a:extLst>
          </p:cNvPr>
          <p:cNvSpPr/>
          <p:nvPr/>
        </p:nvSpPr>
        <p:spPr>
          <a:xfrm>
            <a:off x="9491360" y="3932450"/>
            <a:ext cx="1260000" cy="27880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10</a:t>
            </a:r>
            <a:r>
              <a:rPr lang="ko-KR" altLang="en-US" sz="110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단계</a:t>
            </a:r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5AE3B010-87A1-EE9B-08A7-8D69FBBA9A66}"/>
              </a:ext>
            </a:extLst>
          </p:cNvPr>
          <p:cNvSpPr/>
          <p:nvPr/>
        </p:nvSpPr>
        <p:spPr>
          <a:xfrm>
            <a:off x="4610915" y="4286459"/>
            <a:ext cx="1260000" cy="468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>
                <a:solidFill>
                  <a:sysClr val="windowText" lastClr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일반 인력</a:t>
            </a:r>
            <a:endParaRPr lang="en-US" altLang="ko-KR" sz="1050">
              <a:solidFill>
                <a:sysClr val="windowText" lastClr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  <a:p>
            <a:pPr algn="ctr"/>
            <a:r>
              <a:rPr lang="ko-KR" altLang="en-US" sz="1050">
                <a:solidFill>
                  <a:sysClr val="windowText" lastClr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채용 및 교육</a:t>
            </a:r>
          </a:p>
        </p:txBody>
      </p: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97CC9DDF-6C08-C0FD-1925-8AFD3CB96297}"/>
              </a:ext>
            </a:extLst>
          </p:cNvPr>
          <p:cNvSpPr/>
          <p:nvPr/>
        </p:nvSpPr>
        <p:spPr>
          <a:xfrm>
            <a:off x="6240249" y="4285052"/>
            <a:ext cx="1260000" cy="468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>
                <a:solidFill>
                  <a:sysClr val="windowText" lastClr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공장 건축</a:t>
            </a:r>
            <a:endParaRPr lang="en-US" altLang="ko-KR" sz="1050">
              <a:solidFill>
                <a:sysClr val="windowText" lastClr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  <a:p>
            <a:pPr algn="ctr"/>
            <a:r>
              <a:rPr lang="ko-KR" altLang="en-US" sz="1050">
                <a:solidFill>
                  <a:sysClr val="windowText" lastClr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승인 완료</a:t>
            </a:r>
            <a:endParaRPr lang="en-US" altLang="ko-KR" sz="1050">
              <a:solidFill>
                <a:sysClr val="windowText" lastClr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55AEE5B3-32B4-11CB-22F3-F099A6195B0D}"/>
              </a:ext>
            </a:extLst>
          </p:cNvPr>
          <p:cNvSpPr/>
          <p:nvPr/>
        </p:nvSpPr>
        <p:spPr>
          <a:xfrm>
            <a:off x="7866355" y="4286459"/>
            <a:ext cx="1260000" cy="468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>
                <a:solidFill>
                  <a:sysClr val="windowText" lastClr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공장 운영</a:t>
            </a:r>
            <a:endParaRPr lang="en-US" altLang="ko-KR" sz="1050">
              <a:solidFill>
                <a:sysClr val="windowText" lastClr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  <a:p>
            <a:pPr algn="ctr"/>
            <a:r>
              <a:rPr lang="ko-KR" altLang="en-US" sz="1050">
                <a:solidFill>
                  <a:sysClr val="windowText" lastClr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시스템 점검</a:t>
            </a:r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A3B9F828-75FB-871C-8DCE-350521ABF6AF}"/>
              </a:ext>
            </a:extLst>
          </p:cNvPr>
          <p:cNvSpPr/>
          <p:nvPr/>
        </p:nvSpPr>
        <p:spPr>
          <a:xfrm>
            <a:off x="9492461" y="4285052"/>
            <a:ext cx="1260000" cy="468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>
                <a:solidFill>
                  <a:sysClr val="windowText" lastClr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공장 가동</a:t>
            </a:r>
          </a:p>
        </p:txBody>
      </p: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31DC0DB9-1F50-C449-8B0D-8E766AFB5CA0}"/>
              </a:ext>
            </a:extLst>
          </p:cNvPr>
          <p:cNvCxnSpPr>
            <a:cxnSpLocks/>
            <a:stCxn id="67" idx="3"/>
            <a:endCxn id="68" idx="1"/>
          </p:cNvCxnSpPr>
          <p:nvPr/>
        </p:nvCxnSpPr>
        <p:spPr>
          <a:xfrm flipV="1">
            <a:off x="5870915" y="4519052"/>
            <a:ext cx="369334" cy="14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E1B678EF-CF19-2BD3-829A-7116366E12EF}"/>
              </a:ext>
            </a:extLst>
          </p:cNvPr>
          <p:cNvCxnSpPr>
            <a:cxnSpLocks/>
            <a:stCxn id="68" idx="3"/>
            <a:endCxn id="69" idx="1"/>
          </p:cNvCxnSpPr>
          <p:nvPr/>
        </p:nvCxnSpPr>
        <p:spPr>
          <a:xfrm>
            <a:off x="7500249" y="4519052"/>
            <a:ext cx="366106" cy="14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1A5E7A0C-E1AC-FB7D-E102-A856105CF98A}"/>
              </a:ext>
            </a:extLst>
          </p:cNvPr>
          <p:cNvCxnSpPr>
            <a:cxnSpLocks/>
            <a:stCxn id="69" idx="3"/>
            <a:endCxn id="70" idx="1"/>
          </p:cNvCxnSpPr>
          <p:nvPr/>
        </p:nvCxnSpPr>
        <p:spPr>
          <a:xfrm flipV="1">
            <a:off x="9126355" y="4519052"/>
            <a:ext cx="366106" cy="14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TextBox 113">
            <a:extLst>
              <a:ext uri="{FF2B5EF4-FFF2-40B4-BE49-F238E27FC236}">
                <a16:creationId xmlns:a16="http://schemas.microsoft.com/office/drawing/2014/main" id="{8E3ACDB9-37B2-55EB-AAE6-EE31FCD6AC31}"/>
              </a:ext>
            </a:extLst>
          </p:cNvPr>
          <p:cNvSpPr txBox="1"/>
          <p:nvPr/>
        </p:nvSpPr>
        <p:spPr>
          <a:xfrm>
            <a:off x="1527452" y="1621426"/>
            <a:ext cx="1260000" cy="340029"/>
          </a:xfrm>
          <a:prstGeom prst="rect">
            <a:avLst/>
          </a:prstGeom>
          <a:solidFill>
            <a:schemeClr val="tx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법인설립</a:t>
            </a:r>
            <a:endParaRPr lang="en-US" altLang="ko-KR" sz="1200" b="1"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9C90006-E68E-3786-72C5-454F22376017}"/>
              </a:ext>
            </a:extLst>
          </p:cNvPr>
          <p:cNvSpPr txBox="1"/>
          <p:nvPr/>
        </p:nvSpPr>
        <p:spPr>
          <a:xfrm>
            <a:off x="1466174" y="5811716"/>
            <a:ext cx="9728701" cy="2987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00" b="1">
                <a:solidFill>
                  <a:srgbClr val="FF0000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AM</a:t>
            </a:r>
            <a:r>
              <a:rPr lang="ko-KR" altLang="en-US" sz="1000" b="1">
                <a:solidFill>
                  <a:srgbClr val="FF0000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의 경우 대리점을 통한 현지 조사 및 환경분석등 시작 권유 → 이후 현장검증을 통해</a:t>
            </a:r>
            <a:r>
              <a:rPr lang="en-US" altLang="ko-KR" sz="1000" b="1">
                <a:solidFill>
                  <a:srgbClr val="FF0000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 AM </a:t>
            </a:r>
            <a:r>
              <a:rPr lang="ko-KR" altLang="en-US" sz="1000" b="1">
                <a:solidFill>
                  <a:srgbClr val="FF0000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지점 </a:t>
            </a:r>
            <a:r>
              <a:rPr lang="en-US" altLang="ko-KR" sz="1000" b="1">
                <a:solidFill>
                  <a:srgbClr val="FF0000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or </a:t>
            </a:r>
            <a:r>
              <a:rPr lang="ko-KR" altLang="en-US" sz="1000" b="1">
                <a:solidFill>
                  <a:srgbClr val="FF0000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법인 설립 검토 진행 </a:t>
            </a:r>
            <a:endParaRPr lang="en-US" altLang="ko-KR" sz="1000" b="1">
              <a:solidFill>
                <a:srgbClr val="FF0000"/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930F3EC7-B5D3-954B-8A47-00CF64A7B72B}"/>
              </a:ext>
            </a:extLst>
          </p:cNvPr>
          <p:cNvSpPr/>
          <p:nvPr/>
        </p:nvSpPr>
        <p:spPr>
          <a:xfrm>
            <a:off x="6213615" y="2129010"/>
            <a:ext cx="1260000" cy="468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ysClr val="windowText" lastClr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지점 및 사무소</a:t>
            </a:r>
            <a:endParaRPr lang="en-US" altLang="ko-KR" sz="1000">
              <a:solidFill>
                <a:sysClr val="windowText" lastClr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  <a:p>
            <a:pPr algn="ctr"/>
            <a:r>
              <a:rPr lang="ko-KR" altLang="en-US" sz="1000">
                <a:solidFill>
                  <a:sysClr val="windowText" lastClr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설치신고</a:t>
            </a:r>
          </a:p>
        </p:txBody>
      </p:sp>
      <p:cxnSp>
        <p:nvCxnSpPr>
          <p:cNvPr id="9" name="연결선: 꺾임 8">
            <a:extLst>
              <a:ext uri="{FF2B5EF4-FFF2-40B4-BE49-F238E27FC236}">
                <a16:creationId xmlns:a16="http://schemas.microsoft.com/office/drawing/2014/main" id="{D2B7C929-855C-0F5E-8A30-7B9215A5E55F}"/>
              </a:ext>
            </a:extLst>
          </p:cNvPr>
          <p:cNvCxnSpPr>
            <a:stCxn id="30" idx="3"/>
            <a:endCxn id="5" idx="1"/>
          </p:cNvCxnSpPr>
          <p:nvPr/>
        </p:nvCxnSpPr>
        <p:spPr>
          <a:xfrm>
            <a:off x="5844281" y="1856833"/>
            <a:ext cx="369334" cy="50617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연결선: 꺾임 9">
            <a:extLst>
              <a:ext uri="{FF2B5EF4-FFF2-40B4-BE49-F238E27FC236}">
                <a16:creationId xmlns:a16="http://schemas.microsoft.com/office/drawing/2014/main" id="{D249E96B-47D8-DBE3-CE31-F218E2B2C45D}"/>
              </a:ext>
            </a:extLst>
          </p:cNvPr>
          <p:cNvCxnSpPr>
            <a:cxnSpLocks/>
            <a:stCxn id="5" idx="3"/>
            <a:endCxn id="32" idx="1"/>
          </p:cNvCxnSpPr>
          <p:nvPr/>
        </p:nvCxnSpPr>
        <p:spPr>
          <a:xfrm flipV="1">
            <a:off x="7473615" y="1856833"/>
            <a:ext cx="366106" cy="50617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417DB485-A76B-A6A0-A617-973188F4273E}"/>
              </a:ext>
            </a:extLst>
          </p:cNvPr>
          <p:cNvSpPr/>
          <p:nvPr/>
        </p:nvSpPr>
        <p:spPr>
          <a:xfrm>
            <a:off x="9464726" y="2129010"/>
            <a:ext cx="1260000" cy="468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>
                <a:solidFill>
                  <a:sysClr val="windowText" lastClr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유지활동비</a:t>
            </a:r>
            <a:endParaRPr lang="en-US" altLang="ko-KR" sz="1050">
              <a:solidFill>
                <a:sysClr val="windowText" lastClr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  <a:p>
            <a:pPr algn="ctr"/>
            <a:r>
              <a:rPr lang="ko-KR" altLang="en-US" sz="1050">
                <a:solidFill>
                  <a:sysClr val="windowText" lastClr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송금</a:t>
            </a:r>
          </a:p>
        </p:txBody>
      </p:sp>
      <p:cxnSp>
        <p:nvCxnSpPr>
          <p:cNvPr id="14" name="연결선: 꺾임 13">
            <a:extLst>
              <a:ext uri="{FF2B5EF4-FFF2-40B4-BE49-F238E27FC236}">
                <a16:creationId xmlns:a16="http://schemas.microsoft.com/office/drawing/2014/main" id="{3C2F781F-52DB-C956-2619-9294C895E1C4}"/>
              </a:ext>
            </a:extLst>
          </p:cNvPr>
          <p:cNvCxnSpPr>
            <a:cxnSpLocks/>
            <a:stCxn id="32" idx="3"/>
            <a:endCxn id="13" idx="1"/>
          </p:cNvCxnSpPr>
          <p:nvPr/>
        </p:nvCxnSpPr>
        <p:spPr>
          <a:xfrm>
            <a:off x="9099721" y="1856833"/>
            <a:ext cx="365005" cy="50617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69C3118-E7F5-9673-4154-6BC853181C43}"/>
              </a:ext>
            </a:extLst>
          </p:cNvPr>
          <p:cNvSpPr txBox="1"/>
          <p:nvPr/>
        </p:nvSpPr>
        <p:spPr>
          <a:xfrm>
            <a:off x="1527452" y="2117307"/>
            <a:ext cx="1426281" cy="340029"/>
          </a:xfrm>
          <a:prstGeom prst="rect">
            <a:avLst/>
          </a:prstGeom>
          <a:solidFill>
            <a:schemeClr val="tx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지점 및 사무소 설립</a:t>
            </a:r>
            <a:endParaRPr lang="en-US" altLang="ko-KR" sz="1200" b="1"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287948F-3E1D-7D9B-1058-ABDBA4622606}"/>
              </a:ext>
            </a:extLst>
          </p:cNvPr>
          <p:cNvSpPr txBox="1"/>
          <p:nvPr/>
        </p:nvSpPr>
        <p:spPr>
          <a:xfrm>
            <a:off x="1527452" y="3407327"/>
            <a:ext cx="1260000" cy="340029"/>
          </a:xfrm>
          <a:prstGeom prst="rect">
            <a:avLst/>
          </a:prstGeom>
          <a:solidFill>
            <a:schemeClr val="tx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법인설립</a:t>
            </a:r>
            <a:endParaRPr lang="en-US" altLang="ko-KR" sz="1200" b="1"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4DE9447-5C94-28F0-F420-2C163E9D18D4}"/>
              </a:ext>
            </a:extLst>
          </p:cNvPr>
          <p:cNvSpPr txBox="1"/>
          <p:nvPr/>
        </p:nvSpPr>
        <p:spPr>
          <a:xfrm>
            <a:off x="1527451" y="5112370"/>
            <a:ext cx="1426281" cy="340029"/>
          </a:xfrm>
          <a:prstGeom prst="rect">
            <a:avLst/>
          </a:prstGeom>
          <a:solidFill>
            <a:schemeClr val="tx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지점 및 사무소 설립</a:t>
            </a:r>
            <a:endParaRPr lang="en-US" altLang="ko-KR" sz="1200" b="1"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AA02A5D1-F9B6-CF9E-AEC5-5D8D6DE6DBD8}"/>
              </a:ext>
            </a:extLst>
          </p:cNvPr>
          <p:cNvCxnSpPr>
            <a:cxnSpLocks/>
            <a:stCxn id="76" idx="3"/>
            <a:endCxn id="80" idx="1"/>
          </p:cNvCxnSpPr>
          <p:nvPr/>
        </p:nvCxnSpPr>
        <p:spPr>
          <a:xfrm>
            <a:off x="4240367" y="5462781"/>
            <a:ext cx="370548" cy="14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0DB31EB4-4897-0A34-34D1-A920F6CEC237}"/>
              </a:ext>
            </a:extLst>
          </p:cNvPr>
          <p:cNvSpPr/>
          <p:nvPr/>
        </p:nvSpPr>
        <p:spPr>
          <a:xfrm>
            <a:off x="2995813" y="4885189"/>
            <a:ext cx="1260000" cy="27880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1</a:t>
            </a:r>
            <a:r>
              <a:rPr lang="ko-KR" altLang="en-US" sz="110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단계</a:t>
            </a:r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2836EAF2-76ED-7767-49B8-62A366C17B14}"/>
              </a:ext>
            </a:extLst>
          </p:cNvPr>
          <p:cNvSpPr/>
          <p:nvPr/>
        </p:nvSpPr>
        <p:spPr>
          <a:xfrm>
            <a:off x="2980367" y="5228781"/>
            <a:ext cx="1260000" cy="468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>
                <a:solidFill>
                  <a:sysClr val="windowText" lastClr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영업허가</a:t>
            </a:r>
            <a:endParaRPr lang="en-US" altLang="ko-KR" sz="1050">
              <a:solidFill>
                <a:sysClr val="windowText" lastClr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  <a:p>
            <a:pPr algn="ctr"/>
            <a:r>
              <a:rPr lang="ko-KR" altLang="en-US" sz="1050">
                <a:solidFill>
                  <a:sysClr val="windowText" lastClr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취득</a:t>
            </a: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CF66514E-D4A3-625F-699C-806C69DA64E6}"/>
              </a:ext>
            </a:extLst>
          </p:cNvPr>
          <p:cNvSpPr/>
          <p:nvPr/>
        </p:nvSpPr>
        <p:spPr>
          <a:xfrm>
            <a:off x="4621920" y="4880654"/>
            <a:ext cx="1260000" cy="27880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2</a:t>
            </a:r>
            <a:r>
              <a:rPr lang="ko-KR" altLang="en-US" sz="110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단계</a:t>
            </a: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86C60459-D1F3-04EB-FA78-C831AB899E93}"/>
              </a:ext>
            </a:extLst>
          </p:cNvPr>
          <p:cNvSpPr/>
          <p:nvPr/>
        </p:nvSpPr>
        <p:spPr>
          <a:xfrm>
            <a:off x="6239148" y="4880654"/>
            <a:ext cx="1260000" cy="27880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3</a:t>
            </a:r>
            <a:r>
              <a:rPr lang="ko-KR" altLang="en-US" sz="110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단계</a:t>
            </a: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25497363-375F-DE47-9BA3-5537C6E134CA}"/>
              </a:ext>
            </a:extLst>
          </p:cNvPr>
          <p:cNvSpPr/>
          <p:nvPr/>
        </p:nvSpPr>
        <p:spPr>
          <a:xfrm>
            <a:off x="7865254" y="4880654"/>
            <a:ext cx="1260000" cy="27880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4</a:t>
            </a:r>
            <a:r>
              <a:rPr lang="ko-KR" altLang="en-US" sz="110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단계</a:t>
            </a:r>
          </a:p>
        </p:txBody>
      </p:sp>
      <p:sp>
        <p:nvSpPr>
          <p:cNvPr id="80" name="사각형: 둥근 모서리 79">
            <a:extLst>
              <a:ext uri="{FF2B5EF4-FFF2-40B4-BE49-F238E27FC236}">
                <a16:creationId xmlns:a16="http://schemas.microsoft.com/office/drawing/2014/main" id="{05A07DCC-3CFC-5C82-4BCC-E576C0E802D4}"/>
              </a:ext>
            </a:extLst>
          </p:cNvPr>
          <p:cNvSpPr/>
          <p:nvPr/>
        </p:nvSpPr>
        <p:spPr>
          <a:xfrm>
            <a:off x="4610915" y="5230188"/>
            <a:ext cx="1260000" cy="468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>
                <a:solidFill>
                  <a:sysClr val="windowText" lastClr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지점 및 사무소</a:t>
            </a:r>
            <a:endParaRPr lang="en-US" altLang="ko-KR" sz="1050">
              <a:solidFill>
                <a:sysClr val="windowText" lastClr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  <a:p>
            <a:pPr algn="ctr"/>
            <a:r>
              <a:rPr lang="ko-KR" altLang="en-US" sz="1050">
                <a:solidFill>
                  <a:sysClr val="windowText" lastClr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설치</a:t>
            </a:r>
          </a:p>
        </p:txBody>
      </p: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A5E8F0A2-5CF9-C9A6-BD70-9F9EA7AD4BA7}"/>
              </a:ext>
            </a:extLst>
          </p:cNvPr>
          <p:cNvSpPr/>
          <p:nvPr/>
        </p:nvSpPr>
        <p:spPr>
          <a:xfrm>
            <a:off x="6240249" y="5228781"/>
            <a:ext cx="1260000" cy="468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>
                <a:solidFill>
                  <a:sysClr val="windowText" lastClr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인력 채용 및 교육</a:t>
            </a:r>
            <a:endParaRPr lang="en-US" altLang="ko-KR" sz="1050">
              <a:solidFill>
                <a:sysClr val="windowText" lastClr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1250EE36-AFB3-1E29-8B48-BA958B2320A4}"/>
              </a:ext>
            </a:extLst>
          </p:cNvPr>
          <p:cNvSpPr/>
          <p:nvPr/>
        </p:nvSpPr>
        <p:spPr>
          <a:xfrm>
            <a:off x="7866355" y="5230188"/>
            <a:ext cx="1260000" cy="468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>
                <a:solidFill>
                  <a:sysClr val="windowText" lastClr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지점 및 사무소</a:t>
            </a:r>
            <a:endParaRPr lang="en-US" altLang="ko-KR" sz="1050">
              <a:solidFill>
                <a:sysClr val="windowText" lastClr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  <a:p>
            <a:pPr algn="ctr"/>
            <a:r>
              <a:rPr lang="ko-KR" altLang="en-US" sz="1050">
                <a:solidFill>
                  <a:sysClr val="windowText" lastClr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가동</a:t>
            </a:r>
          </a:p>
        </p:txBody>
      </p: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543CA516-466D-3866-861A-DB36B54C85E7}"/>
              </a:ext>
            </a:extLst>
          </p:cNvPr>
          <p:cNvCxnSpPr>
            <a:cxnSpLocks/>
            <a:stCxn id="80" idx="3"/>
            <a:endCxn id="81" idx="1"/>
          </p:cNvCxnSpPr>
          <p:nvPr/>
        </p:nvCxnSpPr>
        <p:spPr>
          <a:xfrm flipV="1">
            <a:off x="5870915" y="5462781"/>
            <a:ext cx="369334" cy="14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487ED6F1-D70D-1CEB-9CA1-687E76B084FF}"/>
              </a:ext>
            </a:extLst>
          </p:cNvPr>
          <p:cNvCxnSpPr>
            <a:cxnSpLocks/>
            <a:stCxn id="81" idx="3"/>
            <a:endCxn id="82" idx="1"/>
          </p:cNvCxnSpPr>
          <p:nvPr/>
        </p:nvCxnSpPr>
        <p:spPr>
          <a:xfrm>
            <a:off x="7500249" y="5462781"/>
            <a:ext cx="366106" cy="14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76615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>
            <a:extLst>
              <a:ext uri="{FF2B5EF4-FFF2-40B4-BE49-F238E27FC236}">
                <a16:creationId xmlns:a16="http://schemas.microsoft.com/office/drawing/2014/main" id="{C9E6F70B-7D36-5DA9-4C9A-6AE3AC1D6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18" y="291827"/>
            <a:ext cx="8505276" cy="360362"/>
          </a:xfrm>
        </p:spPr>
        <p:txBody>
          <a:bodyPr/>
          <a:lstStyle/>
          <a:p>
            <a:r>
              <a:rPr lang="ko-KR" altLang="en-US" b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투자정보 조사 체크리스트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0D4B493B-A344-8B56-94A8-1D5FE55931CE}"/>
              </a:ext>
            </a:extLst>
          </p:cNvPr>
          <p:cNvSpPr/>
          <p:nvPr/>
        </p:nvSpPr>
        <p:spPr>
          <a:xfrm>
            <a:off x="1162976" y="1253592"/>
            <a:ext cx="1224000" cy="4680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투자 환경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97A2F00-637F-8B6E-54FE-D042A0C6F22C}"/>
              </a:ext>
            </a:extLst>
          </p:cNvPr>
          <p:cNvSpPr/>
          <p:nvPr/>
        </p:nvSpPr>
        <p:spPr>
          <a:xfrm>
            <a:off x="1162976" y="2169472"/>
            <a:ext cx="1224000" cy="4680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생산 부문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939E6714-EBC2-433C-0E11-6C9CBA4DB374}"/>
              </a:ext>
            </a:extLst>
          </p:cNvPr>
          <p:cNvSpPr/>
          <p:nvPr/>
        </p:nvSpPr>
        <p:spPr>
          <a:xfrm>
            <a:off x="1162976" y="3085352"/>
            <a:ext cx="1224000" cy="4680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판매 부문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4EC8DB7D-B544-88E7-3608-EE5EDAD3EC0E}"/>
              </a:ext>
            </a:extLst>
          </p:cNvPr>
          <p:cNvSpPr/>
          <p:nvPr/>
        </p:nvSpPr>
        <p:spPr>
          <a:xfrm>
            <a:off x="1162976" y="4001232"/>
            <a:ext cx="1224000" cy="4680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일반 환경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14B1E5-4486-182B-4F84-7BCAC4B8E403}"/>
              </a:ext>
            </a:extLst>
          </p:cNvPr>
          <p:cNvSpPr txBox="1"/>
          <p:nvPr/>
        </p:nvSpPr>
        <p:spPr>
          <a:xfrm>
            <a:off x="2869609" y="1317577"/>
            <a:ext cx="9728701" cy="381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b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경제전망</a:t>
            </a:r>
            <a:r>
              <a:rPr lang="en-US" altLang="ko-KR" sz="1400" b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, </a:t>
            </a:r>
            <a:r>
              <a:rPr lang="ko-KR" altLang="en-US" sz="1400" b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투자정책</a:t>
            </a:r>
            <a:r>
              <a:rPr lang="en-US" altLang="ko-KR" sz="1400" b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, </a:t>
            </a:r>
            <a:r>
              <a:rPr lang="ko-KR" altLang="en-US" sz="1400" b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투자절차</a:t>
            </a:r>
            <a:r>
              <a:rPr lang="en-US" altLang="ko-KR" sz="1400" b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, </a:t>
            </a:r>
            <a:r>
              <a:rPr lang="ko-KR" altLang="en-US" sz="1400" b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진출사업</a:t>
            </a:r>
            <a:r>
              <a:rPr lang="en-US" altLang="ko-KR" sz="1400" b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 </a:t>
            </a:r>
            <a:r>
              <a:rPr lang="ko-KR" altLang="en-US" sz="1400" b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세부정보 등</a:t>
            </a:r>
            <a:endParaRPr lang="en-US" altLang="ko-KR" sz="1400" b="1"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4D7F8C-6227-AB75-1134-712340E44973}"/>
              </a:ext>
            </a:extLst>
          </p:cNvPr>
          <p:cNvSpPr txBox="1"/>
          <p:nvPr/>
        </p:nvSpPr>
        <p:spPr>
          <a:xfrm>
            <a:off x="2869608" y="2209102"/>
            <a:ext cx="9728701" cy="381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b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입지</a:t>
            </a:r>
            <a:r>
              <a:rPr lang="en-US" altLang="ko-KR" sz="1400" b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, </a:t>
            </a:r>
            <a:r>
              <a:rPr lang="ko-KR" altLang="en-US" sz="1400" b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노무</a:t>
            </a:r>
            <a:r>
              <a:rPr lang="en-US" altLang="ko-KR" sz="1400" b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, </a:t>
            </a:r>
            <a:r>
              <a:rPr lang="ko-KR" altLang="en-US" sz="1400" b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조세</a:t>
            </a:r>
            <a:r>
              <a:rPr lang="en-US" altLang="ko-KR" sz="1400" b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, </a:t>
            </a:r>
            <a:r>
              <a:rPr lang="ko-KR" altLang="en-US" sz="1400" b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회계</a:t>
            </a:r>
            <a:r>
              <a:rPr lang="en-US" altLang="ko-KR" sz="1400" b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, </a:t>
            </a:r>
            <a:r>
              <a:rPr lang="ko-KR" altLang="en-US" sz="1400" b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제조</a:t>
            </a:r>
            <a:r>
              <a:rPr lang="en-US" altLang="ko-KR" sz="1400" b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, </a:t>
            </a:r>
            <a:r>
              <a:rPr lang="ko-KR" altLang="en-US" sz="1400" b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물류</a:t>
            </a:r>
            <a:r>
              <a:rPr lang="en-US" altLang="ko-KR" sz="1400" b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, </a:t>
            </a:r>
            <a:r>
              <a:rPr lang="ko-KR" altLang="en-US" sz="1400" b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부품</a:t>
            </a:r>
            <a:r>
              <a:rPr lang="en-US" altLang="ko-KR" sz="1400" b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, </a:t>
            </a:r>
            <a:r>
              <a:rPr lang="ko-KR" altLang="en-US" sz="1400" b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금융 등</a:t>
            </a:r>
            <a:endParaRPr lang="en-US" altLang="ko-KR" sz="1400" b="1"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1A34B7-F8BB-A37D-944B-344317325FB3}"/>
              </a:ext>
            </a:extLst>
          </p:cNvPr>
          <p:cNvSpPr txBox="1"/>
          <p:nvPr/>
        </p:nvSpPr>
        <p:spPr>
          <a:xfrm>
            <a:off x="2869607" y="3117464"/>
            <a:ext cx="9728701" cy="381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b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4P (</a:t>
            </a:r>
            <a:r>
              <a:rPr lang="ko-KR" altLang="en-US" sz="1400" b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제품</a:t>
            </a:r>
            <a:r>
              <a:rPr lang="en-US" altLang="ko-KR" sz="1400" b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, </a:t>
            </a:r>
            <a:r>
              <a:rPr lang="ko-KR" altLang="en-US" sz="1400" b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가격</a:t>
            </a:r>
            <a:r>
              <a:rPr lang="en-US" altLang="ko-KR" sz="1400" b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, </a:t>
            </a:r>
            <a:r>
              <a:rPr lang="ko-KR" altLang="en-US" sz="1400" b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유통</a:t>
            </a:r>
            <a:r>
              <a:rPr lang="en-US" altLang="ko-KR" sz="1400" b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, </a:t>
            </a:r>
            <a:r>
              <a:rPr lang="ko-KR" altLang="en-US" sz="1400" b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판촉</a:t>
            </a:r>
            <a:r>
              <a:rPr lang="en-US" altLang="ko-KR" sz="1400" b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EF36C5-0038-A0E1-61B8-16136E63458E}"/>
              </a:ext>
            </a:extLst>
          </p:cNvPr>
          <p:cNvSpPr txBox="1"/>
          <p:nvPr/>
        </p:nvSpPr>
        <p:spPr>
          <a:xfrm>
            <a:off x="2869606" y="4065217"/>
            <a:ext cx="9728701" cy="381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b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국가개요</a:t>
            </a:r>
            <a:r>
              <a:rPr lang="en-US" altLang="ko-KR" sz="1400" b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, </a:t>
            </a:r>
            <a:r>
              <a:rPr lang="ko-KR" altLang="en-US" sz="1400" b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문화</a:t>
            </a:r>
            <a:r>
              <a:rPr lang="en-US" altLang="ko-KR" sz="1400" b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, </a:t>
            </a:r>
            <a:r>
              <a:rPr lang="ko-KR" altLang="en-US" sz="1400" b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한국 진출기업</a:t>
            </a:r>
            <a:r>
              <a:rPr lang="en-US" altLang="ko-KR" sz="1400" b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, </a:t>
            </a:r>
            <a:r>
              <a:rPr lang="ko-KR" altLang="en-US" sz="1400" b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상관습</a:t>
            </a:r>
            <a:r>
              <a:rPr lang="en-US" altLang="ko-KR" sz="1400" b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 </a:t>
            </a:r>
            <a:r>
              <a:rPr lang="ko-KR" altLang="en-US" sz="1400" b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등</a:t>
            </a:r>
            <a:endParaRPr lang="en-US" altLang="ko-KR" sz="1400" b="1"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14C27C-B338-AC02-943C-947F519FFB6E}"/>
              </a:ext>
            </a:extLst>
          </p:cNvPr>
          <p:cNvSpPr txBox="1"/>
          <p:nvPr/>
        </p:nvSpPr>
        <p:spPr>
          <a:xfrm>
            <a:off x="1162976" y="5061154"/>
            <a:ext cx="10480058" cy="6170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b="1">
                <a:solidFill>
                  <a:srgbClr val="FF0000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투자정보</a:t>
            </a:r>
            <a:r>
              <a:rPr lang="en-US" altLang="ko-KR" sz="1200" b="1">
                <a:solidFill>
                  <a:srgbClr val="FF0000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(Check List) </a:t>
            </a:r>
            <a:r>
              <a:rPr lang="ko-KR" altLang="en-US" sz="1200" b="1">
                <a:solidFill>
                  <a:srgbClr val="FF0000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고려시 시장조사 ▶ 사업계획 수립 ▶ 사업성분석</a:t>
            </a:r>
            <a:r>
              <a:rPr lang="en-US" altLang="ko-KR" sz="1200" b="1">
                <a:solidFill>
                  <a:srgbClr val="FF0000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(</a:t>
            </a:r>
            <a:r>
              <a:rPr lang="ko-KR" altLang="en-US" sz="1200" b="1">
                <a:solidFill>
                  <a:srgbClr val="FF0000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향후 </a:t>
            </a:r>
            <a:r>
              <a:rPr lang="en-US" altLang="ko-KR" sz="1200" b="1">
                <a:solidFill>
                  <a:srgbClr val="FF0000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3</a:t>
            </a:r>
            <a:r>
              <a:rPr lang="ko-KR" altLang="en-US" sz="1200" b="1">
                <a:solidFill>
                  <a:srgbClr val="FF0000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년</a:t>
            </a:r>
            <a:r>
              <a:rPr lang="en-US" altLang="ko-KR" sz="1200" b="1">
                <a:solidFill>
                  <a:srgbClr val="FF0000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~5</a:t>
            </a:r>
            <a:r>
              <a:rPr lang="ko-KR" altLang="en-US" sz="1200" b="1">
                <a:solidFill>
                  <a:srgbClr val="FF0000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년</a:t>
            </a:r>
            <a:r>
              <a:rPr lang="en-US" altLang="ko-KR" sz="1200" b="1">
                <a:solidFill>
                  <a:srgbClr val="FF0000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)</a:t>
            </a:r>
            <a:r>
              <a:rPr lang="ko-KR" altLang="en-US" sz="1200" b="1">
                <a:solidFill>
                  <a:srgbClr val="FF0000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이 가능해야 함 </a:t>
            </a:r>
            <a:endParaRPr lang="en-US" altLang="ko-KR" sz="1200" b="1">
              <a:solidFill>
                <a:srgbClr val="FF0000"/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b="1">
                <a:solidFill>
                  <a:srgbClr val="FF0000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사업성 분석시 반드시 </a:t>
            </a:r>
            <a:r>
              <a:rPr lang="ko-KR" altLang="en-US" sz="1200" b="1" u="sng">
                <a:solidFill>
                  <a:srgbClr val="FF0000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긍정적 요서</a:t>
            </a:r>
            <a:r>
              <a:rPr lang="en-US" altLang="ko-KR" sz="1200" b="1" u="sng">
                <a:solidFill>
                  <a:srgbClr val="FF0000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/</a:t>
            </a:r>
            <a:r>
              <a:rPr lang="ko-KR" altLang="en-US" sz="1200" b="1" u="sng">
                <a:solidFill>
                  <a:srgbClr val="FF0000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부정적 요소별</a:t>
            </a:r>
            <a:r>
              <a:rPr lang="ko-KR" altLang="en-US" sz="1200" b="1">
                <a:solidFill>
                  <a:srgbClr val="FF0000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 분석 필수</a:t>
            </a:r>
            <a:endParaRPr lang="en-US" altLang="ko-KR" sz="1200" b="1">
              <a:solidFill>
                <a:srgbClr val="FF0000"/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AE32775-3E88-9363-98FB-8E863193944D}"/>
              </a:ext>
            </a:extLst>
          </p:cNvPr>
          <p:cNvSpPr txBox="1"/>
          <p:nvPr/>
        </p:nvSpPr>
        <p:spPr>
          <a:xfrm>
            <a:off x="1162976" y="4653888"/>
            <a:ext cx="2561871" cy="2987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 b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*</a:t>
            </a:r>
            <a:r>
              <a:rPr lang="ko-KR" altLang="en-US" sz="1000" b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출처 </a:t>
            </a:r>
            <a:r>
              <a:rPr lang="en-US" altLang="ko-KR" sz="1000" b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: KOTRA </a:t>
            </a:r>
            <a:r>
              <a:rPr lang="ko-KR" altLang="en-US" sz="1000" b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해외투자진출종합가이드</a:t>
            </a:r>
            <a:endParaRPr lang="en-US" altLang="ko-KR" sz="1000" b="1"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858759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>
            <a:extLst>
              <a:ext uri="{FF2B5EF4-FFF2-40B4-BE49-F238E27FC236}">
                <a16:creationId xmlns:a16="http://schemas.microsoft.com/office/drawing/2014/main" id="{C9E6F70B-7D36-5DA9-4C9A-6AE3AC1D6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18" y="291827"/>
            <a:ext cx="8505276" cy="360362"/>
          </a:xfrm>
        </p:spPr>
        <p:txBody>
          <a:bodyPr/>
          <a:lstStyle/>
          <a:p>
            <a:r>
              <a:rPr lang="ko-KR" altLang="en-US" b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체크리스트 </a:t>
            </a:r>
            <a:r>
              <a:rPr lang="en-US" altLang="ko-KR" b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_ </a:t>
            </a:r>
            <a:r>
              <a:rPr lang="ko-KR" altLang="en-US" b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일반환경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E590E793-887D-0C74-00DE-D5F3402E92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0714472"/>
              </p:ext>
            </p:extLst>
          </p:nvPr>
        </p:nvGraphicFramePr>
        <p:xfrm>
          <a:off x="917615" y="1278766"/>
          <a:ext cx="10080000" cy="48502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9746">
                  <a:extLst>
                    <a:ext uri="{9D8B030D-6E8A-4147-A177-3AD203B41FA5}">
                      <a16:colId xmlns:a16="http://schemas.microsoft.com/office/drawing/2014/main" val="4272082783"/>
                    </a:ext>
                  </a:extLst>
                </a:gridCol>
                <a:gridCol w="29034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34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03418">
                  <a:extLst>
                    <a:ext uri="{9D8B030D-6E8A-4147-A177-3AD203B41FA5}">
                      <a16:colId xmlns:a16="http://schemas.microsoft.com/office/drawing/2014/main" val="3532531121"/>
                    </a:ext>
                  </a:extLst>
                </a:gridCol>
              </a:tblGrid>
              <a:tr h="3943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중분류</a:t>
                      </a:r>
                    </a:p>
                  </a:txBody>
                  <a:tcPr marL="103866" marR="103866" marT="51933" marB="51933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1</a:t>
                      </a:r>
                      <a:r>
                        <a:rPr lang="ko-KR" altLang="en-US" sz="1100" b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단계</a:t>
                      </a:r>
                      <a:r>
                        <a:rPr lang="en-US" altLang="ko-KR" sz="1100" b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(</a:t>
                      </a:r>
                      <a:r>
                        <a:rPr lang="ko-KR" altLang="en-US" sz="1100" b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시장조사</a:t>
                      </a:r>
                      <a:r>
                        <a:rPr lang="en-US" altLang="ko-KR" sz="1100" b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)</a:t>
                      </a:r>
                      <a:endParaRPr lang="ko-KR" altLang="en-US" sz="1100" b="0">
                        <a:solidFill>
                          <a:schemeClr val="bg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103866" marR="103866" marT="51933" marB="51933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2</a:t>
                      </a:r>
                      <a:r>
                        <a:rPr lang="ko-KR" altLang="en-US" sz="1100" b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단계</a:t>
                      </a:r>
                      <a:r>
                        <a:rPr lang="en-US" altLang="ko-KR" sz="1100" b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(</a:t>
                      </a:r>
                      <a:r>
                        <a:rPr lang="ko-KR" altLang="en-US" sz="1100" b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사업계획 수립</a:t>
                      </a:r>
                      <a:r>
                        <a:rPr lang="en-US" altLang="ko-KR" sz="1100" b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)</a:t>
                      </a:r>
                      <a:endParaRPr lang="ko-KR" altLang="en-US" sz="1100" b="0">
                        <a:solidFill>
                          <a:schemeClr val="bg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103866" marR="103866" marT="51933" marB="51933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3</a:t>
                      </a:r>
                      <a:r>
                        <a:rPr lang="ko-KR" altLang="en-US" sz="1100" b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단계</a:t>
                      </a:r>
                      <a:r>
                        <a:rPr lang="en-US" altLang="ko-KR" sz="1100" b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(</a:t>
                      </a:r>
                      <a:r>
                        <a:rPr lang="ko-KR" altLang="en-US" sz="1100" b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사업성분석</a:t>
                      </a:r>
                      <a:r>
                        <a:rPr lang="en-US" altLang="ko-KR" sz="1100" b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)</a:t>
                      </a:r>
                      <a:endParaRPr lang="ko-KR" altLang="en-US" sz="1100" b="0">
                        <a:solidFill>
                          <a:schemeClr val="bg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103866" marR="103866" marT="51933" marB="51933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794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법인형태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103866" marR="103866" marT="51933" marB="51933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lvl="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해외지점 투자 조건 충족여부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171450" lvl="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해외사무소 투자 조건 충족여부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171450" lvl="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법인형태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, 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설립절차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, 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비용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, 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해당관청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171450" lvl="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법인형태별 장단점 분석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171450" lvl="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법인 철수절차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171450" lvl="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0">
                          <a:solidFill>
                            <a:srgbClr val="FF0000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Mother company Guarantee</a:t>
                      </a:r>
                    </a:p>
                    <a:p>
                      <a:pPr marL="0" lvl="0" indent="0" algn="l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0">
                          <a:solidFill>
                            <a:srgbClr val="FF0000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     (</a:t>
                      </a:r>
                      <a:r>
                        <a:rPr lang="ko-KR" altLang="en-US" sz="1000" b="0">
                          <a:solidFill>
                            <a:srgbClr val="FF0000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매출에 따른 모회사 연대보증 책임</a:t>
                      </a:r>
                      <a:r>
                        <a:rPr lang="en-US" altLang="ko-KR" sz="1000" b="0">
                          <a:solidFill>
                            <a:srgbClr val="FF0000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)</a:t>
                      </a:r>
                    </a:p>
                    <a:p>
                      <a:pPr marL="171450" lvl="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>
                          <a:solidFill>
                            <a:srgbClr val="FF0000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대리점의 경우</a:t>
                      </a:r>
                      <a:endParaRPr lang="en-US" altLang="ko-KR" sz="1000" b="0">
                        <a:solidFill>
                          <a:srgbClr val="FF0000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0" lvl="0" indent="0" algn="l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0">
                          <a:solidFill>
                            <a:srgbClr val="FF0000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      (Principal Agency : </a:t>
                      </a:r>
                      <a:r>
                        <a:rPr lang="ko-KR" altLang="en-US" sz="1000" b="0">
                          <a:solidFill>
                            <a:srgbClr val="FF0000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사용자책임</a:t>
                      </a:r>
                      <a:r>
                        <a:rPr lang="en-US" altLang="ko-KR" sz="1000" b="0">
                          <a:solidFill>
                            <a:srgbClr val="FF0000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)</a:t>
                      </a:r>
                    </a:p>
                  </a:txBody>
                  <a:tcPr marL="103866" marR="103866" marT="51933" marB="51933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법인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/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지점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/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사무소 형태 결정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청산전략 수립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103866" marR="103866" marT="51933" marB="51933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청산에 따른 리스크 검토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103866" marR="103866" marT="51933" marB="51933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6553031"/>
                  </a:ext>
                </a:extLst>
              </a:tr>
              <a:tr h="222794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일반환경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103866" marR="103866" marT="51933" marB="51933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lvl="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인구수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, 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인구구성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, 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상주외국인 규모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171450" lvl="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한국기업 진출현황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171450" lvl="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진출업체의 성공 및 실패 사례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171450" lvl="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상관습 및 거래서 유의사항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171450" lvl="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비즈니스 에티켓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171450" lvl="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비자 취득절차 등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171450" lvl="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103866" marR="103866" marT="51933" marB="51933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103866" marR="103866" marT="51933" marB="51933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103866" marR="103866" marT="51933" marB="51933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3438286"/>
                  </a:ext>
                </a:extLst>
              </a:tr>
            </a:tbl>
          </a:graphicData>
        </a:graphic>
      </p:graphicFrame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9110C2A2-23E7-B267-6C69-878B4EF374E3}"/>
              </a:ext>
            </a:extLst>
          </p:cNvPr>
          <p:cNvSpPr/>
          <p:nvPr/>
        </p:nvSpPr>
        <p:spPr>
          <a:xfrm>
            <a:off x="4523073" y="3559677"/>
            <a:ext cx="5007006" cy="721311"/>
          </a:xfrm>
          <a:prstGeom prst="rightArrow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09187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E590E793-887D-0C74-00DE-D5F3402E92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0726692"/>
              </p:ext>
            </p:extLst>
          </p:nvPr>
        </p:nvGraphicFramePr>
        <p:xfrm>
          <a:off x="979759" y="1278765"/>
          <a:ext cx="10080000" cy="4850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9746">
                  <a:extLst>
                    <a:ext uri="{9D8B030D-6E8A-4147-A177-3AD203B41FA5}">
                      <a16:colId xmlns:a16="http://schemas.microsoft.com/office/drawing/2014/main" val="4272082783"/>
                    </a:ext>
                  </a:extLst>
                </a:gridCol>
                <a:gridCol w="29034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34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03418">
                  <a:extLst>
                    <a:ext uri="{9D8B030D-6E8A-4147-A177-3AD203B41FA5}">
                      <a16:colId xmlns:a16="http://schemas.microsoft.com/office/drawing/2014/main" val="3532531121"/>
                    </a:ext>
                  </a:extLst>
                </a:gridCol>
              </a:tblGrid>
              <a:tr h="43226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중분류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1</a:t>
                      </a:r>
                      <a:r>
                        <a:rPr lang="ko-KR" altLang="en-US" sz="1100" b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단계</a:t>
                      </a:r>
                      <a:r>
                        <a:rPr lang="en-US" altLang="ko-KR" sz="1100" b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(</a:t>
                      </a:r>
                      <a:r>
                        <a:rPr lang="ko-KR" altLang="en-US" sz="1100" b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시장조사</a:t>
                      </a:r>
                      <a:r>
                        <a:rPr lang="en-US" altLang="ko-KR" sz="1100" b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)</a:t>
                      </a:r>
                      <a:endParaRPr lang="ko-KR" altLang="en-US" sz="1100" b="0">
                        <a:solidFill>
                          <a:schemeClr val="bg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2</a:t>
                      </a:r>
                      <a:r>
                        <a:rPr lang="ko-KR" altLang="en-US" sz="1100" b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단계</a:t>
                      </a:r>
                      <a:r>
                        <a:rPr lang="en-US" altLang="ko-KR" sz="1100" b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(</a:t>
                      </a:r>
                      <a:r>
                        <a:rPr lang="ko-KR" altLang="en-US" sz="1100" b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사업계획 수립</a:t>
                      </a:r>
                      <a:r>
                        <a:rPr lang="en-US" altLang="ko-KR" sz="1100" b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)</a:t>
                      </a:r>
                      <a:endParaRPr lang="ko-KR" altLang="en-US" sz="1100" b="0">
                        <a:solidFill>
                          <a:schemeClr val="bg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3</a:t>
                      </a:r>
                      <a:r>
                        <a:rPr lang="ko-KR" altLang="en-US" sz="1100" b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단계</a:t>
                      </a:r>
                      <a:r>
                        <a:rPr lang="en-US" altLang="ko-KR" sz="1100" b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(</a:t>
                      </a:r>
                      <a:r>
                        <a:rPr lang="ko-KR" altLang="en-US" sz="1100" b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사업성분석</a:t>
                      </a:r>
                      <a:r>
                        <a:rPr lang="en-US" altLang="ko-KR" sz="1100" b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)</a:t>
                      </a:r>
                      <a:endParaRPr lang="ko-KR" altLang="en-US" sz="1100" b="0">
                        <a:solidFill>
                          <a:schemeClr val="bg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898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투자환경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lvl="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투자국의 지리적 이점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171450" lvl="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사업여건 및 경제동향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171450" lvl="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경제성장률 및 환율전망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171450" lvl="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정부의 투자정책 및 외국인 우대정책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171450" lvl="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정부의 외자기업에 대한 열의 및 지원현황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171450" lvl="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세관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, 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세무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, 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노동관청의 행정 투명도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171450" lvl="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국가 투자위험도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투자배경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, 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타당성 검증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144107"/>
                  </a:ext>
                </a:extLst>
              </a:tr>
              <a:tr h="220898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진출사업 환경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lvl="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전체 시장규모 및 향후 성장전망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171450" lvl="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지역별 시장규모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171450" lvl="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과거 시장가 변동추이 및 전망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171450" lvl="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시장경쟁 정도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171450" lvl="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동종사업 참여업체의 사업현황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171450" lvl="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외국업체 진출사례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171450" lvl="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연관산업 발달정도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투자배경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, 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타당성 검증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중장기 사업목표 수립 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(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시장 점유율 등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판매 및 매출계획 수립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4253368"/>
                  </a:ext>
                </a:extLst>
              </a:tr>
            </a:tbl>
          </a:graphicData>
        </a:graphic>
      </p:graphicFrame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E9F28007-0EC6-275F-8DD2-300952456984}"/>
              </a:ext>
            </a:extLst>
          </p:cNvPr>
          <p:cNvSpPr/>
          <p:nvPr/>
        </p:nvSpPr>
        <p:spPr>
          <a:xfrm>
            <a:off x="4625625" y="3634712"/>
            <a:ext cx="5007006" cy="721311"/>
          </a:xfrm>
          <a:prstGeom prst="rightArrow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B04FC12-9137-2F4D-3C74-E6F3B7EA3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18" y="291827"/>
            <a:ext cx="8505276" cy="360362"/>
          </a:xfrm>
        </p:spPr>
        <p:txBody>
          <a:bodyPr/>
          <a:lstStyle/>
          <a:p>
            <a:r>
              <a:rPr lang="ko-KR" altLang="en-US" b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체크리스트 </a:t>
            </a:r>
            <a:r>
              <a:rPr lang="en-US" altLang="ko-KR" b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_ </a:t>
            </a:r>
            <a:r>
              <a:rPr lang="ko-KR" altLang="en-US" b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투자환경</a:t>
            </a:r>
          </a:p>
        </p:txBody>
      </p:sp>
    </p:spTree>
    <p:extLst>
      <p:ext uri="{BB962C8B-B14F-4D97-AF65-F5344CB8AC3E}">
        <p14:creationId xmlns:p14="http://schemas.microsoft.com/office/powerpoint/2010/main" val="9989398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E590E793-887D-0C74-00DE-D5F3402E92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0280644"/>
              </p:ext>
            </p:extLst>
          </p:nvPr>
        </p:nvGraphicFramePr>
        <p:xfrm>
          <a:off x="917615" y="1311907"/>
          <a:ext cx="10080000" cy="46893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9746">
                  <a:extLst>
                    <a:ext uri="{9D8B030D-6E8A-4147-A177-3AD203B41FA5}">
                      <a16:colId xmlns:a16="http://schemas.microsoft.com/office/drawing/2014/main" val="4272082783"/>
                    </a:ext>
                  </a:extLst>
                </a:gridCol>
                <a:gridCol w="29034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34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03418">
                  <a:extLst>
                    <a:ext uri="{9D8B030D-6E8A-4147-A177-3AD203B41FA5}">
                      <a16:colId xmlns:a16="http://schemas.microsoft.com/office/drawing/2014/main" val="3532531121"/>
                    </a:ext>
                  </a:extLst>
                </a:gridCol>
              </a:tblGrid>
              <a:tr h="33326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중분류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1</a:t>
                      </a:r>
                      <a:r>
                        <a:rPr lang="ko-KR" altLang="en-US" sz="1100" b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단계</a:t>
                      </a:r>
                      <a:r>
                        <a:rPr lang="en-US" altLang="ko-KR" sz="1100" b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(</a:t>
                      </a:r>
                      <a:r>
                        <a:rPr lang="ko-KR" altLang="en-US" sz="1100" b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시장조사</a:t>
                      </a:r>
                      <a:r>
                        <a:rPr lang="en-US" altLang="ko-KR" sz="1100" b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)</a:t>
                      </a:r>
                      <a:endParaRPr lang="ko-KR" altLang="en-US" sz="1100" b="0">
                        <a:solidFill>
                          <a:schemeClr val="bg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2</a:t>
                      </a:r>
                      <a:r>
                        <a:rPr lang="ko-KR" altLang="en-US" sz="1100" b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단계</a:t>
                      </a:r>
                      <a:r>
                        <a:rPr lang="en-US" altLang="ko-KR" sz="1100" b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(</a:t>
                      </a:r>
                      <a:r>
                        <a:rPr lang="ko-KR" altLang="en-US" sz="1100" b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사업계획 수립</a:t>
                      </a:r>
                      <a:r>
                        <a:rPr lang="en-US" altLang="ko-KR" sz="1100" b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)</a:t>
                      </a:r>
                      <a:endParaRPr lang="ko-KR" altLang="en-US" sz="1100" b="0">
                        <a:solidFill>
                          <a:schemeClr val="bg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3</a:t>
                      </a:r>
                      <a:r>
                        <a:rPr lang="ko-KR" altLang="en-US" sz="1100" b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단계</a:t>
                      </a:r>
                      <a:r>
                        <a:rPr lang="en-US" altLang="ko-KR" sz="1100" b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(</a:t>
                      </a:r>
                      <a:r>
                        <a:rPr lang="ko-KR" altLang="en-US" sz="1100" b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사업성분석</a:t>
                      </a:r>
                      <a:r>
                        <a:rPr lang="en-US" altLang="ko-KR" sz="1100" b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)</a:t>
                      </a:r>
                      <a:endParaRPr lang="ko-KR" altLang="en-US" sz="1100" b="0">
                        <a:solidFill>
                          <a:schemeClr val="bg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806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판매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lvl="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소비자 성향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, 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관습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, 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구매 선호도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171450" lvl="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상위권 동종업체 마케팅 전략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0" lvl="0" indent="0" algn="l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     ( 4P : 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제품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, 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가격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, 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유통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, 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판촉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)</a:t>
                      </a:r>
                    </a:p>
                    <a:p>
                      <a:pPr marL="171450" lvl="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히트상품 조사 및 분석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171450" lvl="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제품규제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(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규격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, 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인증 등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4P(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제품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,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가격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,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유통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,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판촉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) 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계획 수립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     ex) 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제품 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– 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현지 특화제품 도입계획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            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가격 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– 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경쟁사와 가격 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Positioning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            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유통 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– 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진출유통 및 유통마진 계획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            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판촉 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– 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경쟁사와 차별화 계획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모델별 판가 산출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광고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/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판촉비 산출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144107"/>
                  </a:ext>
                </a:extLst>
              </a:tr>
              <a:tr h="217806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유통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lvl="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유통구조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171450" lvl="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유통채널별 특성 및 유통마진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171450" lvl="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유통채널별 매출채권 회수 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(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여신기한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)</a:t>
                      </a:r>
                    </a:p>
                    <a:p>
                      <a:pPr marL="171450" lvl="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판가결정 체제 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(Cost Structure)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11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11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7514068"/>
                  </a:ext>
                </a:extLst>
              </a:tr>
            </a:tbl>
          </a:graphicData>
        </a:graphic>
      </p:graphicFrame>
      <p:sp>
        <p:nvSpPr>
          <p:cNvPr id="3" name="화살표: 오른쪽 2">
            <a:extLst>
              <a:ext uri="{FF2B5EF4-FFF2-40B4-BE49-F238E27FC236}">
                <a16:creationId xmlns:a16="http://schemas.microsoft.com/office/drawing/2014/main" id="{E57320F1-E96B-61E8-3179-4EF6CF7FCCA5}"/>
              </a:ext>
            </a:extLst>
          </p:cNvPr>
          <p:cNvSpPr/>
          <p:nvPr/>
        </p:nvSpPr>
        <p:spPr>
          <a:xfrm>
            <a:off x="4625625" y="3634712"/>
            <a:ext cx="5007006" cy="721311"/>
          </a:xfrm>
          <a:prstGeom prst="rightArrow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113E0FA0-BB31-FC7D-D09B-CE3C51397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18" y="291827"/>
            <a:ext cx="8505276" cy="360362"/>
          </a:xfrm>
        </p:spPr>
        <p:txBody>
          <a:bodyPr/>
          <a:lstStyle/>
          <a:p>
            <a:r>
              <a:rPr lang="ko-KR" altLang="en-US" b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체크리스트 </a:t>
            </a:r>
            <a:r>
              <a:rPr lang="en-US" altLang="ko-KR" b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_ </a:t>
            </a:r>
            <a:r>
              <a:rPr lang="ko-KR" altLang="en-US" b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판매 </a:t>
            </a:r>
            <a:r>
              <a:rPr lang="en-US" altLang="ko-KR" b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/ </a:t>
            </a:r>
            <a:r>
              <a:rPr lang="ko-KR" altLang="en-US" b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유통</a:t>
            </a:r>
          </a:p>
        </p:txBody>
      </p:sp>
    </p:spTree>
    <p:extLst>
      <p:ext uri="{BB962C8B-B14F-4D97-AF65-F5344CB8AC3E}">
        <p14:creationId xmlns:p14="http://schemas.microsoft.com/office/powerpoint/2010/main" val="26730212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E590E793-887D-0C74-00DE-D5F3402E92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5122317"/>
              </p:ext>
            </p:extLst>
          </p:nvPr>
        </p:nvGraphicFramePr>
        <p:xfrm>
          <a:off x="917615" y="1320789"/>
          <a:ext cx="10080000" cy="4937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9746">
                  <a:extLst>
                    <a:ext uri="{9D8B030D-6E8A-4147-A177-3AD203B41FA5}">
                      <a16:colId xmlns:a16="http://schemas.microsoft.com/office/drawing/2014/main" val="4272082783"/>
                    </a:ext>
                  </a:extLst>
                </a:gridCol>
                <a:gridCol w="29034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34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03418">
                  <a:extLst>
                    <a:ext uri="{9D8B030D-6E8A-4147-A177-3AD203B41FA5}">
                      <a16:colId xmlns:a16="http://schemas.microsoft.com/office/drawing/2014/main" val="3532531121"/>
                    </a:ext>
                  </a:extLst>
                </a:gridCol>
              </a:tblGrid>
              <a:tr h="2837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중분류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1</a:t>
                      </a:r>
                      <a:r>
                        <a:rPr lang="ko-KR" altLang="en-US" sz="1100" b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단계</a:t>
                      </a:r>
                      <a:r>
                        <a:rPr lang="en-US" altLang="ko-KR" sz="1100" b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(</a:t>
                      </a:r>
                      <a:r>
                        <a:rPr lang="ko-KR" altLang="en-US" sz="1100" b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시장조사</a:t>
                      </a:r>
                      <a:r>
                        <a:rPr lang="en-US" altLang="ko-KR" sz="1100" b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)</a:t>
                      </a:r>
                      <a:endParaRPr lang="ko-KR" altLang="en-US" sz="1100" b="0">
                        <a:solidFill>
                          <a:schemeClr val="bg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2</a:t>
                      </a:r>
                      <a:r>
                        <a:rPr lang="ko-KR" altLang="en-US" sz="1100" b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단계</a:t>
                      </a:r>
                      <a:r>
                        <a:rPr lang="en-US" altLang="ko-KR" sz="1100" b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(</a:t>
                      </a:r>
                      <a:r>
                        <a:rPr lang="ko-KR" altLang="en-US" sz="1100" b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사업계획 수립</a:t>
                      </a:r>
                      <a:r>
                        <a:rPr lang="en-US" altLang="ko-KR" sz="1100" b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)</a:t>
                      </a:r>
                      <a:endParaRPr lang="ko-KR" altLang="en-US" sz="1100" b="0">
                        <a:solidFill>
                          <a:schemeClr val="bg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3</a:t>
                      </a:r>
                      <a:r>
                        <a:rPr lang="ko-KR" altLang="en-US" sz="1100" b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단계</a:t>
                      </a:r>
                      <a:r>
                        <a:rPr lang="en-US" altLang="ko-KR" sz="1100" b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(</a:t>
                      </a:r>
                      <a:r>
                        <a:rPr lang="ko-KR" altLang="en-US" sz="1100" b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사업성분석</a:t>
                      </a:r>
                      <a:r>
                        <a:rPr lang="en-US" altLang="ko-KR" sz="1100" b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)</a:t>
                      </a:r>
                      <a:endParaRPr lang="ko-KR" altLang="en-US" sz="1100" b="0">
                        <a:solidFill>
                          <a:schemeClr val="bg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7671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공장 입지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lvl="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주요 산업단지 현황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171450" lvl="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산업 단지별 투자 혜택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171450" lvl="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산업 단지별 입주 기업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0" lvl="0" indent="0" algn="l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      ex)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 동종업체 및 관련산업 업체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171450" lvl="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산업 단지별 인프라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0" lvl="0" indent="0" algn="l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      ex) 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전력 등 에너지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, 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통신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, 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용수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, 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도로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/</a:t>
                      </a:r>
                    </a:p>
                    <a:p>
                      <a:pPr marL="0" lvl="0" indent="0" algn="l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            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시장 접근성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, 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지반 견고성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, 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인력수급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171450" lvl="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토지구입가 및 공장건물 임차 가능성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공장 입지 결정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토지가격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원료 부품 구매 용이성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시장 접근 용이성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노동력 조달 용이성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동력 조달 용이성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관련 산업 집적도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환경 규제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1569424"/>
                  </a:ext>
                </a:extLst>
              </a:tr>
              <a:tr h="257748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투자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lvl="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공해 및 환경오염 규제정도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, 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소방법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, 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환경보호 대책과 기업의 부담비용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171450" lvl="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건축법규 및 건축인허가 사항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171450" lvl="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건축회사 및 건축기간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171450" lvl="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토지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/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건축 직접투자비 및 건물 임차비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171450" lvl="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현지 구입 가능한 고정자산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171450" lvl="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제조설비 수입규제 여부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171450" lvl="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설비별 수입관세 및 면세여부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171450" lvl="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일부 제조공정의 아웃소싱 가능성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171450" lvl="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고정자산 감가상각 기준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투자금액 결정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     ex) 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공장건물 투자여부 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(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직접투자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 or 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임차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            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공장 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Lay-out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            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생산능력 및 라인 수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            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자체 생산공정 및 아웃소싱 공정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공장가동 목표일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투자금액 및 감가상각비 산출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직접투자와 임차시 비교 분석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고정자산 유지보수 비용 산출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3438286"/>
                  </a:ext>
                </a:extLst>
              </a:tr>
            </a:tbl>
          </a:graphicData>
        </a:graphic>
      </p:graphicFrame>
      <p:sp>
        <p:nvSpPr>
          <p:cNvPr id="3" name="화살표: 오른쪽 2">
            <a:extLst>
              <a:ext uri="{FF2B5EF4-FFF2-40B4-BE49-F238E27FC236}">
                <a16:creationId xmlns:a16="http://schemas.microsoft.com/office/drawing/2014/main" id="{09938CE2-FEDA-307E-0C62-0BC741C5A093}"/>
              </a:ext>
            </a:extLst>
          </p:cNvPr>
          <p:cNvSpPr/>
          <p:nvPr/>
        </p:nvSpPr>
        <p:spPr>
          <a:xfrm>
            <a:off x="4689620" y="3429000"/>
            <a:ext cx="5007006" cy="721311"/>
          </a:xfrm>
          <a:prstGeom prst="rightArrow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E6B93F44-CB95-681C-697E-A9E04609A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18" y="291827"/>
            <a:ext cx="8505276" cy="360362"/>
          </a:xfrm>
        </p:spPr>
        <p:txBody>
          <a:bodyPr/>
          <a:lstStyle/>
          <a:p>
            <a:r>
              <a:rPr lang="ko-KR" altLang="en-US" b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체크리스트 </a:t>
            </a:r>
            <a:r>
              <a:rPr lang="en-US" altLang="ko-KR" b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_ </a:t>
            </a:r>
            <a:r>
              <a:rPr lang="ko-KR" altLang="en-US" b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생산</a:t>
            </a:r>
            <a:r>
              <a:rPr lang="en-US" altLang="ko-KR" b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/</a:t>
            </a:r>
            <a:r>
              <a:rPr lang="ko-KR" altLang="en-US" b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제조</a:t>
            </a:r>
          </a:p>
        </p:txBody>
      </p:sp>
    </p:spTree>
    <p:extLst>
      <p:ext uri="{BB962C8B-B14F-4D97-AF65-F5344CB8AC3E}">
        <p14:creationId xmlns:p14="http://schemas.microsoft.com/office/powerpoint/2010/main" val="28793138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E590E793-887D-0C74-00DE-D5F3402E92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2288442"/>
              </p:ext>
            </p:extLst>
          </p:nvPr>
        </p:nvGraphicFramePr>
        <p:xfrm>
          <a:off x="976044" y="1297443"/>
          <a:ext cx="10080000" cy="48714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9746">
                  <a:extLst>
                    <a:ext uri="{9D8B030D-6E8A-4147-A177-3AD203B41FA5}">
                      <a16:colId xmlns:a16="http://schemas.microsoft.com/office/drawing/2014/main" val="4272082783"/>
                    </a:ext>
                  </a:extLst>
                </a:gridCol>
                <a:gridCol w="29034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34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03418">
                  <a:extLst>
                    <a:ext uri="{9D8B030D-6E8A-4147-A177-3AD203B41FA5}">
                      <a16:colId xmlns:a16="http://schemas.microsoft.com/office/drawing/2014/main" val="3532531121"/>
                    </a:ext>
                  </a:extLst>
                </a:gridCol>
              </a:tblGrid>
              <a:tr h="19145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중분류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1</a:t>
                      </a:r>
                      <a:r>
                        <a:rPr lang="ko-KR" altLang="en-US" sz="1100" b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단계</a:t>
                      </a:r>
                      <a:r>
                        <a:rPr lang="en-US" altLang="ko-KR" sz="1100" b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(</a:t>
                      </a:r>
                      <a:r>
                        <a:rPr lang="ko-KR" altLang="en-US" sz="1100" b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시장조사</a:t>
                      </a:r>
                      <a:r>
                        <a:rPr lang="en-US" altLang="ko-KR" sz="1100" b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)</a:t>
                      </a:r>
                      <a:endParaRPr lang="ko-KR" altLang="en-US" sz="1100" b="0">
                        <a:solidFill>
                          <a:schemeClr val="bg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2</a:t>
                      </a:r>
                      <a:r>
                        <a:rPr lang="ko-KR" altLang="en-US" sz="1100" b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단계</a:t>
                      </a:r>
                      <a:r>
                        <a:rPr lang="en-US" altLang="ko-KR" sz="1100" b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(</a:t>
                      </a:r>
                      <a:r>
                        <a:rPr lang="ko-KR" altLang="en-US" sz="1100" b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사업계획 수립</a:t>
                      </a:r>
                      <a:r>
                        <a:rPr lang="en-US" altLang="ko-KR" sz="1100" b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)</a:t>
                      </a:r>
                      <a:endParaRPr lang="ko-KR" altLang="en-US" sz="1100" b="0">
                        <a:solidFill>
                          <a:schemeClr val="bg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3</a:t>
                      </a:r>
                      <a:r>
                        <a:rPr lang="ko-KR" altLang="en-US" sz="1100" b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단계</a:t>
                      </a:r>
                      <a:r>
                        <a:rPr lang="en-US" altLang="ko-KR" sz="1100" b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(</a:t>
                      </a:r>
                      <a:r>
                        <a:rPr lang="ko-KR" altLang="en-US" sz="1100" b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사업성분석</a:t>
                      </a:r>
                      <a:r>
                        <a:rPr lang="en-US" altLang="ko-KR" sz="1100" b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)</a:t>
                      </a:r>
                      <a:endParaRPr lang="ko-KR" altLang="en-US" sz="1100" b="0">
                        <a:solidFill>
                          <a:schemeClr val="bg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6499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물류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lvl="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주요 산업단지와 주력 시장간 물류현황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171450" lvl="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주요 산업단지와 항국간 물류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(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수출입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)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현황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0" lvl="0" indent="0" algn="l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     ex) 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도로사정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, 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운송 수단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/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거리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/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기간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/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비용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물류창고 운영계획 수립 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(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상품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/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제품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)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공장입지와 시장 접근성 고려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물류비 산출 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(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상품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/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제품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144107"/>
                  </a:ext>
                </a:extLst>
              </a:tr>
              <a:tr h="894369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부품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lvl="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부품별 현지화 가능성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0" lvl="0" indent="0" algn="l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     ex) 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업체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, 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생산능력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(CAPA), 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품질수준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, 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납기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171450" lvl="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부품별 수입관세 및 수출시 환급 여부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171450" lvl="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수입부품의 구입처 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(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글로벌소싱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)</a:t>
                      </a:r>
                    </a:p>
                    <a:p>
                      <a:pPr marL="171450" lvl="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소싱 국가별 운송기간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, 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비용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, 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운송회수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부품 수급계획 수립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재료비 산출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부품 현지화율 산출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1569424"/>
                  </a:ext>
                </a:extLst>
              </a:tr>
              <a:tr h="556499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제조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lvl="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동종업체 생산방식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171450" lvl="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유틸리티 수급 및 비용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171450" lvl="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생산 소모품 가격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라인 운영계획 수립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     ex) 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생산방식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, 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라인 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Lay-out, 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교대운영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제조경비 산출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3438286"/>
                  </a:ext>
                </a:extLst>
              </a:tr>
              <a:tr h="140117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노무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lvl="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노동법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0" lvl="0" indent="0" algn="l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    ex) 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법정 근로시간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, 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노동조합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, 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채용 및 해고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, </a:t>
                      </a:r>
                    </a:p>
                    <a:p>
                      <a:pPr marL="0" lvl="0" indent="0" algn="l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           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잔업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/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교대근무 가능성 및 급여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, </a:t>
                      </a:r>
                    </a:p>
                    <a:p>
                      <a:pPr marL="0" lvl="0" indent="0" algn="l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           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정규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/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비정규 인력운영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171450" lvl="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인력확보 용이성 및 채용방법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171450" lvl="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인력의 자질 및 노동관행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171450" lvl="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직급별 임금수준 및 복리후생기준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0" lvl="0" indent="0" algn="l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     ex) 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과거 인건비 상승률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, 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사회보장보험 등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조직 운영계획 수립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     ex) 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조직도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, 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인력규모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인력 수급계획 수립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     ex) 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주재원 파견 여부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            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정규직 및 계약직 운영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            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핵심인력 양성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인건비 및 복리후생비 산출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6795783"/>
                  </a:ext>
                </a:extLst>
              </a:tr>
            </a:tbl>
          </a:graphicData>
        </a:graphic>
      </p:graphicFrame>
      <p:sp>
        <p:nvSpPr>
          <p:cNvPr id="3" name="화살표: 오른쪽 2">
            <a:extLst>
              <a:ext uri="{FF2B5EF4-FFF2-40B4-BE49-F238E27FC236}">
                <a16:creationId xmlns:a16="http://schemas.microsoft.com/office/drawing/2014/main" id="{AFDF7C96-77BF-3C49-E348-442C8A49593D}"/>
              </a:ext>
            </a:extLst>
          </p:cNvPr>
          <p:cNvSpPr/>
          <p:nvPr/>
        </p:nvSpPr>
        <p:spPr>
          <a:xfrm>
            <a:off x="4625625" y="3634712"/>
            <a:ext cx="5007006" cy="721311"/>
          </a:xfrm>
          <a:prstGeom prst="rightArrow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396DB46B-8652-4A12-D6AC-1CFDBE654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18" y="291827"/>
            <a:ext cx="8505276" cy="360362"/>
          </a:xfrm>
        </p:spPr>
        <p:txBody>
          <a:bodyPr/>
          <a:lstStyle/>
          <a:p>
            <a:r>
              <a:rPr lang="ko-KR" altLang="en-US" b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체크리스트 </a:t>
            </a:r>
            <a:r>
              <a:rPr lang="en-US" altLang="ko-KR" b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_ </a:t>
            </a:r>
            <a:r>
              <a:rPr lang="ko-KR" altLang="en-US" b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생산</a:t>
            </a:r>
            <a:r>
              <a:rPr lang="en-US" altLang="ko-KR" b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/</a:t>
            </a:r>
            <a:r>
              <a:rPr lang="ko-KR" altLang="en-US" b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제조</a:t>
            </a:r>
          </a:p>
        </p:txBody>
      </p:sp>
    </p:spTree>
    <p:extLst>
      <p:ext uri="{BB962C8B-B14F-4D97-AF65-F5344CB8AC3E}">
        <p14:creationId xmlns:p14="http://schemas.microsoft.com/office/powerpoint/2010/main" val="13371447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E590E793-887D-0C74-00DE-D5F3402E92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1402076"/>
              </p:ext>
            </p:extLst>
          </p:nvPr>
        </p:nvGraphicFramePr>
        <p:xfrm>
          <a:off x="917615" y="1329663"/>
          <a:ext cx="10080000" cy="51000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9746">
                  <a:extLst>
                    <a:ext uri="{9D8B030D-6E8A-4147-A177-3AD203B41FA5}">
                      <a16:colId xmlns:a16="http://schemas.microsoft.com/office/drawing/2014/main" val="4272082783"/>
                    </a:ext>
                  </a:extLst>
                </a:gridCol>
                <a:gridCol w="29034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34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03418">
                  <a:extLst>
                    <a:ext uri="{9D8B030D-6E8A-4147-A177-3AD203B41FA5}">
                      <a16:colId xmlns:a16="http://schemas.microsoft.com/office/drawing/2014/main" val="3532531121"/>
                    </a:ext>
                  </a:extLst>
                </a:gridCol>
              </a:tblGrid>
              <a:tr h="2171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중분류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1</a:t>
                      </a:r>
                      <a:r>
                        <a:rPr lang="ko-KR" altLang="en-US" sz="1100" b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단계</a:t>
                      </a:r>
                      <a:r>
                        <a:rPr lang="en-US" altLang="ko-KR" sz="1100" b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(</a:t>
                      </a:r>
                      <a:r>
                        <a:rPr lang="ko-KR" altLang="en-US" sz="1100" b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시장조사</a:t>
                      </a:r>
                      <a:r>
                        <a:rPr lang="en-US" altLang="ko-KR" sz="1100" b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)</a:t>
                      </a:r>
                      <a:endParaRPr lang="ko-KR" altLang="en-US" sz="1100" b="0">
                        <a:solidFill>
                          <a:schemeClr val="bg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2</a:t>
                      </a:r>
                      <a:r>
                        <a:rPr lang="ko-KR" altLang="en-US" sz="1100" b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단계</a:t>
                      </a:r>
                      <a:r>
                        <a:rPr lang="en-US" altLang="ko-KR" sz="1100" b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(</a:t>
                      </a:r>
                      <a:r>
                        <a:rPr lang="ko-KR" altLang="en-US" sz="1100" b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사업계획 수립</a:t>
                      </a:r>
                      <a:r>
                        <a:rPr lang="en-US" altLang="ko-KR" sz="1100" b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)</a:t>
                      </a:r>
                      <a:endParaRPr lang="ko-KR" altLang="en-US" sz="1100" b="0">
                        <a:solidFill>
                          <a:schemeClr val="bg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3</a:t>
                      </a:r>
                      <a:r>
                        <a:rPr lang="ko-KR" altLang="en-US" sz="1100" b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단계</a:t>
                      </a:r>
                      <a:r>
                        <a:rPr lang="en-US" altLang="ko-KR" sz="1100" b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(</a:t>
                      </a:r>
                      <a:r>
                        <a:rPr lang="ko-KR" altLang="en-US" sz="1100" b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사업성분석</a:t>
                      </a:r>
                      <a:r>
                        <a:rPr lang="en-US" altLang="ko-KR" sz="1100" b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)</a:t>
                      </a:r>
                      <a:endParaRPr lang="ko-KR" altLang="en-US" sz="1100" b="0">
                        <a:solidFill>
                          <a:schemeClr val="bg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024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운전자금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lvl="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매출채권 회수기간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171450" lvl="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매입채무 지불기한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171450" lvl="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제품 제조기간 및 부품 구매기간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운전자금 조달계획 수립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운전자금 산출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운전자금 회전주기 산출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3160459"/>
                  </a:ext>
                </a:extLst>
              </a:tr>
              <a:tr h="121024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금융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lvl="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현지금융 이용 편의성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171450" lvl="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은행 거래조건 조사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0" lvl="0" indent="0" algn="l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    ex) 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차입조건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, 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차입액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, 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상환조건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, 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차입이자 등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171450" lvl="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현지 은행과 외국 은행 간 차입조건 비교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171450" lvl="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투자자금 회수 가능 여부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자금 운영계획 수립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투자자금 회수방안 수립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자본금 및 차입금 규모 산출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지급이자 산출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203603"/>
                  </a:ext>
                </a:extLst>
              </a:tr>
              <a:tr h="121024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회계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lvl="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회계연도 및 회계기준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이익금의 본국 송금 관련 절세 방안 수립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795143"/>
                  </a:ext>
                </a:extLst>
              </a:tr>
              <a:tr h="121024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조세제도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lvl="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세금 종류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, 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세율 및 납세방법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171450" lvl="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과실송금의 보장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 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여부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171450" lvl="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이중과세 여부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171450" lvl="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TP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정책 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or 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로열티 정책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171450" lvl="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해외 배당 가능 여부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절세방안 수립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TP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정책 수립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배당정책 수립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경상이익 및 순이익 산출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144107"/>
                  </a:ext>
                </a:extLst>
              </a:tr>
            </a:tbl>
          </a:graphicData>
        </a:graphic>
      </p:graphicFrame>
      <p:sp>
        <p:nvSpPr>
          <p:cNvPr id="3" name="화살표: 오른쪽 2">
            <a:extLst>
              <a:ext uri="{FF2B5EF4-FFF2-40B4-BE49-F238E27FC236}">
                <a16:creationId xmlns:a16="http://schemas.microsoft.com/office/drawing/2014/main" id="{1E88B897-8055-16EE-97BC-F766A76E6158}"/>
              </a:ext>
            </a:extLst>
          </p:cNvPr>
          <p:cNvSpPr/>
          <p:nvPr/>
        </p:nvSpPr>
        <p:spPr>
          <a:xfrm>
            <a:off x="4283880" y="3653185"/>
            <a:ext cx="5007006" cy="721311"/>
          </a:xfrm>
          <a:prstGeom prst="rightArrow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A250FFE4-EC41-36BE-1E87-1C05AA69E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18" y="291827"/>
            <a:ext cx="8505276" cy="360362"/>
          </a:xfrm>
        </p:spPr>
        <p:txBody>
          <a:bodyPr/>
          <a:lstStyle/>
          <a:p>
            <a:r>
              <a:rPr lang="ko-KR" altLang="en-US" b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체크리스트 </a:t>
            </a:r>
            <a:r>
              <a:rPr lang="en-US" altLang="ko-KR" b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_ </a:t>
            </a:r>
            <a:r>
              <a:rPr lang="ko-KR" altLang="en-US" b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회계</a:t>
            </a:r>
            <a:r>
              <a:rPr lang="en-US" altLang="ko-KR" b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/</a:t>
            </a:r>
            <a:r>
              <a:rPr lang="ko-KR" altLang="en-US" b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재무</a:t>
            </a:r>
            <a:r>
              <a:rPr lang="en-US" altLang="ko-KR" b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/</a:t>
            </a:r>
            <a:r>
              <a:rPr lang="ko-KR" altLang="en-US" b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세무</a:t>
            </a:r>
          </a:p>
        </p:txBody>
      </p:sp>
    </p:spTree>
    <p:extLst>
      <p:ext uri="{BB962C8B-B14F-4D97-AF65-F5344CB8AC3E}">
        <p14:creationId xmlns:p14="http://schemas.microsoft.com/office/powerpoint/2010/main" val="10627810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E590E793-887D-0C74-00DE-D5F3402E92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4596048"/>
              </p:ext>
            </p:extLst>
          </p:nvPr>
        </p:nvGraphicFramePr>
        <p:xfrm>
          <a:off x="837716" y="1278766"/>
          <a:ext cx="10080000" cy="50931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3903">
                  <a:extLst>
                    <a:ext uri="{9D8B030D-6E8A-4147-A177-3AD203B41FA5}">
                      <a16:colId xmlns:a16="http://schemas.microsoft.com/office/drawing/2014/main" val="4272082783"/>
                    </a:ext>
                  </a:extLst>
                </a:gridCol>
                <a:gridCol w="1389615">
                  <a:extLst>
                    <a:ext uri="{9D8B030D-6E8A-4147-A177-3AD203B41FA5}">
                      <a16:colId xmlns:a16="http://schemas.microsoft.com/office/drawing/2014/main" val="1596225512"/>
                    </a:ext>
                  </a:extLst>
                </a:gridCol>
                <a:gridCol w="67664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846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구분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취합장소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비고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963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ko-KR" altLang="en-US" sz="105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공개자료</a:t>
                      </a:r>
                      <a:endParaRPr lang="en-US" altLang="ko-KR" sz="105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국내</a:t>
                      </a:r>
                      <a:r>
                        <a:rPr lang="en-US" altLang="ko-KR" sz="105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/</a:t>
                      </a:r>
                      <a:r>
                        <a:rPr lang="ko-KR" altLang="en-US" sz="105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해외</a:t>
                      </a:r>
                      <a:endParaRPr lang="en-US" altLang="ko-KR" sz="105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lvl="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5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정부 및 공공기관 간행물</a:t>
                      </a:r>
                      <a:r>
                        <a:rPr lang="en-US" altLang="ko-KR" sz="105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, </a:t>
                      </a:r>
                      <a:r>
                        <a:rPr lang="ko-KR" altLang="en-US" sz="105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투자정보</a:t>
                      </a:r>
                      <a:endParaRPr lang="en-US" altLang="ko-KR" sz="105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171450" lvl="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5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현지 발간 간행물 및 투자정보</a:t>
                      </a:r>
                      <a:endParaRPr lang="en-US" altLang="ko-KR" sz="105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171450" lvl="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5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정보조사 기관 및 미디어</a:t>
                      </a:r>
                      <a:endParaRPr lang="en-US" altLang="ko-KR" sz="105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171450" lvl="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5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해외진출 성공 및 실패기업 사례집 조사</a:t>
                      </a:r>
                      <a:endParaRPr lang="en-US" altLang="ko-KR" sz="105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144107"/>
                  </a:ext>
                </a:extLst>
              </a:tr>
              <a:tr h="93963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ko-KR" altLang="en-US" sz="105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조사의뢰</a:t>
                      </a:r>
                      <a:endParaRPr lang="en-US" altLang="ko-KR" sz="105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국내</a:t>
                      </a:r>
                      <a:r>
                        <a:rPr lang="en-US" altLang="ko-KR" sz="105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/</a:t>
                      </a:r>
                      <a:r>
                        <a:rPr lang="ko-KR" altLang="en-US" sz="105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해외</a:t>
                      </a:r>
                      <a:endParaRPr lang="en-US" altLang="ko-KR" sz="105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lvl="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5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전문기관에 의뢰하여 조사 </a:t>
                      </a:r>
                      <a:r>
                        <a:rPr lang="en-US" altLang="ko-KR" sz="105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(KOTRA, </a:t>
                      </a:r>
                      <a:r>
                        <a:rPr lang="ko-KR" altLang="en-US" sz="105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컨설팅 기관</a:t>
                      </a:r>
                      <a:r>
                        <a:rPr lang="en-US" altLang="ko-KR" sz="105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 </a:t>
                      </a:r>
                      <a:r>
                        <a:rPr lang="ko-KR" altLang="en-US" sz="105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등</a:t>
                      </a:r>
                      <a:r>
                        <a:rPr lang="en-US" altLang="ko-KR" sz="105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1569424"/>
                  </a:ext>
                </a:extLst>
              </a:tr>
              <a:tr h="93963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ko-KR" altLang="en-US" sz="105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현지기업 인터뷰</a:t>
                      </a:r>
                      <a:endParaRPr lang="en-US" altLang="ko-KR" sz="105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해외</a:t>
                      </a:r>
                      <a:endParaRPr lang="en-US" altLang="ko-KR" sz="105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lvl="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5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현지 진출기업과 접촉하여 조사</a:t>
                      </a:r>
                      <a:endParaRPr lang="en-US" altLang="ko-KR" sz="105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3438286"/>
                  </a:ext>
                </a:extLst>
              </a:tr>
              <a:tr h="93963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ko-KR" altLang="en-US" sz="105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소비자 인터뷰</a:t>
                      </a:r>
                      <a:endParaRPr lang="en-US" altLang="ko-KR" sz="105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해외</a:t>
                      </a:r>
                      <a:endParaRPr lang="en-US" altLang="ko-KR" sz="105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lvl="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5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현지 소비자와의 접촉을 통한 조사</a:t>
                      </a:r>
                      <a:endParaRPr lang="en-US" altLang="ko-KR" sz="105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0940803"/>
                  </a:ext>
                </a:extLst>
              </a:tr>
              <a:tr h="93963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ko-KR" altLang="en-US" sz="1050" b="0">
                          <a:solidFill>
                            <a:srgbClr val="FF0000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현장조사</a:t>
                      </a:r>
                      <a:endParaRPr lang="en-US" altLang="ko-KR" sz="1050" b="0">
                        <a:solidFill>
                          <a:srgbClr val="FF0000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0">
                          <a:solidFill>
                            <a:srgbClr val="FF0000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해외</a:t>
                      </a:r>
                      <a:endParaRPr lang="en-US" altLang="ko-KR" sz="1050" b="0">
                        <a:solidFill>
                          <a:srgbClr val="FF0000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lvl="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50" b="0">
                          <a:solidFill>
                            <a:srgbClr val="FF0000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현장을 방문하여 기존의 경쟁사 제품의 판매상황 및 고객반응에 대하여 직접 조사 </a:t>
                      </a:r>
                      <a:r>
                        <a:rPr lang="en-US" altLang="ko-KR" sz="1050" b="0">
                          <a:solidFill>
                            <a:srgbClr val="FF0000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(</a:t>
                      </a:r>
                      <a:r>
                        <a:rPr lang="ko-KR" altLang="en-US" sz="1050" b="0">
                          <a:solidFill>
                            <a:srgbClr val="FF0000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필수</a:t>
                      </a:r>
                      <a:r>
                        <a:rPr lang="en-US" altLang="ko-KR" sz="1050" b="0">
                          <a:solidFill>
                            <a:srgbClr val="FF0000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2248170"/>
                  </a:ext>
                </a:extLst>
              </a:tr>
            </a:tbl>
          </a:graphicData>
        </a:graphic>
      </p:graphicFrame>
      <p:sp>
        <p:nvSpPr>
          <p:cNvPr id="5" name="제목 1">
            <a:extLst>
              <a:ext uri="{FF2B5EF4-FFF2-40B4-BE49-F238E27FC236}">
                <a16:creationId xmlns:a16="http://schemas.microsoft.com/office/drawing/2014/main" id="{5FB07964-1523-EC78-FBBC-C6A6FA726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18" y="291827"/>
            <a:ext cx="8505276" cy="360362"/>
          </a:xfrm>
        </p:spPr>
        <p:txBody>
          <a:bodyPr/>
          <a:lstStyle/>
          <a:p>
            <a:r>
              <a:rPr lang="ko-KR" altLang="en-US" b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투자정보 조사 방법</a:t>
            </a:r>
          </a:p>
        </p:txBody>
      </p:sp>
    </p:spTree>
    <p:extLst>
      <p:ext uri="{BB962C8B-B14F-4D97-AF65-F5344CB8AC3E}">
        <p14:creationId xmlns:p14="http://schemas.microsoft.com/office/powerpoint/2010/main" val="42800844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11">
            <a:extLst>
              <a:ext uri="{FF2B5EF4-FFF2-40B4-BE49-F238E27FC236}">
                <a16:creationId xmlns:a16="http://schemas.microsoft.com/office/drawing/2014/main" id="{1EC82635-9805-6B35-4483-6268A12AC7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297927"/>
              </p:ext>
            </p:extLst>
          </p:nvPr>
        </p:nvGraphicFramePr>
        <p:xfrm>
          <a:off x="10267963" y="794658"/>
          <a:ext cx="1116000" cy="502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6000">
                  <a:extLst>
                    <a:ext uri="{9D8B030D-6E8A-4147-A177-3AD203B41FA5}">
                      <a16:colId xmlns:a16="http://schemas.microsoft.com/office/drawing/2014/main" val="2161796615"/>
                    </a:ext>
                  </a:extLst>
                </a:gridCol>
              </a:tblGrid>
              <a:tr h="16811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/>
                        <a:t>대외비</a:t>
                      </a:r>
                    </a:p>
                  </a:txBody>
                  <a:tcPr anchor="ctr">
                    <a:lnL w="3175" cap="flat" cmpd="sng" algn="ctr">
                      <a:solidFill>
                        <a:srgbClr val="E221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221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221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221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9005735"/>
                  </a:ext>
                </a:extLst>
              </a:tr>
              <a:tr h="1681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kern="1200">
                          <a:solidFill>
                            <a:srgbClr val="E2211C"/>
                          </a:solidFill>
                          <a:latin typeface="+mn-lt"/>
                          <a:ea typeface="+mn-ea"/>
                          <a:cs typeface="+mn-cs"/>
                        </a:rPr>
                        <a:t>Confidential</a:t>
                      </a:r>
                    </a:p>
                  </a:txBody>
                  <a:tcPr anchor="ctr">
                    <a:lnL w="3175" cap="flat" cmpd="sng" algn="ctr">
                      <a:solidFill>
                        <a:srgbClr val="E221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221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221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221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714612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19060A19-3027-5CF3-F3FC-EA0C6CCC55BD}"/>
              </a:ext>
            </a:extLst>
          </p:cNvPr>
          <p:cNvSpPr txBox="1"/>
          <p:nvPr/>
        </p:nvSpPr>
        <p:spPr>
          <a:xfrm>
            <a:off x="3246210" y="5384799"/>
            <a:ext cx="5699580" cy="8256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kumimoji="1" lang="ko-KR" altLang="en-US" sz="7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본 문서는 </a:t>
            </a:r>
            <a:r>
              <a:rPr kumimoji="1" lang="en-US" altLang="ko-KR" sz="7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CTR Group</a:t>
            </a:r>
            <a:r>
              <a:rPr kumimoji="1" lang="ko-KR" altLang="en-US" sz="7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의 정보자산으로</a:t>
            </a:r>
            <a:r>
              <a:rPr kumimoji="1" lang="en-US" altLang="ko-KR" sz="7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 </a:t>
            </a:r>
            <a:r>
              <a:rPr kumimoji="1" lang="ko-KR" altLang="en-US" sz="7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승인을 받지 않은 문서의 열람</a:t>
            </a:r>
            <a:r>
              <a:rPr kumimoji="1" lang="en-US" altLang="ko-KR" sz="7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, </a:t>
            </a:r>
            <a:r>
              <a:rPr kumimoji="1" lang="ko-KR" altLang="en-US" sz="7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수정</a:t>
            </a:r>
            <a:r>
              <a:rPr kumimoji="1" lang="en-US" altLang="ko-KR" sz="7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, </a:t>
            </a:r>
            <a:r>
              <a:rPr kumimoji="1" lang="ko-KR" altLang="en-US" sz="7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배포</a:t>
            </a:r>
            <a:r>
              <a:rPr kumimoji="1" lang="en-US" altLang="ko-KR" sz="7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, </a:t>
            </a:r>
            <a:r>
              <a:rPr kumimoji="1" lang="ko-KR" altLang="en-US" sz="7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복사를 엄격하게 금지합니다</a:t>
            </a:r>
            <a:r>
              <a:rPr kumimoji="1" lang="en-US" altLang="ko-KR" sz="7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. </a:t>
            </a:r>
          </a:p>
          <a:p>
            <a:pPr algn="ctr">
              <a:lnSpc>
                <a:spcPct val="130000"/>
              </a:lnSpc>
            </a:pPr>
            <a:r>
              <a:rPr kumimoji="1" lang="ko-KR" altLang="en-US" sz="7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이를</a:t>
            </a:r>
            <a:r>
              <a:rPr kumimoji="1" lang="en" altLang="ko-Kore-KR" sz="7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 </a:t>
            </a:r>
            <a:r>
              <a:rPr kumimoji="1" lang="ko-KR" altLang="en-US" sz="7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위반할 경우 부정경쟁방지 및 영업비밀보호에 관한 법률</a:t>
            </a:r>
            <a:r>
              <a:rPr kumimoji="1" lang="en-US" altLang="ko-KR" sz="7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, </a:t>
            </a:r>
            <a:r>
              <a:rPr kumimoji="1" lang="ko-KR" altLang="en-US" sz="7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형법</a:t>
            </a:r>
            <a:r>
              <a:rPr kumimoji="1" lang="en-US" altLang="ko-KR" sz="7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, </a:t>
            </a:r>
            <a:r>
              <a:rPr kumimoji="1" lang="ko-KR" altLang="en-US" sz="7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민법 등에 따라 민</a:t>
            </a:r>
            <a:r>
              <a:rPr kumimoji="1" lang="en-US" altLang="ko-KR" sz="7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·</a:t>
            </a:r>
            <a:r>
              <a:rPr kumimoji="1" lang="ko-KR" altLang="en-US" sz="7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형사상 책임을 부담할 수 있습니다</a:t>
            </a:r>
            <a:r>
              <a:rPr kumimoji="1" lang="en-US" altLang="ko-KR" sz="7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.</a:t>
            </a:r>
            <a:br>
              <a:rPr kumimoji="1" lang="en-US" altLang="ko-KR" sz="7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</a:br>
            <a:endParaRPr kumimoji="1" lang="en-US" altLang="ko-KR" sz="700" spc="-3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  <a:p>
            <a:pPr algn="ctr">
              <a:lnSpc>
                <a:spcPct val="130000"/>
              </a:lnSpc>
            </a:pPr>
            <a:r>
              <a:rPr kumimoji="1" lang="en-US" altLang="ko-KR" sz="7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This document is an information property of the CTR Group. Unauthorized access, editing, distribution, and copying are strictly prohibited. </a:t>
            </a:r>
          </a:p>
          <a:p>
            <a:pPr algn="ctr">
              <a:lnSpc>
                <a:spcPct val="130000"/>
              </a:lnSpc>
            </a:pPr>
            <a:r>
              <a:rPr kumimoji="1" lang="en-US" altLang="ko-KR" sz="7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Failure to comply may result in </a:t>
            </a:r>
            <a:r>
              <a:rPr kumimoji="1" lang="en-US" altLang="ko-KR" sz="700" spc="-30" err="1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civil·criminal</a:t>
            </a:r>
            <a:r>
              <a:rPr kumimoji="1" lang="en-US" altLang="ko-KR" sz="7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 penalties under the Unfair Competition Prevention and Trade Secret Protection Act and </a:t>
            </a:r>
            <a:r>
              <a:rPr kumimoji="1" lang="en-US" altLang="ko-KR" sz="700" spc="-30" err="1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civil·criminal</a:t>
            </a:r>
            <a:r>
              <a:rPr kumimoji="1" lang="en-US" altLang="ko-KR" sz="7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 laws.</a:t>
            </a:r>
            <a:endParaRPr kumimoji="1" lang="ko-KR" altLang="ko-KR" sz="700" spc="-3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  <a:p>
            <a:pPr algn="ctr">
              <a:lnSpc>
                <a:spcPct val="130000"/>
              </a:lnSpc>
            </a:pPr>
            <a:endParaRPr kumimoji="1" lang="en" altLang="ko-Kore-KR" sz="700" spc="-3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</p:txBody>
      </p:sp>
      <p:pic>
        <p:nvPicPr>
          <p:cNvPr id="14" name="그림 13" descr="텍스트, 클립아트이(가) 표시된 사진&#10;&#10;자동 생성된 설명">
            <a:extLst>
              <a:ext uri="{FF2B5EF4-FFF2-40B4-BE49-F238E27FC236}">
                <a16:creationId xmlns:a16="http://schemas.microsoft.com/office/drawing/2014/main" id="{00BD39E8-419A-00E2-04CD-5B95A62C56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9272" y="2133677"/>
            <a:ext cx="5433455" cy="1707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3977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CTR Color System">
      <a:dk1>
        <a:srgbClr val="000000"/>
      </a:dk1>
      <a:lt1>
        <a:sysClr val="window" lastClr="FFFFFF"/>
      </a:lt1>
      <a:dk2>
        <a:srgbClr val="F7F8F8"/>
      </a:dk2>
      <a:lt2>
        <a:srgbClr val="FFFF66"/>
      </a:lt2>
      <a:accent1>
        <a:srgbClr val="E1251B"/>
      </a:accent1>
      <a:accent2>
        <a:srgbClr val="CE0E2D"/>
      </a:accent2>
      <a:accent3>
        <a:srgbClr val="76777A"/>
      </a:accent3>
      <a:accent4>
        <a:srgbClr val="636569"/>
      </a:accent4>
      <a:accent5>
        <a:srgbClr val="00946E"/>
      </a:accent5>
      <a:accent6>
        <a:srgbClr val="007A4C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AC6D138A9216478D8C00E1C8E45BDF" ma:contentTypeVersion="8" ma:contentTypeDescription="Create a new document." ma:contentTypeScope="" ma:versionID="6faef00c484dd32349517bd1409d4d13">
  <xsd:schema xmlns:xsd="http://www.w3.org/2001/XMLSchema" xmlns:xs="http://www.w3.org/2001/XMLSchema" xmlns:p="http://schemas.microsoft.com/office/2006/metadata/properties" xmlns:ns2="5c7abf6b-9cf9-4d0d-b79a-adf7330794c1" xmlns:ns3="4b51ee87-befd-4db7-a3ab-e9817b37cc8f" targetNamespace="http://schemas.microsoft.com/office/2006/metadata/properties" ma:root="true" ma:fieldsID="73a415fd310fd5522748166c7b0fb33d" ns2:_="" ns3:_="">
    <xsd:import namespace="5c7abf6b-9cf9-4d0d-b79a-adf7330794c1"/>
    <xsd:import namespace="4b51ee87-befd-4db7-a3ab-e9817b37cc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c7abf6b-9cf9-4d0d-b79a-adf7330794c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1ee87-befd-4db7-a3ab-e9817b37cc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9B5447A-572A-4B96-8019-B4BC377A8C38}">
  <ds:schemaRefs>
    <ds:schemaRef ds:uri="4b51ee87-befd-4db7-a3ab-e9817b37cc8f"/>
    <ds:schemaRef ds:uri="5c7abf6b-9cf9-4d0d-b79a-adf7330794c1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ABDE4DB1-677C-4C61-B105-C81C92F4905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1D8AD0A-5CB6-49A0-9880-857CB954128C}"/>
</file>

<file path=docMetadata/LabelInfo.xml><?xml version="1.0" encoding="utf-8"?>
<clbl:labelList xmlns:clbl="http://schemas.microsoft.com/office/2020/mipLabelMetadata">
  <clbl:label id="{78059d40-19c8-4fad-b73a-4bd721d6054a}" enabled="1" method="Standard" siteId="{7626d4cb-4eb7-40ae-96db-5fd0b9c7db8f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테마</vt:lpstr>
      <vt:lpstr>해외진출 프로세스</vt:lpstr>
      <vt:lpstr>해외진출 프로세스 개요</vt:lpstr>
      <vt:lpstr>해외진출 검토 프로세스 1단계</vt:lpstr>
      <vt:lpstr>해외진출 검토 프로세스 2단계</vt:lpstr>
      <vt:lpstr>투자정보 조사 체크리스트</vt:lpstr>
      <vt:lpstr>체크리스트 _ 일반환경</vt:lpstr>
      <vt:lpstr>체크리스트 _ 투자환경</vt:lpstr>
      <vt:lpstr>체크리스트 _ 판매 / 유통</vt:lpstr>
      <vt:lpstr>체크리스트 _ 생산/제조</vt:lpstr>
      <vt:lpstr>체크리스트 _ 생산/제조</vt:lpstr>
      <vt:lpstr>체크리스트 _ 회계/재무/세무</vt:lpstr>
      <vt:lpstr>투자정보 조사 방법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Yunjin Jang 장윤진(인재경영팀)</dc:creator>
  <cp:revision>1</cp:revision>
  <dcterms:created xsi:type="dcterms:W3CDTF">2023-03-31T10:00:21Z</dcterms:created>
  <dcterms:modified xsi:type="dcterms:W3CDTF">2023-06-20T01:09:51Z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0x01010045AC6D138A9216478D8C00E1C8E45BDF</vt:lpwstr>
  </property>
  <property fmtid="{D5CDD505-2E9C-101B-9397-08002B2CF9AE}" pid="3" name="MediaServiceImageTags">
    <vt:lpwstr/>
  </property>
  <property fmtid="{D5CDD505-2E9C-101B-9397-08002B2CF9AE}" pid="4" name="MSIP_Label_78059d40-19c8-4fad-b73a-4bd721d6054a_Enabled">
    <vt:lpwstr>true</vt:lpwstr>
  </property>
  <property fmtid="{D5CDD505-2E9C-101B-9397-08002B2CF9AE}" pid="5" name="MSIP_Label_78059d40-19c8-4fad-b73a-4bd721d6054a_SetDate">
    <vt:lpwstr>2023-05-09T23:54:19Z</vt:lpwstr>
  </property>
  <property fmtid="{D5CDD505-2E9C-101B-9397-08002B2CF9AE}" pid="6" name="MSIP_Label_78059d40-19c8-4fad-b73a-4bd721d6054a_Method">
    <vt:lpwstr>Standard</vt:lpwstr>
  </property>
  <property fmtid="{D5CDD505-2E9C-101B-9397-08002B2CF9AE}" pid="7" name="MSIP_Label_78059d40-19c8-4fad-b73a-4bd721d6054a_Name">
    <vt:lpwstr>일반문서 (Unprotected)</vt:lpwstr>
  </property>
  <property fmtid="{D5CDD505-2E9C-101B-9397-08002B2CF9AE}" pid="8" name="MSIP_Label_78059d40-19c8-4fad-b73a-4bd721d6054a_SiteId">
    <vt:lpwstr>7626d4cb-4eb7-40ae-96db-5fd0b9c7db8f</vt:lpwstr>
  </property>
  <property fmtid="{D5CDD505-2E9C-101B-9397-08002B2CF9AE}" pid="9" name="MSIP_Label_78059d40-19c8-4fad-b73a-4bd721d6054a_ActionId">
    <vt:lpwstr>86eae47c-f826-4075-9e4a-8a032530eff3</vt:lpwstr>
  </property>
  <property fmtid="{D5CDD505-2E9C-101B-9397-08002B2CF9AE}" pid="10" name="MSIP_Label_78059d40-19c8-4fad-b73a-4bd721d6054a_ContentBits">
    <vt:lpwstr>0</vt:lpwstr>
  </property>
</Properties>
</file>