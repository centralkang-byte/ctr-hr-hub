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pptx" ContentType="application/vnd.openxmlformats-officedocument.presentationml.presentation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69" r:id="rId4"/>
    <p:sldId id="265" r:id="rId5"/>
    <p:sldId id="268" r:id="rId6"/>
    <p:sldId id="270" r:id="rId7"/>
    <p:sldId id="271" r:id="rId8"/>
    <p:sldId id="273" r:id="rId9"/>
    <p:sldId id="272" r:id="rId10"/>
    <p:sldId id="274" r:id="rId11"/>
    <p:sldId id="275" r:id="rId12"/>
    <p:sldId id="266" r:id="rId13"/>
  </p:sldIdLst>
  <p:sldSz cx="9906000" cy="6858000" type="A4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n Kim 김민선(AM영업1팀)" initials="MK김" lastIdx="1" clrIdx="0">
    <p:extLst>
      <p:ext uri="{19B8F6BF-5375-455C-9EA6-DF929625EA0E}">
        <p15:presenceInfo xmlns:p15="http://schemas.microsoft.com/office/powerpoint/2012/main" userId="S::102311@CTR.CO.KR::475288eb-d759-41bf-a9a6-2b0e0a1514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E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4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FDEEE-BBCC-4BCB-B98B-8FFD17B28204}" type="datetimeFigureOut">
              <a:rPr lang="ko-KR" altLang="en-US" smtClean="0"/>
              <a:t>2021-08-19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6B219-3C41-411D-8483-C5A98ACD37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97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041400"/>
            <a:ext cx="84201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33E1-1CA0-4FCA-91D2-9675C822D691}" type="datetime1">
              <a:rPr lang="ko-KR" altLang="en-US" smtClean="0"/>
              <a:t>2021-08-19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560" y="276886"/>
            <a:ext cx="821845" cy="24381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16" y="6456905"/>
            <a:ext cx="2380022" cy="18246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386" y="6306396"/>
            <a:ext cx="2997019" cy="337165"/>
          </a:xfrm>
          <a:prstGeom prst="rect">
            <a:avLst/>
          </a:prstGeom>
        </p:spPr>
      </p:pic>
      <p:cxnSp>
        <p:nvCxnSpPr>
          <p:cNvPr id="11" name="직선 연결선 10"/>
          <p:cNvCxnSpPr/>
          <p:nvPr userDrawn="1"/>
        </p:nvCxnSpPr>
        <p:spPr>
          <a:xfrm>
            <a:off x="742950" y="3444510"/>
            <a:ext cx="84201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3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65" y="203389"/>
            <a:ext cx="8543925" cy="47294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312AF-E5EA-411A-BBB8-E373C282155C}" type="datetime1">
              <a:rPr lang="ko-KR" altLang="en-US" smtClean="0"/>
              <a:t>2021-08-19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24751" y="6393808"/>
            <a:ext cx="2228850" cy="365125"/>
          </a:xfrm>
        </p:spPr>
        <p:txBody>
          <a:bodyPr/>
          <a:lstStyle/>
          <a:p>
            <a:fld id="{2F99EF70-AC82-4D18-A5F4-F44F7CD889F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7" y="836613"/>
            <a:ext cx="9217025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lvl1pPr>
              <a:buNone/>
              <a:defRPr kumimoji="1" lang="ko-KR" altLang="en-US" sz="1400" b="1" kern="120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 dirty="0"/>
              <a:t>1.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4" hasCustomPrompt="1"/>
          </p:nvPr>
        </p:nvSpPr>
        <p:spPr>
          <a:xfrm>
            <a:off x="488949" y="1196975"/>
            <a:ext cx="9072563" cy="532765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>
            <a:lvl1pPr>
              <a:buNone/>
              <a:defRPr kumimoji="1" lang="ko-KR" altLang="en-US" sz="1300" b="0" kern="120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 dirty="0"/>
              <a:t>1)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756" y="181832"/>
            <a:ext cx="821845" cy="24381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943" y="480087"/>
            <a:ext cx="1508658" cy="115664"/>
          </a:xfrm>
          <a:prstGeom prst="rect">
            <a:avLst/>
          </a:prstGeom>
        </p:spPr>
      </p:pic>
      <p:cxnSp>
        <p:nvCxnSpPr>
          <p:cNvPr id="13" name="직선 연결선 12"/>
          <p:cNvCxnSpPr/>
          <p:nvPr userDrawn="1"/>
        </p:nvCxnSpPr>
        <p:spPr>
          <a:xfrm>
            <a:off x="182880" y="697091"/>
            <a:ext cx="957072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32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4AF64-CDD9-4ADE-8ECC-5B10A135B4A2}" type="datetime1">
              <a:rPr lang="ko-KR" altLang="en-US" smtClean="0"/>
              <a:t>2021-08-19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9EF70-AC82-4D18-A5F4-F44F7CD889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6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PowerPoint_Presentation2.ppt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PowerPoint_Presentation.pptx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물류보안 메뉴얼</a:t>
            </a:r>
            <a:r>
              <a:rPr lang="en-US" altLang="ko-KR" b="1" dirty="0"/>
              <a:t> (</a:t>
            </a:r>
            <a:r>
              <a:rPr lang="ko-KR" altLang="en-US" b="1" dirty="0"/>
              <a:t>출고</a:t>
            </a:r>
            <a:r>
              <a:rPr lang="en-US" altLang="ko-KR" b="1" dirty="0"/>
              <a:t> - CY)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latin typeface="+mn-ea"/>
              </a:rPr>
              <a:t>2021. 08</a:t>
            </a:r>
          </a:p>
          <a:p>
            <a:r>
              <a:rPr lang="en-US" altLang="ko-KR" sz="2000" b="1" dirty="0">
                <a:latin typeface="+mn-ea"/>
              </a:rPr>
              <a:t>AM </a:t>
            </a:r>
            <a:r>
              <a:rPr lang="ko-KR" altLang="en-US" sz="2000" b="1" dirty="0">
                <a:latin typeface="+mn-ea"/>
              </a:rPr>
              <a:t>영업</a:t>
            </a:r>
            <a:r>
              <a:rPr lang="en-US" altLang="ko-KR" sz="2000" b="1" dirty="0">
                <a:latin typeface="+mn-ea"/>
              </a:rPr>
              <a:t>1</a:t>
            </a:r>
            <a:r>
              <a:rPr lang="ko-KR" altLang="en-US" sz="2000" b="1" dirty="0">
                <a:latin typeface="+mn-ea"/>
              </a:rPr>
              <a:t>팀</a:t>
            </a:r>
          </a:p>
        </p:txBody>
      </p:sp>
    </p:spTree>
    <p:extLst>
      <p:ext uri="{BB962C8B-B14F-4D97-AF65-F5344CB8AC3E}">
        <p14:creationId xmlns:p14="http://schemas.microsoft.com/office/powerpoint/2010/main" val="358188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0. </a:t>
            </a:r>
            <a:r>
              <a:rPr lang="ko-KR" altLang="en-US" b="1">
                <a:latin typeface="+mj-ea"/>
              </a:rPr>
              <a:t>개정이력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028365"/>
              </p:ext>
            </p:extLst>
          </p:nvPr>
        </p:nvGraphicFramePr>
        <p:xfrm>
          <a:off x="290446" y="908048"/>
          <a:ext cx="9359901" cy="540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9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21.07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최초작성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547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22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0. </a:t>
            </a:r>
            <a:r>
              <a:rPr lang="ko-KR" altLang="en-US" b="1" dirty="0">
                <a:latin typeface="+mj-ea"/>
              </a:rPr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344487" y="836612"/>
            <a:ext cx="9217025" cy="4633311"/>
          </a:xfrm>
        </p:spPr>
        <p:txBody>
          <a:bodyPr anchor="t">
            <a:no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000" dirty="0"/>
              <a:t>Supply Chain Map (</a:t>
            </a:r>
            <a:r>
              <a:rPr lang="ko-KR" altLang="en-US" sz="2000" dirty="0"/>
              <a:t>출고 </a:t>
            </a:r>
            <a:r>
              <a:rPr lang="en-US" altLang="ko-KR" sz="2000" dirty="0"/>
              <a:t>– CY)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/>
              <a:t>물류보안 리스크 및 방지책</a:t>
            </a:r>
            <a:r>
              <a:rPr lang="en-US" altLang="ko-KR" sz="2000" dirty="0"/>
              <a:t> 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/>
              <a:t>위험성 평가 프로세스</a:t>
            </a:r>
            <a:endParaRPr lang="en-US" altLang="ko-KR" sz="2000" dirty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/>
              <a:t>이상상황 대응 프로세스</a:t>
            </a:r>
            <a:endParaRPr lang="en-US" altLang="ko-KR" sz="2000" dirty="0"/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/>
              <a:t>관련자료</a:t>
            </a:r>
            <a:br>
              <a:rPr lang="en-US" altLang="ko-KR" sz="2000" dirty="0"/>
            </a:br>
            <a:endParaRPr lang="en-US" altLang="ko-KR" sz="2000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8350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1. </a:t>
            </a:r>
            <a:r>
              <a:rPr lang="en-US" altLang="ko-KR" b="1" dirty="0"/>
              <a:t>Supply Chain Map (</a:t>
            </a:r>
            <a:r>
              <a:rPr lang="ko-KR" altLang="en-US" b="1" dirty="0"/>
              <a:t>출고</a:t>
            </a:r>
            <a:r>
              <a:rPr lang="en-US" altLang="ko-KR" b="1" dirty="0"/>
              <a:t> - CY)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FC78B6-34BC-483F-8F23-6E3A8CFF8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3" r="2690"/>
          <a:stretch/>
        </p:blipFill>
        <p:spPr>
          <a:xfrm>
            <a:off x="701500" y="1466037"/>
            <a:ext cx="1745536" cy="1213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CC546B-C9E1-46B7-9EC1-642773508CC7}"/>
              </a:ext>
            </a:extLst>
          </p:cNvPr>
          <p:cNvSpPr txBox="1"/>
          <p:nvPr/>
        </p:nvSpPr>
        <p:spPr>
          <a:xfrm>
            <a:off x="892768" y="2770350"/>
            <a:ext cx="1411656" cy="71508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ko-KR" altLang="en-US" b="1" dirty="0" err="1">
                <a:solidFill>
                  <a:schemeClr val="bg1"/>
                </a:solidFill>
              </a:rPr>
              <a:t>센트랄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AM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영산 공장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10" name="아래쪽 화살표 60">
            <a:extLst>
              <a:ext uri="{FF2B5EF4-FFF2-40B4-BE49-F238E27FC236}">
                <a16:creationId xmlns:a16="http://schemas.microsoft.com/office/drawing/2014/main" id="{D2B50511-D922-413A-879D-0D1768A88271}"/>
              </a:ext>
            </a:extLst>
          </p:cNvPr>
          <p:cNvSpPr/>
          <p:nvPr/>
        </p:nvSpPr>
        <p:spPr>
          <a:xfrm rot="16200000">
            <a:off x="4681973" y="562221"/>
            <a:ext cx="353798" cy="3934437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0208C4-6669-4FB5-8DA8-32643D958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88" y="1871282"/>
            <a:ext cx="1032050" cy="481258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F3D9306-FFBE-44BD-851B-2EB367934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255228"/>
              </p:ext>
            </p:extLst>
          </p:nvPr>
        </p:nvGraphicFramePr>
        <p:xfrm>
          <a:off x="2756730" y="2782344"/>
          <a:ext cx="4111305" cy="699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0541">
                  <a:extLst>
                    <a:ext uri="{9D8B030D-6E8A-4147-A177-3AD203B41FA5}">
                      <a16:colId xmlns:a16="http://schemas.microsoft.com/office/drawing/2014/main" val="1970439939"/>
                    </a:ext>
                  </a:extLst>
                </a:gridCol>
                <a:gridCol w="1073791">
                  <a:extLst>
                    <a:ext uri="{9D8B030D-6E8A-4147-A177-3AD203B41FA5}">
                      <a16:colId xmlns:a16="http://schemas.microsoft.com/office/drawing/2014/main" val="3992274827"/>
                    </a:ext>
                  </a:extLst>
                </a:gridCol>
                <a:gridCol w="1124125">
                  <a:extLst>
                    <a:ext uri="{9D8B030D-6E8A-4147-A177-3AD203B41FA5}">
                      <a16:colId xmlns:a16="http://schemas.microsoft.com/office/drawing/2014/main" val="2987307269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2098209777"/>
                    </a:ext>
                  </a:extLst>
                </a:gridCol>
              </a:tblGrid>
              <a:tr h="2799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도착항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운송거리 </a:t>
                      </a:r>
                      <a:r>
                        <a:rPr lang="en-US" altLang="ko-KR" sz="1000" b="1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편도</a:t>
                      </a:r>
                      <a:r>
                        <a:rPr lang="en-US" altLang="ko-KR" sz="1000" b="1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운송시간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특이사항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323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부산 신항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j-ea"/>
                          <a:ea typeface="+mj-ea"/>
                        </a:rPr>
                        <a:t>79km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시간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20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  <a:latin typeface="+mj-ea"/>
                          <a:ea typeface="+mj-ea"/>
                        </a:rPr>
                        <a:t>무경유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&amp; </a:t>
                      </a:r>
                      <a:r>
                        <a:rPr lang="ko-KR" altLang="en-US" sz="1000" u="none" strike="noStrike" dirty="0" err="1">
                          <a:effectLst/>
                          <a:latin typeface="+mj-ea"/>
                          <a:ea typeface="+mj-ea"/>
                        </a:rPr>
                        <a:t>무정차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2159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부산 북항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  <a:latin typeface="+mj-ea"/>
                          <a:ea typeface="+mj-ea"/>
                        </a:rPr>
                        <a:t>92km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시간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40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62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FBD54B9-91AD-4335-8C3B-F3E93767A703}"/>
              </a:ext>
            </a:extLst>
          </p:cNvPr>
          <p:cNvSpPr txBox="1"/>
          <p:nvPr/>
        </p:nvSpPr>
        <p:spPr>
          <a:xfrm>
            <a:off x="7336159" y="2766294"/>
            <a:ext cx="1535359" cy="71508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부산 </a:t>
            </a:r>
            <a:r>
              <a:rPr lang="ko-KR" altLang="en-US" b="1" dirty="0" err="1">
                <a:solidFill>
                  <a:schemeClr val="bg1"/>
                </a:solidFill>
              </a:rPr>
              <a:t>신항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CY</a:t>
            </a: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부산 </a:t>
            </a:r>
            <a:r>
              <a:rPr lang="ko-KR" altLang="en-US" b="1" dirty="0" err="1">
                <a:solidFill>
                  <a:schemeClr val="bg1"/>
                </a:solidFill>
              </a:rPr>
              <a:t>북항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CY</a:t>
            </a:r>
          </a:p>
        </p:txBody>
      </p:sp>
      <p:sp>
        <p:nvSpPr>
          <p:cNvPr id="14" name="아래쪽 화살표 60">
            <a:extLst>
              <a:ext uri="{FF2B5EF4-FFF2-40B4-BE49-F238E27FC236}">
                <a16:creationId xmlns:a16="http://schemas.microsoft.com/office/drawing/2014/main" id="{B13A9B2F-EF65-49A3-A9AE-172C2665BA93}"/>
              </a:ext>
            </a:extLst>
          </p:cNvPr>
          <p:cNvSpPr/>
          <p:nvPr/>
        </p:nvSpPr>
        <p:spPr>
          <a:xfrm rot="10800000">
            <a:off x="1376689" y="3735797"/>
            <a:ext cx="443721" cy="116337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아래쪽 화살표 60">
            <a:extLst>
              <a:ext uri="{FF2B5EF4-FFF2-40B4-BE49-F238E27FC236}">
                <a16:creationId xmlns:a16="http://schemas.microsoft.com/office/drawing/2014/main" id="{3B940562-3C0C-43EF-90AD-7B602D80441D}"/>
              </a:ext>
            </a:extLst>
          </p:cNvPr>
          <p:cNvSpPr/>
          <p:nvPr/>
        </p:nvSpPr>
        <p:spPr>
          <a:xfrm rot="10800000">
            <a:off x="1490689" y="4653322"/>
            <a:ext cx="6285903" cy="2341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아래쪽 화살표 60">
            <a:extLst>
              <a:ext uri="{FF2B5EF4-FFF2-40B4-BE49-F238E27FC236}">
                <a16:creationId xmlns:a16="http://schemas.microsoft.com/office/drawing/2014/main" id="{55116075-732F-4C4A-B194-420ADF7A8C35}"/>
              </a:ext>
            </a:extLst>
          </p:cNvPr>
          <p:cNvSpPr/>
          <p:nvPr/>
        </p:nvSpPr>
        <p:spPr>
          <a:xfrm rot="10800000">
            <a:off x="7684314" y="3801570"/>
            <a:ext cx="218114" cy="10926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2380F53-F300-49DE-A907-888159CB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79353" y="4142226"/>
            <a:ext cx="1032050" cy="4812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1C6E386-1492-40D1-9887-9DBBDEB78D05}"/>
              </a:ext>
            </a:extLst>
          </p:cNvPr>
          <p:cNvSpPr txBox="1"/>
          <p:nvPr/>
        </p:nvSpPr>
        <p:spPr>
          <a:xfrm>
            <a:off x="1732574" y="3851322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② 컨테이너 입고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18C0F-2309-45E2-9F53-7EE367464CA8}"/>
              </a:ext>
            </a:extLst>
          </p:cNvPr>
          <p:cNvSpPr txBox="1"/>
          <p:nvPr/>
        </p:nvSpPr>
        <p:spPr>
          <a:xfrm>
            <a:off x="334471" y="1143826"/>
            <a:ext cx="25394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③ 화물 </a:t>
            </a: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</a:rPr>
              <a:t>적입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 및 컨테이너 봉인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ADCFCF-5D0F-4506-BC61-37C3F9EDB776}"/>
              </a:ext>
            </a:extLst>
          </p:cNvPr>
          <p:cNvSpPr txBox="1"/>
          <p:nvPr/>
        </p:nvSpPr>
        <p:spPr>
          <a:xfrm>
            <a:off x="3983728" y="1563505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④ 컨테이너 운송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CA7823A-B633-4B14-8A51-420105A0D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020" y="1406723"/>
            <a:ext cx="1400669" cy="1312340"/>
          </a:xfrm>
          <a:prstGeom prst="rect">
            <a:avLst/>
          </a:prstGeom>
        </p:spPr>
      </p:pic>
      <p:sp>
        <p:nvSpPr>
          <p:cNvPr id="23" name="아래쪽 화살표 60">
            <a:extLst>
              <a:ext uri="{FF2B5EF4-FFF2-40B4-BE49-F238E27FC236}">
                <a16:creationId xmlns:a16="http://schemas.microsoft.com/office/drawing/2014/main" id="{81E82403-3A32-4397-8599-A5EB5CAE8B5D}"/>
              </a:ext>
            </a:extLst>
          </p:cNvPr>
          <p:cNvSpPr/>
          <p:nvPr/>
        </p:nvSpPr>
        <p:spPr>
          <a:xfrm rot="10800000">
            <a:off x="8150802" y="3737594"/>
            <a:ext cx="443721" cy="116337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9C3C6D-0748-4691-B8AA-0E6ED2371E04}"/>
              </a:ext>
            </a:extLst>
          </p:cNvPr>
          <p:cNvSpPr txBox="1"/>
          <p:nvPr/>
        </p:nvSpPr>
        <p:spPr>
          <a:xfrm>
            <a:off x="6153233" y="3860248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① 컨테이너 픽업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F0056F7-4F30-4B48-8616-9A3CBF093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42133" y="4151228"/>
            <a:ext cx="1032050" cy="4812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563A81A-F471-4C5D-B109-B4FC656196A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552" t="7234" r="7055" b="12497"/>
          <a:stretch/>
        </p:blipFill>
        <p:spPr>
          <a:xfrm>
            <a:off x="7563680" y="5018802"/>
            <a:ext cx="1107348" cy="9010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6BB3BA3-6A79-469B-BF37-4467FAAC46F8}"/>
              </a:ext>
            </a:extLst>
          </p:cNvPr>
          <p:cNvSpPr txBox="1"/>
          <p:nvPr/>
        </p:nvSpPr>
        <p:spPr>
          <a:xfrm>
            <a:off x="7429456" y="6023155"/>
            <a:ext cx="1463734" cy="408623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운송협력사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68DF974-AF52-4B83-9F05-B3265FCDCAE6}"/>
              </a:ext>
            </a:extLst>
          </p:cNvPr>
          <p:cNvSpPr/>
          <p:nvPr/>
        </p:nvSpPr>
        <p:spPr>
          <a:xfrm>
            <a:off x="366043" y="897622"/>
            <a:ext cx="8855235" cy="2784967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6C6EB8-8329-4192-967C-A5E08661C00B}"/>
              </a:ext>
            </a:extLst>
          </p:cNvPr>
          <p:cNvSpPr txBox="1"/>
          <p:nvPr/>
        </p:nvSpPr>
        <p:spPr>
          <a:xfrm>
            <a:off x="6483206" y="1909004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⑤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</a:rPr>
              <a:t> CY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도착</a:t>
            </a:r>
            <a:endParaRPr lang="en-US" altLang="ko-KR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09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2. </a:t>
            </a:r>
            <a:r>
              <a:rPr lang="ko-KR" altLang="en-US" b="1" dirty="0">
                <a:latin typeface="+mj-ea"/>
              </a:rPr>
              <a:t>물류보안 리스크 </a:t>
            </a:r>
            <a:r>
              <a:rPr lang="en-US" altLang="ko-KR" b="1" dirty="0"/>
              <a:t>(</a:t>
            </a:r>
            <a:r>
              <a:rPr lang="ko-KR" altLang="en-US" b="1" dirty="0"/>
              <a:t>출고</a:t>
            </a:r>
            <a:r>
              <a:rPr lang="en-US" altLang="ko-KR" b="1" dirty="0"/>
              <a:t> - CY)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FC78B6-34BC-483F-8F23-6E3A8CFF8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3" r="2690"/>
          <a:stretch/>
        </p:blipFill>
        <p:spPr>
          <a:xfrm>
            <a:off x="701500" y="2573385"/>
            <a:ext cx="1745536" cy="1213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CC546B-C9E1-46B7-9EC1-642773508CC7}"/>
              </a:ext>
            </a:extLst>
          </p:cNvPr>
          <p:cNvSpPr txBox="1"/>
          <p:nvPr/>
        </p:nvSpPr>
        <p:spPr>
          <a:xfrm>
            <a:off x="892768" y="3877698"/>
            <a:ext cx="1411656" cy="71508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ko-KR" altLang="en-US" b="1" dirty="0" err="1">
                <a:solidFill>
                  <a:schemeClr val="bg1"/>
                </a:solidFill>
              </a:rPr>
              <a:t>센트랄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AM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영산 공장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10" name="아래쪽 화살표 60">
            <a:extLst>
              <a:ext uri="{FF2B5EF4-FFF2-40B4-BE49-F238E27FC236}">
                <a16:creationId xmlns:a16="http://schemas.microsoft.com/office/drawing/2014/main" id="{D2B50511-D922-413A-879D-0D1768A88271}"/>
              </a:ext>
            </a:extLst>
          </p:cNvPr>
          <p:cNvSpPr/>
          <p:nvPr/>
        </p:nvSpPr>
        <p:spPr>
          <a:xfrm rot="16200000">
            <a:off x="4681973" y="1669569"/>
            <a:ext cx="353798" cy="3934437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0208C4-6669-4FB5-8DA8-32643D958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88" y="2978630"/>
            <a:ext cx="1032050" cy="4812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BD54B9-91AD-4335-8C3B-F3E93767A703}"/>
              </a:ext>
            </a:extLst>
          </p:cNvPr>
          <p:cNvSpPr txBox="1"/>
          <p:nvPr/>
        </p:nvSpPr>
        <p:spPr>
          <a:xfrm>
            <a:off x="7336159" y="3873642"/>
            <a:ext cx="1535359" cy="71508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부산 </a:t>
            </a:r>
            <a:r>
              <a:rPr lang="ko-KR" altLang="en-US" b="1" dirty="0" err="1">
                <a:solidFill>
                  <a:schemeClr val="bg1"/>
                </a:solidFill>
              </a:rPr>
              <a:t>신항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CY</a:t>
            </a: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부산 </a:t>
            </a:r>
            <a:r>
              <a:rPr lang="ko-KR" altLang="en-US" b="1" dirty="0" err="1">
                <a:solidFill>
                  <a:schemeClr val="bg1"/>
                </a:solidFill>
              </a:rPr>
              <a:t>북항</a:t>
            </a: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b="1" dirty="0">
                <a:solidFill>
                  <a:schemeClr val="bg1"/>
                </a:solidFill>
              </a:rPr>
              <a:t>CY</a:t>
            </a:r>
          </a:p>
        </p:txBody>
      </p:sp>
      <p:sp>
        <p:nvSpPr>
          <p:cNvPr id="14" name="아래쪽 화살표 60">
            <a:extLst>
              <a:ext uri="{FF2B5EF4-FFF2-40B4-BE49-F238E27FC236}">
                <a16:creationId xmlns:a16="http://schemas.microsoft.com/office/drawing/2014/main" id="{B13A9B2F-EF65-49A3-A9AE-172C2665BA93}"/>
              </a:ext>
            </a:extLst>
          </p:cNvPr>
          <p:cNvSpPr/>
          <p:nvPr/>
        </p:nvSpPr>
        <p:spPr>
          <a:xfrm rot="10800000">
            <a:off x="1376689" y="4843145"/>
            <a:ext cx="443721" cy="116337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2380F53-F300-49DE-A907-888159CB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79353" y="5249574"/>
            <a:ext cx="1032050" cy="48125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CA7823A-B633-4B14-8A51-420105A0D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020" y="2514071"/>
            <a:ext cx="1400669" cy="1312340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68DF974-AF52-4B83-9F05-B3265FCDCAE6}"/>
              </a:ext>
            </a:extLst>
          </p:cNvPr>
          <p:cNvSpPr/>
          <p:nvPr/>
        </p:nvSpPr>
        <p:spPr>
          <a:xfrm>
            <a:off x="366043" y="2004970"/>
            <a:ext cx="8855235" cy="2784967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별: 꼭짓점 5개 3">
            <a:extLst>
              <a:ext uri="{FF2B5EF4-FFF2-40B4-BE49-F238E27FC236}">
                <a16:creationId xmlns:a16="http://schemas.microsoft.com/office/drawing/2014/main" id="{159FAB2F-79ED-46F3-9CC0-BA3403D57439}"/>
              </a:ext>
            </a:extLst>
          </p:cNvPr>
          <p:cNvSpPr/>
          <p:nvPr/>
        </p:nvSpPr>
        <p:spPr>
          <a:xfrm>
            <a:off x="660994" y="2088770"/>
            <a:ext cx="600782" cy="54060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0" name="별: 꼭짓점 5개 29">
            <a:extLst>
              <a:ext uri="{FF2B5EF4-FFF2-40B4-BE49-F238E27FC236}">
                <a16:creationId xmlns:a16="http://schemas.microsoft.com/office/drawing/2014/main" id="{5DC52456-46E1-4B1B-BC06-E78C1E7128AB}"/>
              </a:ext>
            </a:extLst>
          </p:cNvPr>
          <p:cNvSpPr/>
          <p:nvPr/>
        </p:nvSpPr>
        <p:spPr>
          <a:xfrm>
            <a:off x="1570276" y="4601708"/>
            <a:ext cx="600782" cy="54060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 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4A793B-5C54-41BC-B549-F86015170E9B}"/>
              </a:ext>
            </a:extLst>
          </p:cNvPr>
          <p:cNvSpPr txBox="1"/>
          <p:nvPr/>
        </p:nvSpPr>
        <p:spPr>
          <a:xfrm>
            <a:off x="2009997" y="4861720"/>
            <a:ext cx="1684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컨테이너 입고단계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33" name="별: 꼭짓점 5개 32">
            <a:extLst>
              <a:ext uri="{FF2B5EF4-FFF2-40B4-BE49-F238E27FC236}">
                <a16:creationId xmlns:a16="http://schemas.microsoft.com/office/drawing/2014/main" id="{19A77400-C328-46C5-9FC4-FA93B12F3EB3}"/>
              </a:ext>
            </a:extLst>
          </p:cNvPr>
          <p:cNvSpPr/>
          <p:nvPr/>
        </p:nvSpPr>
        <p:spPr>
          <a:xfrm>
            <a:off x="2442110" y="3559810"/>
            <a:ext cx="600782" cy="54060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34" name="별: 꼭짓점 5개 33">
            <a:extLst>
              <a:ext uri="{FF2B5EF4-FFF2-40B4-BE49-F238E27FC236}">
                <a16:creationId xmlns:a16="http://schemas.microsoft.com/office/drawing/2014/main" id="{8F5C3055-826D-410F-A492-924463734F5E}"/>
              </a:ext>
            </a:extLst>
          </p:cNvPr>
          <p:cNvSpPr/>
          <p:nvPr/>
        </p:nvSpPr>
        <p:spPr>
          <a:xfrm>
            <a:off x="4439826" y="2399450"/>
            <a:ext cx="600782" cy="54060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A4E54B-3665-45AA-9FEC-014ACA4FFAC2}"/>
              </a:ext>
            </a:extLst>
          </p:cNvPr>
          <p:cNvSpPr txBox="1"/>
          <p:nvPr/>
        </p:nvSpPr>
        <p:spPr>
          <a:xfrm>
            <a:off x="1108338" y="2317743"/>
            <a:ext cx="245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컨테이너 </a:t>
            </a:r>
            <a:r>
              <a:rPr lang="ko-KR" altLang="en-US" sz="1400" b="1" dirty="0" err="1">
                <a:solidFill>
                  <a:srgbClr val="FF0000"/>
                </a:solidFill>
              </a:rPr>
              <a:t>적입</a:t>
            </a:r>
            <a:r>
              <a:rPr lang="ko-KR" altLang="en-US" sz="1400" b="1" dirty="0">
                <a:solidFill>
                  <a:srgbClr val="FF0000"/>
                </a:solidFill>
              </a:rPr>
              <a:t> 및 봉인단계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CB7B69-0A06-4D3B-B1BC-E483F7AF4BEC}"/>
              </a:ext>
            </a:extLst>
          </p:cNvPr>
          <p:cNvSpPr txBox="1"/>
          <p:nvPr/>
        </p:nvSpPr>
        <p:spPr>
          <a:xfrm>
            <a:off x="2862750" y="3805698"/>
            <a:ext cx="245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컨테이너 출고단계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1E9500-6702-4166-9F98-ADD7035C350A}"/>
              </a:ext>
            </a:extLst>
          </p:cNvPr>
          <p:cNvSpPr txBox="1"/>
          <p:nvPr/>
        </p:nvSpPr>
        <p:spPr>
          <a:xfrm>
            <a:off x="4868063" y="2658355"/>
            <a:ext cx="245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컨테이너 운송단계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B664D698-D304-4A38-B9E6-516166F148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Supply Chain </a:t>
            </a:r>
            <a:r>
              <a:rPr lang="ko-KR" altLang="en-US" dirty="0"/>
              <a:t>업무 단계 분류 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8040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2. </a:t>
            </a:r>
            <a:r>
              <a:rPr lang="ko-KR" altLang="en-US" b="1" dirty="0">
                <a:latin typeface="+mj-ea"/>
              </a:rPr>
              <a:t>물류보안 리스크 및 방지책 </a:t>
            </a:r>
            <a:r>
              <a:rPr lang="en-US" altLang="ko-KR" b="1" dirty="0"/>
              <a:t>(</a:t>
            </a:r>
            <a:r>
              <a:rPr lang="ko-KR" altLang="en-US" b="1" dirty="0"/>
              <a:t>출고</a:t>
            </a:r>
            <a:r>
              <a:rPr lang="en-US" altLang="ko-KR" b="1" dirty="0"/>
              <a:t> - CY)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CF358DD-57CB-41F9-BF79-294272A22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53257"/>
              </p:ext>
            </p:extLst>
          </p:nvPr>
        </p:nvGraphicFramePr>
        <p:xfrm>
          <a:off x="362102" y="1465347"/>
          <a:ext cx="9130295" cy="4069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410">
                  <a:extLst>
                    <a:ext uri="{9D8B030D-6E8A-4147-A177-3AD203B41FA5}">
                      <a16:colId xmlns:a16="http://schemas.microsoft.com/office/drawing/2014/main" val="3270014274"/>
                    </a:ext>
                  </a:extLst>
                </a:gridCol>
                <a:gridCol w="1375795">
                  <a:extLst>
                    <a:ext uri="{9D8B030D-6E8A-4147-A177-3AD203B41FA5}">
                      <a16:colId xmlns:a16="http://schemas.microsoft.com/office/drawing/2014/main" val="2791459328"/>
                    </a:ext>
                  </a:extLst>
                </a:gridCol>
                <a:gridCol w="2348917">
                  <a:extLst>
                    <a:ext uri="{9D8B030D-6E8A-4147-A177-3AD203B41FA5}">
                      <a16:colId xmlns:a16="http://schemas.microsoft.com/office/drawing/2014/main" val="2391490769"/>
                    </a:ext>
                  </a:extLst>
                </a:gridCol>
                <a:gridCol w="1216404">
                  <a:extLst>
                    <a:ext uri="{9D8B030D-6E8A-4147-A177-3AD203B41FA5}">
                      <a16:colId xmlns:a16="http://schemas.microsoft.com/office/drawing/2014/main" val="3489078675"/>
                    </a:ext>
                  </a:extLst>
                </a:gridCol>
                <a:gridCol w="864066">
                  <a:extLst>
                    <a:ext uri="{9D8B030D-6E8A-4147-A177-3AD203B41FA5}">
                      <a16:colId xmlns:a16="http://schemas.microsoft.com/office/drawing/2014/main" val="1685135636"/>
                    </a:ext>
                  </a:extLst>
                </a:gridCol>
                <a:gridCol w="2969703">
                  <a:extLst>
                    <a:ext uri="{9D8B030D-6E8A-4147-A177-3AD203B41FA5}">
                      <a16:colId xmlns:a16="http://schemas.microsoft.com/office/drawing/2014/main" val="1335976222"/>
                    </a:ext>
                  </a:extLst>
                </a:gridCol>
              </a:tblGrid>
              <a:tr h="3942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  <a:latin typeface="+mj-ea"/>
                          <a:ea typeface="+mj-ea"/>
                        </a:rPr>
                        <a:t>Supply Chain </a:t>
                      </a:r>
                      <a:r>
                        <a:rPr lang="ko-KR" altLang="en-US" sz="1000" b="1" u="none" strike="noStrike">
                          <a:effectLst/>
                          <a:latin typeface="+mj-ea"/>
                          <a:ea typeface="+mj-ea"/>
                        </a:rPr>
                        <a:t>단계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j-ea"/>
                          <a:ea typeface="+mj-ea"/>
                        </a:rPr>
                        <a:t>이상상황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확인방안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확인주체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ea"/>
                          <a:ea typeface="+mj-ea"/>
                        </a:rPr>
                        <a:t>Proof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6105"/>
                  </a:ext>
                </a:extLst>
              </a:tr>
              <a:tr h="2933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 입고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미허가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인원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차량 출입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운전사 신원 확인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당사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출입 시 운전사 신원 확인 프로세스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57700"/>
                  </a:ext>
                </a:extLst>
              </a:tr>
              <a:tr h="29333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적입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및 봉인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컨테이너 파손 또는 비인가 물품 은닉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컨테이너 사전검사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당사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8 Point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검사 진행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747538"/>
                  </a:ext>
                </a:extLst>
              </a:tr>
              <a:tr h="293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선적물품 불일치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선적물품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당사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수출물품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출하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운송 요청내역 비교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461640"/>
                  </a:ext>
                </a:extLst>
              </a:tr>
              <a:tr h="293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시건장치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봉인 이상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시건장치</a:t>
                      </a:r>
                      <a:r>
                        <a:rPr lang="en-US" altLang="ko-KR" sz="900" u="none" strike="noStrike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봉인 확인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당사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시건장치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봉인 확인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719271"/>
                  </a:ext>
                </a:extLst>
              </a:tr>
              <a:tr h="2933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컨테이너 출고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미허가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인원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차량 출입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운전사 신원 확인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당사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출입 시 운전사 신원 확인 프로세스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745410"/>
                  </a:ext>
                </a:extLst>
              </a:tr>
              <a:tr h="10982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컨테이너 운송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사고발생으로 인한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화물 파손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사고발생 접수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운송협력사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사고현황 즉시 통보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운송협력사 →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센트랄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b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 2.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이상 발생 시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① 필요시 현장증명을 위한 사진작업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② 품질관리 검사진행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당사 품질관리 규정에 따름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b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③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재작업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재포장 후 출하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090189"/>
                  </a:ext>
                </a:extLst>
              </a:tr>
              <a:tr h="11106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+mj-ea"/>
                          <a:ea typeface="+mj-ea"/>
                        </a:rPr>
                        <a:t>차량정차 및 차량우회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정차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우회이력 접수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운송협력사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컨테이너 외관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씰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넘버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봉인상태 확인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차량정차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경로우회 발생 보고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이상 발생 시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① 이상현황 즉시 통보 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운송협력사 → </a:t>
                      </a:r>
                      <a:r>
                        <a:rPr lang="ko-KR" altLang="en-US" sz="900" u="none" strike="noStrike" dirty="0" err="1">
                          <a:effectLst/>
                          <a:latin typeface="+mj-ea"/>
                          <a:ea typeface="+mj-ea"/>
                        </a:rPr>
                        <a:t>센트랄</a:t>
                      </a: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b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900" u="none" strike="noStrike" dirty="0"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화물 전수검사 진행 및 이상여부 확인</a:t>
                      </a:r>
                      <a:b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900" u="none" strike="noStrike" dirty="0">
                          <a:effectLst/>
                          <a:latin typeface="+mj-ea"/>
                          <a:ea typeface="+mj-ea"/>
                        </a:rPr>
                        <a:t>③ 특이사항 발견 시 내부부고 및 세관신고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32" marR="6332" marT="633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761205"/>
                  </a:ext>
                </a:extLst>
              </a:tr>
            </a:tbl>
          </a:graphicData>
        </a:graphic>
      </p:graphicFrame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ABB89C7C-6C64-4BCF-87B5-133A6851A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altLang="ko-KR" dirty="0"/>
              <a:t>2)</a:t>
            </a:r>
            <a:r>
              <a:rPr lang="ko-KR" altLang="en-US" dirty="0"/>
              <a:t>  </a:t>
            </a:r>
            <a:r>
              <a:rPr lang="en-US" altLang="ko-KR" dirty="0"/>
              <a:t>Supply Chain</a:t>
            </a:r>
            <a:r>
              <a:rPr lang="ko-KR" altLang="en-US" dirty="0"/>
              <a:t> 업무 단계 별 리스크 및 방지대책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678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3. </a:t>
            </a:r>
            <a:r>
              <a:rPr lang="ko-KR" altLang="en-US" b="1" dirty="0">
                <a:latin typeface="+mj-ea"/>
              </a:rPr>
              <a:t>위험성 평가 프로세스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ABB89C7C-6C64-4BCF-87B5-133A6851A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목적 </a:t>
            </a:r>
            <a:r>
              <a:rPr lang="en-US" altLang="ko-KR" dirty="0"/>
              <a:t>:  </a:t>
            </a:r>
            <a:r>
              <a:rPr lang="ko-KR" altLang="en-US" dirty="0"/>
              <a:t>당사 및 당사 화물의 물류보안을 저해하는 위험요소를 식별</a:t>
            </a:r>
            <a:r>
              <a:rPr lang="en-US" altLang="ko-KR" dirty="0"/>
              <a:t>, </a:t>
            </a:r>
            <a:r>
              <a:rPr lang="ko-KR" altLang="en-US" dirty="0"/>
              <a:t>해당 위험요소의 발생가능성과 영향을 분석하여 위험도를 평가하고 이에 대한 개선대책 마련과 이행을 통해 위험요소 통제 및 위험관리를 위함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적용대상 및 범위 </a:t>
            </a:r>
            <a:r>
              <a:rPr lang="en-US" altLang="ko-KR" dirty="0"/>
              <a:t>: </a:t>
            </a:r>
            <a:r>
              <a:rPr lang="ko-KR" altLang="en-US" dirty="0"/>
              <a:t>당사 공장에 출입하는 모든 수출입 물품 및 운송차량에 적용하며</a:t>
            </a:r>
            <a:r>
              <a:rPr lang="en-US" altLang="ko-KR" dirty="0"/>
              <a:t>, </a:t>
            </a:r>
            <a:r>
              <a:rPr lang="ko-KR" altLang="en-US" dirty="0"/>
              <a:t>컨테이너의 출고시점부터 </a:t>
            </a:r>
            <a:r>
              <a:rPr lang="en-US" altLang="ko-KR" dirty="0"/>
              <a:t>~ CY </a:t>
            </a:r>
            <a:r>
              <a:rPr lang="ko-KR" altLang="en-US" dirty="0"/>
              <a:t>도착시점 까지 기준으로 한다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일정 및 수행주기 </a:t>
            </a:r>
            <a:r>
              <a:rPr lang="en-US" altLang="ko-KR" dirty="0"/>
              <a:t>: 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회 </a:t>
            </a:r>
            <a:r>
              <a:rPr lang="en-US" altLang="ko-KR" dirty="0"/>
              <a:t>                                                                                                                    (</a:t>
            </a:r>
            <a:r>
              <a:rPr lang="ko-KR" altLang="en-US" dirty="0"/>
              <a:t>매 년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주차 수행을 기준으로 하나</a:t>
            </a:r>
            <a:r>
              <a:rPr lang="en-US" altLang="ko-KR" dirty="0"/>
              <a:t>, </a:t>
            </a:r>
            <a:r>
              <a:rPr lang="ko-KR" altLang="en-US" dirty="0"/>
              <a:t>사업장 현황에 따라 유동적으로 조정한다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평가 및 기준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평가방법 </a:t>
            </a:r>
            <a:r>
              <a:rPr lang="en-US" altLang="ko-KR" dirty="0"/>
              <a:t>: </a:t>
            </a:r>
            <a:r>
              <a:rPr lang="ko-KR" altLang="en-US" dirty="0"/>
              <a:t>식별된 위험요소의 발생가능성과 그 결과로 인한 영향을 분석하고 그 내역을 평가표에 기재한다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평가기준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ⓐ 발생가능성 </a:t>
            </a:r>
            <a:r>
              <a:rPr lang="en-US" altLang="ko-KR" dirty="0"/>
              <a:t>:  1~4 </a:t>
            </a:r>
            <a:r>
              <a:rPr lang="ko-KR" altLang="en-US" dirty="0"/>
              <a:t>까지 발생가능성이 높을수록 </a:t>
            </a:r>
            <a:r>
              <a:rPr lang="en-US" altLang="ko-KR" dirty="0"/>
              <a:t>4</a:t>
            </a:r>
            <a:r>
              <a:rPr lang="ko-KR" altLang="en-US" dirty="0"/>
              <a:t>에 가깝게</a:t>
            </a:r>
            <a:r>
              <a:rPr lang="en-US" altLang="ko-KR" dirty="0"/>
              <a:t>, </a:t>
            </a:r>
            <a:r>
              <a:rPr lang="ko-KR" altLang="en-US" dirty="0"/>
              <a:t>낮을수록 </a:t>
            </a:r>
            <a:r>
              <a:rPr lang="en-US" altLang="ko-KR" dirty="0"/>
              <a:t>1</a:t>
            </a:r>
            <a:r>
              <a:rPr lang="ko-KR" altLang="en-US" dirty="0"/>
              <a:t>에 가깝게 평가한다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ⓑ 영향도 </a:t>
            </a:r>
            <a:r>
              <a:rPr lang="en-US" altLang="ko-KR" dirty="0"/>
              <a:t>:  1~4 </a:t>
            </a:r>
            <a:r>
              <a:rPr lang="ko-KR" altLang="en-US" dirty="0"/>
              <a:t>까지 영향도가 클수록 </a:t>
            </a:r>
            <a:r>
              <a:rPr lang="en-US" altLang="ko-KR" dirty="0"/>
              <a:t>4</a:t>
            </a:r>
            <a:r>
              <a:rPr lang="ko-KR" altLang="en-US" dirty="0"/>
              <a:t>에 가깝게</a:t>
            </a:r>
            <a:r>
              <a:rPr lang="en-US" altLang="ko-KR" dirty="0"/>
              <a:t>, </a:t>
            </a:r>
            <a:r>
              <a:rPr lang="ko-KR" altLang="en-US" dirty="0"/>
              <a:t>낮을수록 </a:t>
            </a:r>
            <a:r>
              <a:rPr lang="en-US" altLang="ko-KR" dirty="0"/>
              <a:t>1</a:t>
            </a:r>
            <a:r>
              <a:rPr lang="ko-KR" altLang="en-US" dirty="0"/>
              <a:t>에 가깝게 평가한다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ⓒ 위험성 </a:t>
            </a:r>
            <a:r>
              <a:rPr lang="en-US" altLang="ko-KR" dirty="0"/>
              <a:t>: </a:t>
            </a:r>
            <a:r>
              <a:rPr lang="ko-KR" altLang="en-US" dirty="0"/>
              <a:t>발생가능성 </a:t>
            </a:r>
            <a:r>
              <a:rPr lang="en-US" altLang="ko-KR" dirty="0"/>
              <a:t>* </a:t>
            </a:r>
            <a:r>
              <a:rPr lang="ko-KR" altLang="en-US" dirty="0"/>
              <a:t>영향도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ⓓ 위험수준 </a:t>
            </a:r>
            <a:r>
              <a:rPr lang="en-US" altLang="ko-KR" dirty="0"/>
              <a:t>: </a:t>
            </a:r>
            <a:r>
              <a:rPr lang="ko-KR" altLang="en-US" dirty="0"/>
              <a:t>위험성에 따라 </a:t>
            </a:r>
            <a:r>
              <a:rPr lang="ko-KR" altLang="en-US" dirty="0" err="1"/>
              <a:t>저위험</a:t>
            </a:r>
            <a:r>
              <a:rPr lang="en-US" altLang="ko-KR" dirty="0"/>
              <a:t>(1~5)/</a:t>
            </a:r>
            <a:r>
              <a:rPr lang="ko-KR" altLang="en-US" dirty="0" err="1"/>
              <a:t>중위험</a:t>
            </a:r>
            <a:r>
              <a:rPr lang="en-US" altLang="ko-KR" dirty="0"/>
              <a:t>(6~11)/</a:t>
            </a:r>
            <a:r>
              <a:rPr lang="ko-KR" altLang="en-US" dirty="0"/>
              <a:t>고위험</a:t>
            </a:r>
            <a:r>
              <a:rPr lang="en-US" altLang="ko-KR" dirty="0"/>
              <a:t>(12~16)</a:t>
            </a:r>
            <a:r>
              <a:rPr lang="ko-KR" altLang="en-US" dirty="0"/>
              <a:t> 으로 구분한다 </a:t>
            </a:r>
            <a:r>
              <a:rPr lang="en-US" altLang="ko-KR" dirty="0"/>
              <a:t>  </a:t>
            </a:r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대책수립 </a:t>
            </a:r>
            <a:r>
              <a:rPr lang="en-US" altLang="ko-KR" dirty="0"/>
              <a:t>: </a:t>
            </a:r>
            <a:endParaRPr lang="en-US" altLang="ko-KR" b="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4345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3. </a:t>
            </a:r>
            <a:r>
              <a:rPr lang="ko-KR" altLang="en-US" b="1" dirty="0">
                <a:latin typeface="+mj-ea"/>
              </a:rPr>
              <a:t>위험성 평가 프로세스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ABB89C7C-6C64-4BCF-87B5-133A6851A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eriod" startAt="5"/>
            </a:pPr>
            <a:r>
              <a:rPr lang="ko-KR" altLang="en-US" dirty="0"/>
              <a:t>관리대책수립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ⓐ</a:t>
            </a:r>
            <a:r>
              <a:rPr lang="en-US" altLang="ko-KR" dirty="0"/>
              <a:t> </a:t>
            </a:r>
            <a:r>
              <a:rPr lang="ko-KR" altLang="en-US" dirty="0"/>
              <a:t>위험성 별 평가결과에 따라 아래 항목에 대한 관리대책을 수립한다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고위험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발생가능성이 미비하나 현재 통제수단이 부재한 경우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발생가능성</a:t>
            </a:r>
            <a:r>
              <a:rPr lang="en-US" altLang="ko-KR" dirty="0"/>
              <a:t>/</a:t>
            </a:r>
            <a:r>
              <a:rPr lang="ko-KR" altLang="en-US" dirty="0"/>
              <a:t>영향도가 </a:t>
            </a:r>
            <a:r>
              <a:rPr lang="ko-KR" altLang="en-US" dirty="0" err="1"/>
              <a:t>매우높은</a:t>
            </a:r>
            <a:r>
              <a:rPr lang="en-US" altLang="ko-KR" dirty="0"/>
              <a:t>(4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경우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ⓑ </a:t>
            </a:r>
            <a:r>
              <a:rPr lang="en-US" altLang="ko-KR" dirty="0"/>
              <a:t>1</a:t>
            </a:r>
            <a:r>
              <a:rPr lang="ko-KR" altLang="en-US" dirty="0"/>
              <a:t>년 이내에 개선 진행 및 평가를 진행하며</a:t>
            </a:r>
            <a:r>
              <a:rPr lang="en-US" altLang="ko-KR" dirty="0"/>
              <a:t>, </a:t>
            </a:r>
            <a:r>
              <a:rPr lang="ko-KR" altLang="en-US" dirty="0"/>
              <a:t>평가결과 개선효과가 없는 사항에 대해 관리대책을 수정</a:t>
            </a:r>
            <a:r>
              <a:rPr lang="en-US" altLang="ko-KR" dirty="0"/>
              <a:t>/</a:t>
            </a:r>
            <a:r>
              <a:rPr lang="ko-KR" altLang="en-US" dirty="0"/>
              <a:t>보완한다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</a:pPr>
            <a:r>
              <a:rPr lang="ko-KR" altLang="en-US" dirty="0"/>
              <a:t>ⓒ 관리대책은 현재의 통제수단보다 강화된 수준에서 수립하되</a:t>
            </a:r>
            <a:r>
              <a:rPr lang="en-US" altLang="ko-KR" dirty="0"/>
              <a:t>, </a:t>
            </a:r>
            <a:r>
              <a:rPr lang="ko-KR" altLang="en-US" dirty="0"/>
              <a:t>실행가능한 범위에서 구체적으로 수립한다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6"/>
            </a:pPr>
            <a:r>
              <a:rPr lang="ko-KR" altLang="en-US" dirty="0"/>
              <a:t>관련양식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FEA1D8C1-41EA-43EB-A0ED-48A14D3DA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960245"/>
              </p:ext>
            </p:extLst>
          </p:nvPr>
        </p:nvGraphicFramePr>
        <p:xfrm>
          <a:off x="536197" y="454328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Worksheet" showAsIcon="1" r:id="rId3" imgW="914400" imgH="771837" progId="Excel.Sheet.12">
                  <p:embed/>
                </p:oleObj>
              </mc:Choice>
              <mc:Fallback>
                <p:oleObj name="Worksheet" showAsIcon="1" r:id="rId3" imgW="914400" imgH="77183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197" y="454328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113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4. </a:t>
            </a:r>
            <a:r>
              <a:rPr lang="ko-KR" altLang="en-US" b="1" dirty="0">
                <a:latin typeface="+mj-ea"/>
              </a:rPr>
              <a:t>이상상황 대응 프로세스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ABB89C7C-6C64-4BCF-87B5-133A6851A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당사 사업장에 출입하는 수출물품 및 운송차량의 무결성에 이상 발생 시</a:t>
            </a:r>
            <a:r>
              <a:rPr lang="en-US" altLang="ko-KR" dirty="0"/>
              <a:t>,</a:t>
            </a:r>
            <a:r>
              <a:rPr lang="ko-KR" altLang="en-US" dirty="0"/>
              <a:t> 시의 적절한 조치를 통해 안정성을 확보하기 위함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적용대상 및 범위 </a:t>
            </a:r>
            <a:r>
              <a:rPr lang="en-US" altLang="ko-KR" dirty="0"/>
              <a:t>: </a:t>
            </a:r>
            <a:r>
              <a:rPr lang="ko-KR" altLang="en-US" dirty="0"/>
              <a:t>당사 공장에 출입하는 모든 수출입 물품 및 운송차량에 적용하며</a:t>
            </a:r>
            <a:r>
              <a:rPr lang="en-US" altLang="ko-KR" dirty="0"/>
              <a:t>, </a:t>
            </a:r>
            <a:r>
              <a:rPr lang="ko-KR" altLang="en-US" dirty="0"/>
              <a:t>컨테이너의 출고시점부터 </a:t>
            </a:r>
            <a:r>
              <a:rPr lang="en-US" altLang="ko-KR" dirty="0"/>
              <a:t>~ CY </a:t>
            </a:r>
            <a:r>
              <a:rPr lang="ko-KR" altLang="en-US" dirty="0"/>
              <a:t>도착시점 까지 기준으로 한다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이상상황 확인 및 보고 주체</a:t>
            </a:r>
            <a:r>
              <a:rPr lang="en-US" altLang="ko-KR" dirty="0"/>
              <a:t> : </a:t>
            </a:r>
            <a:r>
              <a:rPr lang="ko-KR" altLang="en-US" dirty="0"/>
              <a:t>화물의 위치에 따라 이상상황 식별가능 주체가 상이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사외업체에서 이상상황이 확인이 가능한 범위는</a:t>
            </a:r>
            <a:r>
              <a:rPr lang="en-US" altLang="ko-KR" dirty="0"/>
              <a:t>, </a:t>
            </a:r>
            <a:r>
              <a:rPr lang="ko-KR" altLang="en-US" dirty="0"/>
              <a:t>관련 지침을 배포하여 업무 대응에 누락이 없도록 한다  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4A659C4-AEFD-4910-A8EE-D15A3C1BD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284800"/>
              </p:ext>
            </p:extLst>
          </p:nvPr>
        </p:nvGraphicFramePr>
        <p:xfrm>
          <a:off x="318737" y="2888696"/>
          <a:ext cx="6669291" cy="2513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962">
                  <a:extLst>
                    <a:ext uri="{9D8B030D-6E8A-4147-A177-3AD203B41FA5}">
                      <a16:colId xmlns:a16="http://schemas.microsoft.com/office/drawing/2014/main" val="833285998"/>
                    </a:ext>
                  </a:extLst>
                </a:gridCol>
                <a:gridCol w="2173103">
                  <a:extLst>
                    <a:ext uri="{9D8B030D-6E8A-4147-A177-3AD203B41FA5}">
                      <a16:colId xmlns:a16="http://schemas.microsoft.com/office/drawing/2014/main" val="3925515988"/>
                    </a:ext>
                  </a:extLst>
                </a:gridCol>
                <a:gridCol w="2293089">
                  <a:extLst>
                    <a:ext uri="{9D8B030D-6E8A-4147-A177-3AD203B41FA5}">
                      <a16:colId xmlns:a16="http://schemas.microsoft.com/office/drawing/2014/main" val="2576118511"/>
                    </a:ext>
                  </a:extLst>
                </a:gridCol>
                <a:gridCol w="1853137">
                  <a:extLst>
                    <a:ext uri="{9D8B030D-6E8A-4147-A177-3AD203B41FA5}">
                      <a16:colId xmlns:a16="http://schemas.microsoft.com/office/drawing/2014/main" val="96163321"/>
                    </a:ext>
                  </a:extLst>
                </a:gridCol>
              </a:tblGrid>
              <a:tr h="380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No.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업무구분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화물위치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이상발생 확인 및 보고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96120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출하대기 제품보관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완제품창고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92297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출하지시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완제품창고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61161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출하물품 준비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취급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완제품창고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~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출하대기창고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895833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수출물품 검증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출하대기창고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사내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출하작업담당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6187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컨테이너</a:t>
                      </a:r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트레일러 이상검증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출하대기창고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14063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물품출하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출하대기창고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327932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물품운송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사업장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~</a:t>
                      </a:r>
                      <a:r>
                        <a:rPr lang="en-US" sz="1000" u="none" strike="noStrike" dirty="0">
                          <a:effectLst/>
                          <a:latin typeface="+mj-ea"/>
                          <a:ea typeface="+mj-ea"/>
                        </a:rPr>
                        <a:t>CY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사외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운송업체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14469"/>
                  </a:ext>
                </a:extLst>
              </a:tr>
              <a:tr h="2666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j-ea"/>
                          <a:ea typeface="+mj-ea"/>
                        </a:rPr>
                        <a:t>선적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+mj-ea"/>
                          <a:ea typeface="+mj-ea"/>
                        </a:rPr>
                        <a:t>CY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962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395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4. </a:t>
            </a:r>
            <a:r>
              <a:rPr lang="ko-KR" altLang="en-US" b="1" dirty="0">
                <a:latin typeface="+mj-ea"/>
              </a:rPr>
              <a:t>이상상황 대응 프로세스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ABB89C7C-6C64-4BCF-87B5-133A6851A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eriod" startAt="5"/>
            </a:pPr>
            <a:r>
              <a:rPr lang="ko-KR" altLang="en-US" dirty="0"/>
              <a:t>이상상황 대응 기본절차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5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5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5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6"/>
            </a:pPr>
            <a:r>
              <a:rPr lang="ko-KR" altLang="en-US" dirty="0"/>
              <a:t>이상상황 유형별 보고 범위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6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5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en-US" altLang="ko-KR" dirty="0"/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30D4C52-85D8-407F-AD29-528B3E19B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450304"/>
              </p:ext>
            </p:extLst>
          </p:nvPr>
        </p:nvGraphicFramePr>
        <p:xfrm>
          <a:off x="318737" y="1358416"/>
          <a:ext cx="7952808" cy="15609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304">
                  <a:extLst>
                    <a:ext uri="{9D8B030D-6E8A-4147-A177-3AD203B41FA5}">
                      <a16:colId xmlns:a16="http://schemas.microsoft.com/office/drawing/2014/main" val="2713865205"/>
                    </a:ext>
                  </a:extLst>
                </a:gridCol>
                <a:gridCol w="1861267">
                  <a:extLst>
                    <a:ext uri="{9D8B030D-6E8A-4147-A177-3AD203B41FA5}">
                      <a16:colId xmlns:a16="http://schemas.microsoft.com/office/drawing/2014/main" val="374170479"/>
                    </a:ext>
                  </a:extLst>
                </a:gridCol>
                <a:gridCol w="3380764">
                  <a:extLst>
                    <a:ext uri="{9D8B030D-6E8A-4147-A177-3AD203B41FA5}">
                      <a16:colId xmlns:a16="http://schemas.microsoft.com/office/drawing/2014/main" val="2357154833"/>
                    </a:ext>
                  </a:extLst>
                </a:gridCol>
                <a:gridCol w="2382473">
                  <a:extLst>
                    <a:ext uri="{9D8B030D-6E8A-4147-A177-3AD203B41FA5}">
                      <a16:colId xmlns:a16="http://schemas.microsoft.com/office/drawing/2014/main" val="4148721760"/>
                    </a:ext>
                  </a:extLst>
                </a:gridCol>
              </a:tblGrid>
              <a:tr h="2601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No.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절차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참고사항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업무주체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419032"/>
                  </a:ext>
                </a:extLst>
              </a:tr>
              <a:tr h="2601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이상상황 발생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32983"/>
                  </a:ext>
                </a:extLst>
              </a:tr>
              <a:tr h="2601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발생통보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상황 발생 확인 직후 사내 수출입 담당자 측에 즉시 통보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출하작업담당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운송업체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60548"/>
                  </a:ext>
                </a:extLst>
              </a:tr>
              <a:tr h="2601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이상상황 확인 및 보고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수출입 이상발생 관리대장 기록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수출입 담당자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팀장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746028"/>
                  </a:ext>
                </a:extLst>
              </a:tr>
              <a:tr h="2601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세관보고대상 확정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사내 수출입 담당자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924341"/>
                  </a:ext>
                </a:extLst>
              </a:tr>
              <a:tr h="2601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관할세관장 보고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수출입 이상발생 관리대장 기록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사내 수출입 담당자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팀장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5805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C8E51A5-9099-4618-9BD2-8F880F6BA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117557"/>
              </p:ext>
            </p:extLst>
          </p:nvPr>
        </p:nvGraphicFramePr>
        <p:xfrm>
          <a:off x="310348" y="3603071"/>
          <a:ext cx="7961197" cy="23633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1733">
                  <a:extLst>
                    <a:ext uri="{9D8B030D-6E8A-4147-A177-3AD203B41FA5}">
                      <a16:colId xmlns:a16="http://schemas.microsoft.com/office/drawing/2014/main" val="2793566299"/>
                    </a:ext>
                  </a:extLst>
                </a:gridCol>
                <a:gridCol w="4279157">
                  <a:extLst>
                    <a:ext uri="{9D8B030D-6E8A-4147-A177-3AD203B41FA5}">
                      <a16:colId xmlns:a16="http://schemas.microsoft.com/office/drawing/2014/main" val="3089168002"/>
                    </a:ext>
                  </a:extLst>
                </a:gridCol>
                <a:gridCol w="1920307">
                  <a:extLst>
                    <a:ext uri="{9D8B030D-6E8A-4147-A177-3AD203B41FA5}">
                      <a16:colId xmlns:a16="http://schemas.microsoft.com/office/drawing/2014/main" val="3923085477"/>
                    </a:ext>
                  </a:extLst>
                </a:gridCol>
              </a:tblGrid>
              <a:tr h="3343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이상상황 유형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보고 및 업무 공유 대상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218907"/>
                  </a:ext>
                </a:extLst>
              </a:tr>
              <a:tr h="8442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불법사항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&amp;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혐의사항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관세법상 수출입 금지물품 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밀수품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마약류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총기류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지적재산침해품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공공질서 저해물품 등</a:t>
                      </a:r>
                      <a:endParaRPr lang="en-US" altLang="ko-KR" sz="10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10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사회 공공질서 등에 </a:t>
                      </a:r>
                      <a:r>
                        <a:rPr lang="ko-KR" altLang="en-US" sz="1000" u="none" strike="noStrike" dirty="0" err="1">
                          <a:effectLst/>
                          <a:latin typeface="+mj-ea"/>
                          <a:ea typeface="+mj-ea"/>
                        </a:rPr>
                        <a:t>위해를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 가할 수 있는 물품이나 혐의스러운 행위</a:t>
                      </a:r>
                      <a:endParaRPr lang="en-US" altLang="ko-KR" sz="100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세관장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수출입담당자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유관부서 담당자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관련 임원</a:t>
                      </a:r>
                      <a:endParaRPr lang="en-US" altLang="ko-KR" sz="100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79822"/>
                  </a:ext>
                </a:extLst>
              </a:tr>
              <a:tr h="6361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화물 불일치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물품 과부족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불일치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혼입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분실 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세관장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</a:p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사내 수출입 담당자</a:t>
                      </a:r>
                      <a:endParaRPr lang="en-US" altLang="ko-KR" sz="10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유관부서 담당자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2983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화물 파손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침수</a:t>
                      </a:r>
                      <a:r>
                        <a:rPr lang="en-US" altLang="ko-KR" sz="100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u="none" strike="noStrike" dirty="0">
                          <a:effectLst/>
                          <a:latin typeface="+mj-ea"/>
                          <a:ea typeface="+mj-ea"/>
                        </a:rPr>
                        <a:t>파손 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수출입 담당자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사내 유관부서담당자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953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55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2. </a:t>
            </a:r>
            <a:r>
              <a:rPr lang="ko-KR" altLang="en-US" b="1" dirty="0">
                <a:latin typeface="+mj-ea"/>
              </a:rPr>
              <a:t>업무 프로세스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318738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eriod" startAt="7"/>
            </a:pPr>
            <a:r>
              <a:rPr lang="ko-KR" altLang="en-US" dirty="0"/>
              <a:t>이상상황 식별 및 보고 체계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7"/>
            </a:pPr>
            <a:r>
              <a:rPr lang="ko-KR" altLang="en-US" dirty="0"/>
              <a:t>관련 양식</a:t>
            </a: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 startAt="2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r>
              <a:rPr lang="en-US" altLang="ko-KR" b="0" dirty="0"/>
              <a:t> </a:t>
            </a:r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0" indent="0">
              <a:lnSpc>
                <a:spcPct val="150000"/>
              </a:lnSpc>
            </a:pPr>
            <a:endParaRPr lang="en-US" altLang="ko-KR" b="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E196894-1559-4E70-A04C-BCF75C089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206563"/>
              </p:ext>
            </p:extLst>
          </p:nvPr>
        </p:nvGraphicFramePr>
        <p:xfrm>
          <a:off x="349265" y="1304798"/>
          <a:ext cx="9046195" cy="36969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5479">
                  <a:extLst>
                    <a:ext uri="{9D8B030D-6E8A-4147-A177-3AD203B41FA5}">
                      <a16:colId xmlns:a16="http://schemas.microsoft.com/office/drawing/2014/main" val="2795415100"/>
                    </a:ext>
                  </a:extLst>
                </a:gridCol>
                <a:gridCol w="2464437">
                  <a:extLst>
                    <a:ext uri="{9D8B030D-6E8A-4147-A177-3AD203B41FA5}">
                      <a16:colId xmlns:a16="http://schemas.microsoft.com/office/drawing/2014/main" val="3947209396"/>
                    </a:ext>
                  </a:extLst>
                </a:gridCol>
                <a:gridCol w="3236279">
                  <a:extLst>
                    <a:ext uri="{9D8B030D-6E8A-4147-A177-3AD203B41FA5}">
                      <a16:colId xmlns:a16="http://schemas.microsoft.com/office/drawing/2014/main" val="4152796949"/>
                    </a:ext>
                  </a:extLst>
                </a:gridCol>
              </a:tblGrid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이상상황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식별방법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ea"/>
                          <a:ea typeface="+mj-ea"/>
                        </a:rPr>
                        <a:t>보고체계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210486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운송차량의 사업장 내 무단출입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출입문 보안인력 차량통제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신원검사 무시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 err="1">
                          <a:effectLst/>
                          <a:latin typeface="+mj-ea"/>
                          <a:ea typeface="+mj-ea"/>
                        </a:rPr>
                        <a:t>보안실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→ 사내안전관리 담당 및 수출입 담당자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137047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미등록 운송수단 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>
                          <a:effectLst/>
                          <a:latin typeface="+mj-ea"/>
                          <a:ea typeface="+mj-ea"/>
                        </a:rPr>
                        <a:t>차량등록여부 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 err="1">
                          <a:effectLst/>
                          <a:latin typeface="+mj-ea"/>
                          <a:ea typeface="+mj-ea"/>
                        </a:rPr>
                        <a:t>보안실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→ 수출입 담당자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507904"/>
                  </a:ext>
                </a:extLst>
              </a:tr>
              <a:tr h="6626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상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b="0" u="none" strike="noStrike" dirty="0" err="1">
                          <a:effectLst/>
                          <a:latin typeface="+mj-ea"/>
                          <a:ea typeface="+mj-ea"/>
                        </a:rPr>
                        <a:t>하차장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또는 화물차량 정차구역 외 </a:t>
                      </a:r>
                      <a:endParaRPr lang="en-US" altLang="ko-KR" sz="1000" b="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비인가구역 무단 진입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CCTV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모니터링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보안 순찰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,</a:t>
                      </a:r>
                    </a:p>
                    <a:p>
                      <a:pPr algn="ctr" fontAlgn="ctr"/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현장담당자 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 err="1">
                          <a:effectLst/>
                          <a:latin typeface="+mj-ea"/>
                          <a:ea typeface="+mj-ea"/>
                        </a:rPr>
                        <a:t>보안실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현장담당자 →</a:t>
                      </a:r>
                      <a:endParaRPr lang="en-US" altLang="ko-KR" sz="1000" b="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안전관리 담당자 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&amp;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수출입 담당자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4092"/>
                  </a:ext>
                </a:extLst>
              </a:tr>
              <a:tr h="6626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비인가자의 사업장 내 운송수단</a:t>
                      </a:r>
                      <a:endParaRPr lang="en-US" altLang="ko-KR" sz="1000" b="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보관장소 무단침입 및 조작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764850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>
                          <a:effectLst/>
                          <a:latin typeface="+mj-ea"/>
                          <a:ea typeface="+mj-ea"/>
                        </a:rPr>
                        <a:t>컨테이너 또는 차량의 파손</a:t>
                      </a:r>
                      <a:r>
                        <a:rPr lang="en-US" altLang="ko-KR" sz="1000" b="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0" u="none" strike="noStrike">
                          <a:effectLst/>
                          <a:latin typeface="+mj-ea"/>
                          <a:ea typeface="+mj-ea"/>
                        </a:rPr>
                        <a:t>구조변경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컨테이너 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8 POINT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검사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현장담당자 → 수출입 담당자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1377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>
                          <a:effectLst/>
                          <a:latin typeface="+mj-ea"/>
                          <a:ea typeface="+mj-ea"/>
                        </a:rPr>
                        <a:t>운송수단 내 물품의 은닉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 err="1">
                          <a:effectLst/>
                          <a:latin typeface="+mj-ea"/>
                          <a:ea typeface="+mj-ea"/>
                        </a:rPr>
                        <a:t>작업전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 운송수단 검사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현장담당자 → 수출입 담당자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팀장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) → 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관련임원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51027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>
                          <a:effectLst/>
                          <a:latin typeface="+mj-ea"/>
                          <a:ea typeface="+mj-ea"/>
                        </a:rPr>
                        <a:t>봉인의 이상 또는 파손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봉인 실물 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현장담당자</a:t>
                      </a:r>
                      <a:r>
                        <a:rPr lang="en-US" altLang="ko-KR" sz="1000" b="0" u="none" strike="noStrike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운송업체 → 수출입 담당자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866702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봉인번호 상이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j-ea"/>
                          <a:ea typeface="+mj-ea"/>
                        </a:rPr>
                        <a:t>수출관련 서류 확인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34" marR="7034" marT="7034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529220"/>
                  </a:ext>
                </a:extLst>
              </a:tr>
            </a:tbl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C68C556D-6E01-4E8E-82F4-2BEA49E49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926452"/>
              </p:ext>
            </p:extLst>
          </p:nvPr>
        </p:nvGraphicFramePr>
        <p:xfrm>
          <a:off x="486425" y="5807676"/>
          <a:ext cx="856491" cy="72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Worksheet" showAsIcon="1" r:id="rId3" imgW="914400" imgH="771837" progId="Excel.Sheet.12">
                  <p:embed/>
                </p:oleObj>
              </mc:Choice>
              <mc:Fallback>
                <p:oleObj name="Worksheet" showAsIcon="1" r:id="rId3" imgW="914400" imgH="77183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6425" y="5807676"/>
                        <a:ext cx="856491" cy="722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266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5. </a:t>
            </a:r>
            <a:r>
              <a:rPr lang="ko-KR" altLang="en-US" b="1" dirty="0">
                <a:latin typeface="+mj-ea"/>
              </a:rPr>
              <a:t>관련자료</a:t>
            </a:r>
            <a:endParaRPr lang="ko-KR" altLang="en-US" sz="1600" b="1" dirty="0">
              <a:latin typeface="+mj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9EF70-AC82-4D18-A5F4-F44F7CD889F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344487" y="836612"/>
            <a:ext cx="9217025" cy="4633311"/>
          </a:xfrm>
          <a:noFill/>
          <a:ln>
            <a:noFill/>
          </a:ln>
        </p:spPr>
        <p:txBody>
          <a:bodyPr vert="horz" lIns="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High Security Seal </a:t>
            </a:r>
            <a:r>
              <a:rPr lang="ko-KR" altLang="en-US" dirty="0"/>
              <a:t>구분자료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/>
              <a:t>운송수단검사 프로세스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/>
              <a:t>컨테이너 불시점검 프로세스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/>
              <a:t>컨테이너</a:t>
            </a:r>
            <a:r>
              <a:rPr lang="en-US" altLang="ko-KR" dirty="0"/>
              <a:t>/</a:t>
            </a:r>
            <a:r>
              <a:rPr lang="ko-KR" altLang="en-US" dirty="0"/>
              <a:t>화물 안전관리 지침서 </a:t>
            </a:r>
            <a:r>
              <a:rPr lang="en-US" altLang="ko-KR" dirty="0"/>
              <a:t>(</a:t>
            </a:r>
            <a:r>
              <a:rPr lang="ko-KR" altLang="en-US" dirty="0"/>
              <a:t>운송협력사용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dirty="0"/>
              <a:t>참고자료 </a:t>
            </a:r>
            <a:r>
              <a:rPr lang="en-US" altLang="ko-KR" dirty="0"/>
              <a:t>: </a:t>
            </a:r>
            <a:r>
              <a:rPr lang="ko-KR" altLang="en-US" dirty="0"/>
              <a:t>관세청</a:t>
            </a:r>
            <a:r>
              <a:rPr lang="en-US" altLang="ko-KR" dirty="0"/>
              <a:t>_AEO </a:t>
            </a:r>
            <a:r>
              <a:rPr lang="ko-KR" altLang="en-US" dirty="0"/>
              <a:t>운영지침 표준</a:t>
            </a:r>
            <a:r>
              <a:rPr lang="en-US" altLang="ko-KR" dirty="0"/>
              <a:t>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en-US" altLang="ko-KR" dirty="0"/>
          </a:p>
          <a:p>
            <a:pPr marL="0" indent="0">
              <a:lnSpc>
                <a:spcPct val="150000"/>
              </a:lnSpc>
            </a:pPr>
            <a:endParaRPr lang="en-US" altLang="ko-KR" dirty="0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2EB8DD75-D8DF-4B00-A58F-6A637B9753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117681"/>
              </p:ext>
            </p:extLst>
          </p:nvPr>
        </p:nvGraphicFramePr>
        <p:xfrm>
          <a:off x="2977392" y="1113601"/>
          <a:ext cx="809555" cy="68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" name="Acrobat Document" showAsIcon="1" r:id="rId3" imgW="914400" imgH="771837" progId="AcroExch.Document.7">
                  <p:embed/>
                </p:oleObj>
              </mc:Choice>
              <mc:Fallback>
                <p:oleObj name="Acrobat Document" showAsIcon="1" r:id="rId3" imgW="914400" imgH="771837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7392" y="1113601"/>
                        <a:ext cx="809555" cy="683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hlinkClick r:id="" action="ppaction://ole?verb=0"/>
            <a:extLst>
              <a:ext uri="{FF2B5EF4-FFF2-40B4-BE49-F238E27FC236}">
                <a16:creationId xmlns:a16="http://schemas.microsoft.com/office/drawing/2014/main" id="{723A996D-ABB7-4AC1-9585-5B386D11A6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565227"/>
              </p:ext>
            </p:extLst>
          </p:nvPr>
        </p:nvGraphicFramePr>
        <p:xfrm>
          <a:off x="2490831" y="1996881"/>
          <a:ext cx="809555" cy="68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0" name="Presentation" showAsIcon="1" r:id="rId5" imgW="914400" imgH="771837" progId="PowerPoint.Show.12">
                  <p:embed/>
                </p:oleObj>
              </mc:Choice>
              <mc:Fallback>
                <p:oleObj name="Presentation" showAsIcon="1" r:id="rId5" imgW="914400" imgH="771837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0831" y="1996881"/>
                        <a:ext cx="809555" cy="683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hlinkClick r:id="" action="ppaction://ole?verb=0"/>
            <a:extLst>
              <a:ext uri="{FF2B5EF4-FFF2-40B4-BE49-F238E27FC236}">
                <a16:creationId xmlns:a16="http://schemas.microsoft.com/office/drawing/2014/main" id="{1D90840B-C27B-4154-8CAC-318B5AFB5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393881"/>
              </p:ext>
            </p:extLst>
          </p:nvPr>
        </p:nvGraphicFramePr>
        <p:xfrm>
          <a:off x="2888625" y="2880161"/>
          <a:ext cx="809554" cy="683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" name="Presentation" showAsIcon="1" r:id="rId7" imgW="914400" imgH="771837" progId="PowerPoint.Show.12">
                  <p:embed/>
                </p:oleObj>
              </mc:Choice>
              <mc:Fallback>
                <p:oleObj name="Presentation" showAsIcon="1" r:id="rId7" imgW="914400" imgH="771837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8625" y="2880161"/>
                        <a:ext cx="809554" cy="683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4069D442-97EA-49DF-A329-9C38CA5C4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578075"/>
              </p:ext>
            </p:extLst>
          </p:nvPr>
        </p:nvGraphicFramePr>
        <p:xfrm>
          <a:off x="4296992" y="3939273"/>
          <a:ext cx="799612" cy="67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" name="Acrobat Document" showAsIcon="1" r:id="rId9" imgW="914400" imgH="771837" progId="AcroExch.Document.7">
                  <p:embed/>
                </p:oleObj>
              </mc:Choice>
              <mc:Fallback>
                <p:oleObj name="Acrobat Document" showAsIcon="1" r:id="rId9" imgW="914400" imgH="771837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6992" y="3939273"/>
                        <a:ext cx="799612" cy="674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090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AC6D138A9216478D8C00E1C8E45BDF" ma:contentTypeVersion="8" ma:contentTypeDescription="Create a new document." ma:contentTypeScope="" ma:versionID="6faef00c484dd32349517bd1409d4d13">
  <xsd:schema xmlns:xsd="http://www.w3.org/2001/XMLSchema" xmlns:xs="http://www.w3.org/2001/XMLSchema" xmlns:p="http://schemas.microsoft.com/office/2006/metadata/properties" xmlns:ns2="5c7abf6b-9cf9-4d0d-b79a-adf7330794c1" xmlns:ns3="4b51ee87-befd-4db7-a3ab-e9817b37cc8f" targetNamespace="http://schemas.microsoft.com/office/2006/metadata/properties" ma:root="true" ma:fieldsID="73a415fd310fd5522748166c7b0fb33d" ns2:_="" ns3:_="">
    <xsd:import namespace="5c7abf6b-9cf9-4d0d-b79a-adf7330794c1"/>
    <xsd:import namespace="4b51ee87-befd-4db7-a3ab-e9817b37cc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bf6b-9cf9-4d0d-b79a-adf733079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1ee87-befd-4db7-a3ab-e9817b37cc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A2C98D-72DB-4B42-8225-608CFE1F1FE3}"/>
</file>

<file path=customXml/itemProps2.xml><?xml version="1.0" encoding="utf-8"?>
<ds:datastoreItem xmlns:ds="http://schemas.openxmlformats.org/officeDocument/2006/customXml" ds:itemID="{6396A7C3-09EE-4FFD-9365-0C3AEE1D0405}"/>
</file>

<file path=customXml/itemProps3.xml><?xml version="1.0" encoding="utf-8"?>
<ds:datastoreItem xmlns:ds="http://schemas.openxmlformats.org/officeDocument/2006/customXml" ds:itemID="{311B3F11-4A8C-4365-B380-038248880EC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11954</TotalTime>
  <Words>1038</Words>
  <Application>Microsoft Office PowerPoint</Application>
  <PresentationFormat>A4 용지(210x297mm)</PresentationFormat>
  <Paragraphs>311</Paragraphs>
  <Slides>12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Office 테마</vt:lpstr>
      <vt:lpstr>Worksheet</vt:lpstr>
      <vt:lpstr>Acrobat Document</vt:lpstr>
      <vt:lpstr>Presentation</vt:lpstr>
      <vt:lpstr>물류보안 메뉴얼 (출고 - CY)</vt:lpstr>
      <vt:lpstr>0. 개정이력</vt:lpstr>
      <vt:lpstr>0. 목차</vt:lpstr>
      <vt:lpstr>1. Supply Chain Map (출고 - CY)</vt:lpstr>
      <vt:lpstr>2. 물류보안 리스크 (출고 - CY)</vt:lpstr>
      <vt:lpstr>2. 물류보안 리스크 및 방지책 (출고 - CY)</vt:lpstr>
      <vt:lpstr>3. 위험성 평가 프로세스</vt:lpstr>
      <vt:lpstr>3. 위험성 평가 프로세스</vt:lpstr>
      <vt:lpstr>4. 이상상황 대응 프로세스</vt:lpstr>
      <vt:lpstr>4. 이상상황 대응 프로세스</vt:lpstr>
      <vt:lpstr>2. 업무 프로세스</vt:lpstr>
      <vt:lpstr>5. 관련자료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김중원</dc:creator>
  <cp:lastModifiedBy>Dongkeun Lee 이동근(EHS 경영지원팀)</cp:lastModifiedBy>
  <cp:revision>221</cp:revision>
  <dcterms:created xsi:type="dcterms:W3CDTF">2017-12-13T03:05:37Z</dcterms:created>
  <dcterms:modified xsi:type="dcterms:W3CDTF">2021-08-19T00:17:01Z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8059d40-19c8-4fad-b73a-4bd721d6054a_Enabled">
    <vt:lpwstr>true</vt:lpwstr>
  </property>
  <property fmtid="{D5CDD505-2E9C-101B-9397-08002B2CF9AE}" pid="3" name="MSIP_Label_78059d40-19c8-4fad-b73a-4bd721d6054a_SetDate">
    <vt:lpwstr>2021-08-02T07:07:23Z</vt:lpwstr>
  </property>
  <property fmtid="{D5CDD505-2E9C-101B-9397-08002B2CF9AE}" pid="4" name="MSIP_Label_78059d40-19c8-4fad-b73a-4bd721d6054a_Method">
    <vt:lpwstr>Standard</vt:lpwstr>
  </property>
  <property fmtid="{D5CDD505-2E9C-101B-9397-08002B2CF9AE}" pid="5" name="MSIP_Label_78059d40-19c8-4fad-b73a-4bd721d6054a_Name">
    <vt:lpwstr>일반문서 (Unprotected)</vt:lpwstr>
  </property>
  <property fmtid="{D5CDD505-2E9C-101B-9397-08002B2CF9AE}" pid="6" name="MSIP_Label_78059d40-19c8-4fad-b73a-4bd721d6054a_SiteId">
    <vt:lpwstr>7626d4cb-4eb7-40ae-96db-5fd0b9c7db8f</vt:lpwstr>
  </property>
  <property fmtid="{D5CDD505-2E9C-101B-9397-08002B2CF9AE}" pid="7" name="MSIP_Label_78059d40-19c8-4fad-b73a-4bd721d6054a_ActionId">
    <vt:lpwstr>0632cc84-56a7-4842-9dad-14d737eb8ab3</vt:lpwstr>
  </property>
  <property fmtid="{D5CDD505-2E9C-101B-9397-08002B2CF9AE}" pid="8" name="MSIP_Label_78059d40-19c8-4fad-b73a-4bd721d6054a_ContentBits">
    <vt:lpwstr>0</vt:lpwstr>
  </property>
  <property fmtid="{D5CDD505-2E9C-101B-9397-08002B2CF9AE}" pid="9" name="ContentTypeId">
    <vt:lpwstr>0x01010045AC6D138A9216478D8C00E1C8E45BDF</vt:lpwstr>
  </property>
  <property fmtid="{D5CDD505-2E9C-101B-9397-08002B2CF9AE}" pid="10" name="Order">
    <vt:r8>26200</vt:r8>
  </property>
</Properties>
</file>